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8" r:id="rId10"/>
    <p:sldId id="264" r:id="rId11"/>
    <p:sldId id="265" r:id="rId12"/>
    <p:sldId id="269" r:id="rId13"/>
    <p:sldId id="274" r:id="rId14"/>
    <p:sldId id="270" r:id="rId15"/>
    <p:sldId id="273" r:id="rId16"/>
    <p:sldId id="272" r:id="rId17"/>
    <p:sldId id="266" r:id="rId18"/>
    <p:sldId id="267" r:id="rId19"/>
  </p:sldIdLst>
  <p:sldSz cx="18288000" cy="10287000"/>
  <p:notesSz cx="6858000" cy="9144000"/>
  <p:embeddedFontLst>
    <p:embeddedFont>
      <p:font typeface="Canva Sans" panose="020B0604020202020204" charset="0"/>
      <p:regular r:id="rId20"/>
    </p:embeddedFont>
    <p:embeddedFont>
      <p:font typeface="Canva Sans Bold" panose="020B0604020202020204" charset="0"/>
      <p:regular r:id="rId21"/>
    </p:embeddedFont>
    <p:embeddedFont>
      <p:font typeface="Quicksand" panose="020B0604020202020204" charset="0"/>
      <p:regular r:id="rId22"/>
    </p:embeddedFont>
    <p:embeddedFont>
      <p:font typeface="Quicksand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F142297-B704-4191-99FC-6FDA014403EC}" v="24" dt="2025-09-23T06:11:33.896"/>
  </p1510:revLst>
</p1510:revInfo>
</file>

<file path=ppt/tableStyles.xml><?xml version="1.0" encoding="utf-8"?>
<a:tblStyleLst xmlns:a="http://schemas.openxmlformats.org/drawingml/2006/main" def="{5C22544A-7EE6-4342-B048-85BDC9FD1C3A}">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p:scale>
          <a:sx n="33" d="100"/>
          <a:sy n="33" d="100"/>
        </p:scale>
        <p:origin x="1300" y="49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opasri ....!" userId="049642e338c46cbb" providerId="LiveId" clId="{9FE25671-D437-4845-89FA-0536B3E8859A}"/>
    <pc:docChg chg="undo custSel addSld modSld sldOrd">
      <pc:chgData name="Roopasri ....!" userId="049642e338c46cbb" providerId="LiveId" clId="{9FE25671-D437-4845-89FA-0536B3E8859A}" dt="2025-09-23T08:36:04.692" v="200"/>
      <pc:docMkLst>
        <pc:docMk/>
      </pc:docMkLst>
      <pc:sldChg chg="ord">
        <pc:chgData name="Roopasri ....!" userId="049642e338c46cbb" providerId="LiveId" clId="{9FE25671-D437-4845-89FA-0536B3E8859A}" dt="2025-09-23T04:01:38.887" v="0" actId="20578"/>
        <pc:sldMkLst>
          <pc:docMk/>
          <pc:sldMk cId="0" sldId="257"/>
        </pc:sldMkLst>
      </pc:sldChg>
      <pc:sldChg chg="modSp mod">
        <pc:chgData name="Roopasri ....!" userId="049642e338c46cbb" providerId="LiveId" clId="{9FE25671-D437-4845-89FA-0536B3E8859A}" dt="2025-09-23T06:15:37.768" v="192" actId="20577"/>
        <pc:sldMkLst>
          <pc:docMk/>
          <pc:sldMk cId="0" sldId="258"/>
        </pc:sldMkLst>
        <pc:spChg chg="mod">
          <ac:chgData name="Roopasri ....!" userId="049642e338c46cbb" providerId="LiveId" clId="{9FE25671-D437-4845-89FA-0536B3E8859A}" dt="2025-09-23T06:15:37.768" v="192" actId="20577"/>
          <ac:spMkLst>
            <pc:docMk/>
            <pc:sldMk cId="0" sldId="258"/>
            <ac:spMk id="11" creationId="{00000000-0000-0000-0000-000000000000}"/>
          </ac:spMkLst>
        </pc:spChg>
      </pc:sldChg>
      <pc:sldChg chg="modSp mod ord">
        <pc:chgData name="Roopasri ....!" userId="049642e338c46cbb" providerId="LiveId" clId="{9FE25671-D437-4845-89FA-0536B3E8859A}" dt="2025-09-23T08:36:03.226" v="198"/>
        <pc:sldMkLst>
          <pc:docMk/>
          <pc:sldMk cId="0" sldId="264"/>
        </pc:sldMkLst>
        <pc:spChg chg="mod">
          <ac:chgData name="Roopasri ....!" userId="049642e338c46cbb" providerId="LiveId" clId="{9FE25671-D437-4845-89FA-0536B3E8859A}" dt="2025-09-23T04:23:39.637" v="100" actId="14100"/>
          <ac:spMkLst>
            <pc:docMk/>
            <pc:sldMk cId="0" sldId="264"/>
            <ac:spMk id="9" creationId="{00000000-0000-0000-0000-000000000000}"/>
          </ac:spMkLst>
        </pc:spChg>
      </pc:sldChg>
      <pc:sldChg chg="addSp delSp modSp mod ord">
        <pc:chgData name="Roopasri ....!" userId="049642e338c46cbb" providerId="LiveId" clId="{9FE25671-D437-4845-89FA-0536B3E8859A}" dt="2025-09-23T08:36:04.692" v="200"/>
        <pc:sldMkLst>
          <pc:docMk/>
          <pc:sldMk cId="0" sldId="265"/>
        </pc:sldMkLst>
        <pc:spChg chg="mod">
          <ac:chgData name="Roopasri ....!" userId="049642e338c46cbb" providerId="LiveId" clId="{9FE25671-D437-4845-89FA-0536B3E8859A}" dt="2025-09-23T06:10:45.233" v="165" actId="1076"/>
          <ac:spMkLst>
            <pc:docMk/>
            <pc:sldMk cId="0" sldId="265"/>
            <ac:spMk id="6" creationId="{00000000-0000-0000-0000-000000000000}"/>
          </ac:spMkLst>
        </pc:spChg>
        <pc:spChg chg="add del mod">
          <ac:chgData name="Roopasri ....!" userId="049642e338c46cbb" providerId="LiveId" clId="{9FE25671-D437-4845-89FA-0536B3E8859A}" dt="2025-09-23T06:12:37.912" v="177"/>
          <ac:spMkLst>
            <pc:docMk/>
            <pc:sldMk cId="0" sldId="265"/>
            <ac:spMk id="12" creationId="{D01CB934-BD4F-EBDE-8A35-36666501556F}"/>
          </ac:spMkLst>
        </pc:spChg>
        <pc:spChg chg="add mod">
          <ac:chgData name="Roopasri ....!" userId="049642e338c46cbb" providerId="LiveId" clId="{9FE25671-D437-4845-89FA-0536B3E8859A}" dt="2025-09-23T06:12:00.200" v="173" actId="113"/>
          <ac:spMkLst>
            <pc:docMk/>
            <pc:sldMk cId="0" sldId="265"/>
            <ac:spMk id="15" creationId="{EC235CEE-F1C5-61C1-DCF7-734ED7D38C04}"/>
          </ac:spMkLst>
        </pc:spChg>
        <pc:picChg chg="add mod">
          <ac:chgData name="Roopasri ....!" userId="049642e338c46cbb" providerId="LiveId" clId="{9FE25671-D437-4845-89FA-0536B3E8859A}" dt="2025-09-23T06:12:15.223" v="175" actId="14100"/>
          <ac:picMkLst>
            <pc:docMk/>
            <pc:sldMk cId="0" sldId="265"/>
            <ac:picMk id="14" creationId="{71B01AA9-BD45-4D7B-85F8-EC5959AE4283}"/>
          </ac:picMkLst>
        </pc:picChg>
      </pc:sldChg>
      <pc:sldChg chg="modSp mod">
        <pc:chgData name="Roopasri ....!" userId="049642e338c46cbb" providerId="LiveId" clId="{9FE25671-D437-4845-89FA-0536B3E8859A}" dt="2025-09-23T04:03:27.609" v="1" actId="1076"/>
        <pc:sldMkLst>
          <pc:docMk/>
          <pc:sldMk cId="0" sldId="266"/>
        </pc:sldMkLst>
        <pc:grpChg chg="mod">
          <ac:chgData name="Roopasri ....!" userId="049642e338c46cbb" providerId="LiveId" clId="{9FE25671-D437-4845-89FA-0536B3E8859A}" dt="2025-09-23T04:03:27.609" v="1" actId="1076"/>
          <ac:grpSpMkLst>
            <pc:docMk/>
            <pc:sldMk cId="0" sldId="266"/>
            <ac:grpSpMk id="2" creationId="{00000000-0000-0000-0000-000000000000}"/>
          </ac:grpSpMkLst>
        </pc:grpChg>
      </pc:sldChg>
      <pc:sldChg chg="addSp delSp modSp add mod ord">
        <pc:chgData name="Roopasri ....!" userId="049642e338c46cbb" providerId="LiveId" clId="{9FE25671-D437-4845-89FA-0536B3E8859A}" dt="2025-09-23T05:56:06.325" v="121"/>
        <pc:sldMkLst>
          <pc:docMk/>
          <pc:sldMk cId="4249921193" sldId="268"/>
        </pc:sldMkLst>
        <pc:spChg chg="mod">
          <ac:chgData name="Roopasri ....!" userId="049642e338c46cbb" providerId="LiveId" clId="{9FE25671-D437-4845-89FA-0536B3E8859A}" dt="2025-09-23T04:14:13.165" v="44" actId="1076"/>
          <ac:spMkLst>
            <pc:docMk/>
            <pc:sldMk cId="4249921193" sldId="268"/>
            <ac:spMk id="3" creationId="{2055D7E7-F01E-6B73-F8C0-7D07F8B9684B}"/>
          </ac:spMkLst>
        </pc:spChg>
        <pc:spChg chg="del">
          <ac:chgData name="Roopasri ....!" userId="049642e338c46cbb" providerId="LiveId" clId="{9FE25671-D437-4845-89FA-0536B3E8859A}" dt="2025-09-23T04:03:46.946" v="3" actId="478"/>
          <ac:spMkLst>
            <pc:docMk/>
            <pc:sldMk cId="4249921193" sldId="268"/>
            <ac:spMk id="5" creationId="{4D01D17E-051A-EB47-B72F-E99DE0B94489}"/>
          </ac:spMkLst>
        </pc:spChg>
        <pc:spChg chg="add del">
          <ac:chgData name="Roopasri ....!" userId="049642e338c46cbb" providerId="LiveId" clId="{9FE25671-D437-4845-89FA-0536B3E8859A}" dt="2025-09-23T04:04:22.336" v="14" actId="478"/>
          <ac:spMkLst>
            <pc:docMk/>
            <pc:sldMk cId="4249921193" sldId="268"/>
            <ac:spMk id="6" creationId="{C68BEAEA-FCB2-905F-D440-B54120DDB8D0}"/>
          </ac:spMkLst>
        </pc:spChg>
        <pc:spChg chg="add del">
          <ac:chgData name="Roopasri ....!" userId="049642e338c46cbb" providerId="LiveId" clId="{9FE25671-D437-4845-89FA-0536B3E8859A}" dt="2025-09-23T04:04:12.230" v="11" actId="478"/>
          <ac:spMkLst>
            <pc:docMk/>
            <pc:sldMk cId="4249921193" sldId="268"/>
            <ac:spMk id="7" creationId="{97CF1ACB-84EA-DDC6-86CD-1018C2021F21}"/>
          </ac:spMkLst>
        </pc:spChg>
        <pc:spChg chg="add del">
          <ac:chgData name="Roopasri ....!" userId="049642e338c46cbb" providerId="LiveId" clId="{9FE25671-D437-4845-89FA-0536B3E8859A}" dt="2025-09-23T04:04:05.849" v="10" actId="478"/>
          <ac:spMkLst>
            <pc:docMk/>
            <pc:sldMk cId="4249921193" sldId="268"/>
            <ac:spMk id="8" creationId="{B5173979-FE81-EDF9-4989-EE725FBD73A3}"/>
          </ac:spMkLst>
        </pc:spChg>
        <pc:spChg chg="del mod">
          <ac:chgData name="Roopasri ....!" userId="049642e338c46cbb" providerId="LiveId" clId="{9FE25671-D437-4845-89FA-0536B3E8859A}" dt="2025-09-23T04:03:52.417" v="5" actId="478"/>
          <ac:spMkLst>
            <pc:docMk/>
            <pc:sldMk cId="4249921193" sldId="268"/>
            <ac:spMk id="9" creationId="{C53A9547-38C2-5EEF-598C-ECF5CE0BD67C}"/>
          </ac:spMkLst>
        </pc:spChg>
        <pc:spChg chg="add del mod">
          <ac:chgData name="Roopasri ....!" userId="049642e338c46cbb" providerId="LiveId" clId="{9FE25671-D437-4845-89FA-0536B3E8859A}" dt="2025-09-23T04:04:05.849" v="10" actId="478"/>
          <ac:spMkLst>
            <pc:docMk/>
            <pc:sldMk cId="4249921193" sldId="268"/>
            <ac:spMk id="10" creationId="{ED3FFC37-FE0F-21FA-3033-B905316DCBBA}"/>
          </ac:spMkLst>
        </pc:spChg>
        <pc:spChg chg="add del mod">
          <ac:chgData name="Roopasri ....!" userId="049642e338c46cbb" providerId="LiveId" clId="{9FE25671-D437-4845-89FA-0536B3E8859A}" dt="2025-09-23T04:04:20.204" v="13" actId="478"/>
          <ac:spMkLst>
            <pc:docMk/>
            <pc:sldMk cId="4249921193" sldId="268"/>
            <ac:spMk id="11" creationId="{DE41AE58-95B3-6F3B-55AD-D21C82B0867B}"/>
          </ac:spMkLst>
        </pc:spChg>
        <pc:spChg chg="add mod">
          <ac:chgData name="Roopasri ....!" userId="049642e338c46cbb" providerId="LiveId" clId="{9FE25671-D437-4845-89FA-0536B3E8859A}" dt="2025-09-23T04:20:34.463" v="93" actId="113"/>
          <ac:spMkLst>
            <pc:docMk/>
            <pc:sldMk cId="4249921193" sldId="268"/>
            <ac:spMk id="14" creationId="{AAEDCC6E-50CE-FA07-9913-CF7009B64EE5}"/>
          </ac:spMkLst>
        </pc:spChg>
        <pc:spChg chg="add mod">
          <ac:chgData name="Roopasri ....!" userId="049642e338c46cbb" providerId="LiveId" clId="{9FE25671-D437-4845-89FA-0536B3E8859A}" dt="2025-09-23T04:11:40.944" v="28" actId="20578"/>
          <ac:spMkLst>
            <pc:docMk/>
            <pc:sldMk cId="4249921193" sldId="268"/>
            <ac:spMk id="15" creationId="{0131DC2F-BAF3-D11D-4D7C-716DC4969E6F}"/>
          </ac:spMkLst>
        </pc:spChg>
        <pc:spChg chg="add mod">
          <ac:chgData name="Roopasri ....!" userId="049642e338c46cbb" providerId="LiveId" clId="{9FE25671-D437-4845-89FA-0536B3E8859A}" dt="2025-09-23T04:13:14.781" v="40" actId="571"/>
          <ac:spMkLst>
            <pc:docMk/>
            <pc:sldMk cId="4249921193" sldId="268"/>
            <ac:spMk id="16" creationId="{50BC8230-6991-EE8C-6BF0-DB1AC5E412FD}"/>
          </ac:spMkLst>
        </pc:spChg>
        <pc:spChg chg="add mod">
          <ac:chgData name="Roopasri ....!" userId="049642e338c46cbb" providerId="LiveId" clId="{9FE25671-D437-4845-89FA-0536B3E8859A}" dt="2025-09-23T04:20:18.592" v="91" actId="20577"/>
          <ac:spMkLst>
            <pc:docMk/>
            <pc:sldMk cId="4249921193" sldId="268"/>
            <ac:spMk id="17" creationId="{E60A5FF8-AB40-2337-4E1B-E908072F0A09}"/>
          </ac:spMkLst>
        </pc:spChg>
        <pc:grpChg chg="add del mod">
          <ac:chgData name="Roopasri ....!" userId="049642e338c46cbb" providerId="LiveId" clId="{9FE25671-D437-4845-89FA-0536B3E8859A}" dt="2025-09-23T04:22:18.313" v="95" actId="1076"/>
          <ac:grpSpMkLst>
            <pc:docMk/>
            <pc:sldMk cId="4249921193" sldId="268"/>
            <ac:grpSpMk id="2" creationId="{E7314903-44B4-3270-3778-B6AABD61310B}"/>
          </ac:grpSpMkLst>
        </pc:grpChg>
        <pc:picChg chg="add mod modCrop">
          <ac:chgData name="Roopasri ....!" userId="049642e338c46cbb" providerId="LiveId" clId="{9FE25671-D437-4845-89FA-0536B3E8859A}" dt="2025-09-23T04:22:35.386" v="99" actId="14100"/>
          <ac:picMkLst>
            <pc:docMk/>
            <pc:sldMk cId="4249921193" sldId="268"/>
            <ac:picMk id="13" creationId="{DA3070DA-5DDF-990E-26DE-85445C49A21F}"/>
          </ac:picMkLst>
        </pc:picChg>
      </pc:sldChg>
      <pc:sldChg chg="addSp delSp modSp add mod ord">
        <pc:chgData name="Roopasri ....!" userId="049642e338c46cbb" providerId="LiveId" clId="{9FE25671-D437-4845-89FA-0536B3E8859A}" dt="2025-09-23T08:35:27.905" v="196"/>
        <pc:sldMkLst>
          <pc:docMk/>
          <pc:sldMk cId="1722653121" sldId="269"/>
        </pc:sldMkLst>
        <pc:spChg chg="mod">
          <ac:chgData name="Roopasri ....!" userId="049642e338c46cbb" providerId="LiveId" clId="{9FE25671-D437-4845-89FA-0536B3E8859A}" dt="2025-09-23T05:56:51.101" v="124" actId="1076"/>
          <ac:spMkLst>
            <pc:docMk/>
            <pc:sldMk cId="1722653121" sldId="269"/>
            <ac:spMk id="3" creationId="{E4EDA88E-FD09-38A3-6F3E-50CF577A6879}"/>
          </ac:spMkLst>
        </pc:spChg>
        <pc:spChg chg="add mod">
          <ac:chgData name="Roopasri ....!" userId="049642e338c46cbb" providerId="LiveId" clId="{9FE25671-D437-4845-89FA-0536B3E8859A}" dt="2025-09-23T05:59:25.907" v="161" actId="20577"/>
          <ac:spMkLst>
            <pc:docMk/>
            <pc:sldMk cId="1722653121" sldId="269"/>
            <ac:spMk id="9" creationId="{7404D9D1-A501-6606-D27E-719E38C0B28F}"/>
          </ac:spMkLst>
        </pc:spChg>
        <pc:spChg chg="del">
          <ac:chgData name="Roopasri ....!" userId="049642e338c46cbb" providerId="LiveId" clId="{9FE25671-D437-4845-89FA-0536B3E8859A}" dt="2025-09-23T05:49:51.548" v="105" actId="478"/>
          <ac:spMkLst>
            <pc:docMk/>
            <pc:sldMk cId="1722653121" sldId="269"/>
            <ac:spMk id="14" creationId="{6800E4B4-76CA-1037-3D98-5A804C67A2A8}"/>
          </ac:spMkLst>
        </pc:spChg>
        <pc:spChg chg="del mod">
          <ac:chgData name="Roopasri ....!" userId="049642e338c46cbb" providerId="LiveId" clId="{9FE25671-D437-4845-89FA-0536B3E8859A}" dt="2025-09-23T05:49:46.356" v="104" actId="478"/>
          <ac:spMkLst>
            <pc:docMk/>
            <pc:sldMk cId="1722653121" sldId="269"/>
            <ac:spMk id="17" creationId="{E454E8AE-B918-FD6A-F35C-BEC226B12AF6}"/>
          </ac:spMkLst>
        </pc:spChg>
        <pc:graphicFrameChg chg="add del">
          <ac:chgData name="Roopasri ....!" userId="049642e338c46cbb" providerId="LiveId" clId="{9FE25671-D437-4845-89FA-0536B3E8859A}" dt="2025-09-23T05:50:09.136" v="107" actId="478"/>
          <ac:graphicFrameMkLst>
            <pc:docMk/>
            <pc:sldMk cId="1722653121" sldId="269"/>
            <ac:graphicFrameMk id="5" creationId="{AFE4DF83-32B4-7BE3-B3D3-2B625658A712}"/>
          </ac:graphicFrameMkLst>
        </pc:graphicFrameChg>
        <pc:graphicFrameChg chg="add mod modGraphic">
          <ac:chgData name="Roopasri ....!" userId="049642e338c46cbb" providerId="LiveId" clId="{9FE25671-D437-4845-89FA-0536B3E8859A}" dt="2025-09-23T05:59:33.963" v="162" actId="14100"/>
          <ac:graphicFrameMkLst>
            <pc:docMk/>
            <pc:sldMk cId="1722653121" sldId="269"/>
            <ac:graphicFrameMk id="6" creationId="{F6756FC6-FA15-1532-03CD-2E86A9B79B6A}"/>
          </ac:graphicFrameMkLst>
        </pc:graphicFrameChg>
        <pc:graphicFrameChg chg="add del mod">
          <ac:chgData name="Roopasri ....!" userId="049642e338c46cbb" providerId="LiveId" clId="{9FE25671-D437-4845-89FA-0536B3E8859A}" dt="2025-09-23T05:56:37.647" v="123" actId="478"/>
          <ac:graphicFrameMkLst>
            <pc:docMk/>
            <pc:sldMk cId="1722653121" sldId="269"/>
            <ac:graphicFrameMk id="7" creationId="{9C6E5E5A-11C9-D8EF-D388-AC5332340757}"/>
          </ac:graphicFrameMkLst>
        </pc:graphicFrameChg>
        <pc:picChg chg="del">
          <ac:chgData name="Roopasri ....!" userId="049642e338c46cbb" providerId="LiveId" clId="{9FE25671-D437-4845-89FA-0536B3E8859A}" dt="2025-09-23T05:49:40.030" v="102" actId="478"/>
          <ac:picMkLst>
            <pc:docMk/>
            <pc:sldMk cId="1722653121" sldId="269"/>
            <ac:picMk id="13" creationId="{C81D288E-BEFE-EA4A-9020-313B50A1AC2D}"/>
          </ac:picMkLst>
        </pc:pic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pn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7.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5" Type="http://schemas.openxmlformats.org/officeDocument/2006/relationships/image" Target="../media/image28.png"/><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png"/><Relationship Id="rId1" Type="http://schemas.openxmlformats.org/officeDocument/2006/relationships/slideLayout" Target="../slideLayouts/slideLayout7.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7.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3" Type="http://schemas.openxmlformats.org/officeDocument/2006/relationships/image" Target="../media/image41.png"/><Relationship Id="rId7" Type="http://schemas.openxmlformats.org/officeDocument/2006/relationships/image" Target="../media/image45.png"/><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4.png"/><Relationship Id="rId5" Type="http://schemas.openxmlformats.org/officeDocument/2006/relationships/image" Target="../media/image43.png"/><Relationship Id="rId4" Type="http://schemas.openxmlformats.org/officeDocument/2006/relationships/image" Target="../media/image42.png"/></Relationships>
</file>

<file path=ppt/slides/_rels/slide16.xml.rels><?xml version="1.0" encoding="UTF-8" standalone="yes"?>
<Relationships xmlns="http://schemas.openxmlformats.org/package/2006/relationships"><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image" Target="../media/image46.png"/><Relationship Id="rId1" Type="http://schemas.openxmlformats.org/officeDocument/2006/relationships/slideLayout" Target="../slideLayouts/slideLayout7.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17.xml.rels><?xml version="1.0" encoding="UTF-8" standalone="yes"?>
<Relationships xmlns="http://schemas.openxmlformats.org/package/2006/relationships"><Relationship Id="rId3" Type="http://schemas.openxmlformats.org/officeDocument/2006/relationships/image" Target="../media/image53.svg"/><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4F4F4"/>
        </a:solidFill>
        <a:effectLst/>
      </p:bgPr>
    </p:bg>
    <p:spTree>
      <p:nvGrpSpPr>
        <p:cNvPr id="1" name=""/>
        <p:cNvGrpSpPr/>
        <p:nvPr/>
      </p:nvGrpSpPr>
      <p:grpSpPr>
        <a:xfrm>
          <a:off x="0" y="0"/>
          <a:ext cx="0" cy="0"/>
          <a:chOff x="0" y="0"/>
          <a:chExt cx="0" cy="0"/>
        </a:xfrm>
      </p:grpSpPr>
      <p:grpSp>
        <p:nvGrpSpPr>
          <p:cNvPr id="2" name="Group 2"/>
          <p:cNvGrpSpPr/>
          <p:nvPr/>
        </p:nvGrpSpPr>
        <p:grpSpPr>
          <a:xfrm>
            <a:off x="419979" y="513168"/>
            <a:ext cx="17448042" cy="9521363"/>
            <a:chOff x="0" y="0"/>
            <a:chExt cx="64370764" cy="35127004"/>
          </a:xfrm>
        </p:grpSpPr>
        <p:sp>
          <p:nvSpPr>
            <p:cNvPr id="3" name="Freeform 3"/>
            <p:cNvSpPr/>
            <p:nvPr/>
          </p:nvSpPr>
          <p:spPr>
            <a:xfrm>
              <a:off x="72390" y="72390"/>
              <a:ext cx="64225986" cy="34982224"/>
            </a:xfrm>
            <a:custGeom>
              <a:avLst/>
              <a:gdLst/>
              <a:ahLst/>
              <a:cxnLst/>
              <a:rect l="l" t="t" r="r" b="b"/>
              <a:pathLst>
                <a:path w="64225986" h="34982224">
                  <a:moveTo>
                    <a:pt x="0" y="0"/>
                  </a:moveTo>
                  <a:lnTo>
                    <a:pt x="64225986" y="0"/>
                  </a:lnTo>
                  <a:lnTo>
                    <a:pt x="64225986" y="34982224"/>
                  </a:lnTo>
                  <a:lnTo>
                    <a:pt x="0" y="34982224"/>
                  </a:lnTo>
                  <a:lnTo>
                    <a:pt x="0" y="0"/>
                  </a:lnTo>
                  <a:close/>
                </a:path>
              </a:pathLst>
            </a:custGeom>
            <a:solidFill>
              <a:srgbClr val="AA9E95"/>
            </a:solidFill>
          </p:spPr>
          <p:txBody>
            <a:bodyPr/>
            <a:lstStyle/>
            <a:p>
              <a:endParaRPr lang="en-IN"/>
            </a:p>
          </p:txBody>
        </p:sp>
        <p:sp>
          <p:nvSpPr>
            <p:cNvPr id="4" name="Freeform 4"/>
            <p:cNvSpPr/>
            <p:nvPr/>
          </p:nvSpPr>
          <p:spPr>
            <a:xfrm>
              <a:off x="0" y="0"/>
              <a:ext cx="64370762" cy="35127003"/>
            </a:xfrm>
            <a:custGeom>
              <a:avLst/>
              <a:gdLst/>
              <a:ahLst/>
              <a:cxnLst/>
              <a:rect l="l" t="t" r="r" b="b"/>
              <a:pathLst>
                <a:path w="64370762" h="35127003">
                  <a:moveTo>
                    <a:pt x="64225984" y="34982224"/>
                  </a:moveTo>
                  <a:lnTo>
                    <a:pt x="64370762" y="34982224"/>
                  </a:lnTo>
                  <a:lnTo>
                    <a:pt x="64370762" y="35127003"/>
                  </a:lnTo>
                  <a:lnTo>
                    <a:pt x="64225984" y="35127003"/>
                  </a:lnTo>
                  <a:lnTo>
                    <a:pt x="64225984" y="34982224"/>
                  </a:lnTo>
                  <a:close/>
                  <a:moveTo>
                    <a:pt x="0" y="144780"/>
                  </a:moveTo>
                  <a:lnTo>
                    <a:pt x="144780" y="144780"/>
                  </a:lnTo>
                  <a:lnTo>
                    <a:pt x="144780" y="34982224"/>
                  </a:lnTo>
                  <a:lnTo>
                    <a:pt x="0" y="34982224"/>
                  </a:lnTo>
                  <a:lnTo>
                    <a:pt x="0" y="144780"/>
                  </a:lnTo>
                  <a:close/>
                  <a:moveTo>
                    <a:pt x="0" y="34982224"/>
                  </a:moveTo>
                  <a:lnTo>
                    <a:pt x="144780" y="34982224"/>
                  </a:lnTo>
                  <a:lnTo>
                    <a:pt x="144780" y="35127003"/>
                  </a:lnTo>
                  <a:lnTo>
                    <a:pt x="0" y="35127003"/>
                  </a:lnTo>
                  <a:lnTo>
                    <a:pt x="0" y="34982224"/>
                  </a:lnTo>
                  <a:close/>
                  <a:moveTo>
                    <a:pt x="64225984" y="144780"/>
                  </a:moveTo>
                  <a:lnTo>
                    <a:pt x="64370762" y="144780"/>
                  </a:lnTo>
                  <a:lnTo>
                    <a:pt x="64370762" y="34982224"/>
                  </a:lnTo>
                  <a:lnTo>
                    <a:pt x="64225984" y="34982224"/>
                  </a:lnTo>
                  <a:lnTo>
                    <a:pt x="64225984" y="144780"/>
                  </a:lnTo>
                  <a:close/>
                  <a:moveTo>
                    <a:pt x="144780" y="34982224"/>
                  </a:moveTo>
                  <a:lnTo>
                    <a:pt x="64225984" y="34982224"/>
                  </a:lnTo>
                  <a:lnTo>
                    <a:pt x="64225984" y="35127003"/>
                  </a:lnTo>
                  <a:lnTo>
                    <a:pt x="144780" y="35127003"/>
                  </a:lnTo>
                  <a:lnTo>
                    <a:pt x="144780" y="34982224"/>
                  </a:lnTo>
                  <a:close/>
                  <a:moveTo>
                    <a:pt x="64225984" y="0"/>
                  </a:moveTo>
                  <a:lnTo>
                    <a:pt x="64370762" y="0"/>
                  </a:lnTo>
                  <a:lnTo>
                    <a:pt x="64370762" y="144780"/>
                  </a:lnTo>
                  <a:lnTo>
                    <a:pt x="64225984" y="144780"/>
                  </a:lnTo>
                  <a:lnTo>
                    <a:pt x="64225984" y="0"/>
                  </a:lnTo>
                  <a:close/>
                  <a:moveTo>
                    <a:pt x="0" y="0"/>
                  </a:moveTo>
                  <a:lnTo>
                    <a:pt x="144780" y="0"/>
                  </a:lnTo>
                  <a:lnTo>
                    <a:pt x="144780" y="144780"/>
                  </a:lnTo>
                  <a:lnTo>
                    <a:pt x="0" y="144780"/>
                  </a:lnTo>
                  <a:lnTo>
                    <a:pt x="0" y="0"/>
                  </a:lnTo>
                  <a:close/>
                  <a:moveTo>
                    <a:pt x="144780" y="0"/>
                  </a:moveTo>
                  <a:lnTo>
                    <a:pt x="64225984" y="0"/>
                  </a:lnTo>
                  <a:lnTo>
                    <a:pt x="64225984" y="144780"/>
                  </a:lnTo>
                  <a:lnTo>
                    <a:pt x="144780" y="144780"/>
                  </a:lnTo>
                  <a:lnTo>
                    <a:pt x="144780" y="0"/>
                  </a:lnTo>
                  <a:close/>
                </a:path>
              </a:pathLst>
            </a:custGeom>
            <a:solidFill>
              <a:srgbClr val="AA9E95"/>
            </a:solidFill>
          </p:spPr>
          <p:txBody>
            <a:bodyPr/>
            <a:lstStyle/>
            <a:p>
              <a:endParaRPr lang="en-IN"/>
            </a:p>
          </p:txBody>
        </p:sp>
      </p:grpSp>
      <p:sp>
        <p:nvSpPr>
          <p:cNvPr id="5" name="Freeform 5"/>
          <p:cNvSpPr/>
          <p:nvPr/>
        </p:nvSpPr>
        <p:spPr>
          <a:xfrm>
            <a:off x="11797441" y="3455528"/>
            <a:ext cx="5461859" cy="5802772"/>
          </a:xfrm>
          <a:custGeom>
            <a:avLst/>
            <a:gdLst/>
            <a:ahLst/>
            <a:cxnLst/>
            <a:rect l="l" t="t" r="r" b="b"/>
            <a:pathLst>
              <a:path w="5461859" h="5802772">
                <a:moveTo>
                  <a:pt x="0" y="0"/>
                </a:moveTo>
                <a:lnTo>
                  <a:pt x="5461859" y="0"/>
                </a:lnTo>
                <a:lnTo>
                  <a:pt x="5461859" y="5802772"/>
                </a:lnTo>
                <a:lnTo>
                  <a:pt x="0" y="5802772"/>
                </a:lnTo>
                <a:lnTo>
                  <a:pt x="0" y="0"/>
                </a:lnTo>
                <a:close/>
              </a:path>
            </a:pathLst>
          </a:custGeom>
          <a:blipFill>
            <a:blip r:embed="rId2"/>
            <a:stretch>
              <a:fillRect/>
            </a:stretch>
          </a:blipFill>
        </p:spPr>
        <p:txBody>
          <a:bodyPr/>
          <a:lstStyle/>
          <a:p>
            <a:endParaRPr lang="en-IN"/>
          </a:p>
        </p:txBody>
      </p:sp>
      <p:sp>
        <p:nvSpPr>
          <p:cNvPr id="6" name="TextBox 6"/>
          <p:cNvSpPr txBox="1"/>
          <p:nvPr/>
        </p:nvSpPr>
        <p:spPr>
          <a:xfrm>
            <a:off x="1028700" y="781050"/>
            <a:ext cx="16418084" cy="4527551"/>
          </a:xfrm>
          <a:prstGeom prst="rect">
            <a:avLst/>
          </a:prstGeom>
        </p:spPr>
        <p:txBody>
          <a:bodyPr lIns="0" tIns="0" rIns="0" bIns="0" rtlCol="0" anchor="t">
            <a:spAutoFit/>
          </a:bodyPr>
          <a:lstStyle/>
          <a:p>
            <a:pPr algn="l">
              <a:lnSpc>
                <a:spcPts val="18199"/>
              </a:lnSpc>
            </a:pPr>
            <a:r>
              <a:rPr lang="en-US" sz="12999" b="1">
                <a:solidFill>
                  <a:srgbClr val="F6F6F6"/>
                </a:solidFill>
                <a:latin typeface="Quicksand Bold"/>
                <a:ea typeface="Quicksand Bold"/>
                <a:cs typeface="Quicksand Bold"/>
                <a:sym typeface="Quicksand Bold"/>
              </a:rPr>
              <a:t>EMAIL SPAM DETECTION</a:t>
            </a:r>
          </a:p>
        </p:txBody>
      </p:sp>
      <p:sp>
        <p:nvSpPr>
          <p:cNvPr id="7" name="TextBox 7"/>
          <p:cNvSpPr txBox="1"/>
          <p:nvPr/>
        </p:nvSpPr>
        <p:spPr>
          <a:xfrm>
            <a:off x="3087755" y="5207175"/>
            <a:ext cx="12879537" cy="580388"/>
          </a:xfrm>
          <a:prstGeom prst="rect">
            <a:avLst/>
          </a:prstGeom>
        </p:spPr>
        <p:txBody>
          <a:bodyPr lIns="0" tIns="0" rIns="0" bIns="0" rtlCol="0" anchor="t">
            <a:spAutoFit/>
          </a:bodyPr>
          <a:lstStyle/>
          <a:p>
            <a:pPr algn="l">
              <a:lnSpc>
                <a:spcPts val="4760"/>
              </a:lnSpc>
            </a:pPr>
            <a:r>
              <a:rPr lang="en-US" sz="3400" b="1">
                <a:solidFill>
                  <a:srgbClr val="F6F6F6"/>
                </a:solidFill>
                <a:latin typeface="Quicksand Bold"/>
                <a:ea typeface="Quicksand Bold"/>
                <a:cs typeface="Quicksand Bold"/>
                <a:sym typeface="Quicksand Bold"/>
              </a:rPr>
              <a:t>STAYING SAFE ONLINE</a:t>
            </a:r>
          </a:p>
        </p:txBody>
      </p:sp>
      <p:sp>
        <p:nvSpPr>
          <p:cNvPr id="8" name="TextBox 8"/>
          <p:cNvSpPr txBox="1"/>
          <p:nvPr/>
        </p:nvSpPr>
        <p:spPr>
          <a:xfrm>
            <a:off x="0" y="7834849"/>
            <a:ext cx="6809314" cy="2530373"/>
          </a:xfrm>
          <a:prstGeom prst="rect">
            <a:avLst/>
          </a:prstGeom>
        </p:spPr>
        <p:txBody>
          <a:bodyPr lIns="0" tIns="0" rIns="0" bIns="0" rtlCol="0" anchor="t">
            <a:spAutoFit/>
          </a:bodyPr>
          <a:lstStyle/>
          <a:p>
            <a:pPr algn="ctr">
              <a:lnSpc>
                <a:spcPts val="3967"/>
              </a:lnSpc>
            </a:pPr>
            <a:r>
              <a:rPr lang="en-US" sz="2833" b="1" dirty="0">
                <a:solidFill>
                  <a:srgbClr val="F4F4F4"/>
                </a:solidFill>
                <a:latin typeface="Canva Sans Bold"/>
                <a:ea typeface="Canva Sans Bold"/>
                <a:cs typeface="Canva Sans Bold"/>
                <a:sym typeface="Canva Sans Bold"/>
              </a:rPr>
              <a:t>2410030033 – </a:t>
            </a:r>
            <a:r>
              <a:rPr lang="en-US" sz="2833" b="1" dirty="0" err="1">
                <a:solidFill>
                  <a:srgbClr val="F4F4F4"/>
                </a:solidFill>
                <a:latin typeface="Canva Sans Bold"/>
                <a:ea typeface="Canva Sans Bold"/>
                <a:cs typeface="Canva Sans Bold"/>
                <a:sym typeface="Canva Sans Bold"/>
              </a:rPr>
              <a:t>T.Roopasri</a:t>
            </a:r>
            <a:endParaRPr lang="en-US" sz="2833" b="1" dirty="0">
              <a:solidFill>
                <a:srgbClr val="F4F4F4"/>
              </a:solidFill>
              <a:latin typeface="Canva Sans Bold"/>
              <a:ea typeface="Canva Sans Bold"/>
              <a:cs typeface="Canva Sans Bold"/>
              <a:sym typeface="Canva Sans Bold"/>
            </a:endParaRPr>
          </a:p>
          <a:p>
            <a:pPr algn="ctr">
              <a:lnSpc>
                <a:spcPts val="3967"/>
              </a:lnSpc>
            </a:pPr>
            <a:r>
              <a:rPr lang="en-US" sz="2833" b="1" dirty="0">
                <a:solidFill>
                  <a:srgbClr val="F4F4F4"/>
                </a:solidFill>
                <a:latin typeface="Canva Sans Bold"/>
                <a:ea typeface="Canva Sans Bold"/>
                <a:cs typeface="Canva Sans Bold"/>
                <a:sym typeface="Canva Sans Bold"/>
              </a:rPr>
              <a:t>2410030233 – </a:t>
            </a:r>
            <a:r>
              <a:rPr lang="en-US" sz="2833" b="1" dirty="0" err="1">
                <a:solidFill>
                  <a:srgbClr val="F4F4F4"/>
                </a:solidFill>
                <a:latin typeface="Canva Sans Bold"/>
                <a:ea typeface="Canva Sans Bold"/>
                <a:cs typeface="Canva Sans Bold"/>
                <a:sym typeface="Canva Sans Bold"/>
              </a:rPr>
              <a:t>CR.Pranavi</a:t>
            </a:r>
            <a:endParaRPr lang="en-US" sz="2833" b="1" dirty="0">
              <a:solidFill>
                <a:srgbClr val="F4F4F4"/>
              </a:solidFill>
              <a:latin typeface="Canva Sans Bold"/>
              <a:ea typeface="Canva Sans Bold"/>
              <a:cs typeface="Canva Sans Bold"/>
              <a:sym typeface="Canva Sans Bold"/>
            </a:endParaRPr>
          </a:p>
          <a:p>
            <a:pPr algn="ctr">
              <a:lnSpc>
                <a:spcPts val="3967"/>
              </a:lnSpc>
            </a:pPr>
            <a:r>
              <a:rPr lang="en-US" sz="2833" b="1" dirty="0">
                <a:solidFill>
                  <a:srgbClr val="F4F4F4"/>
                </a:solidFill>
                <a:latin typeface="Canva Sans Bold"/>
                <a:ea typeface="Canva Sans Bold"/>
                <a:cs typeface="Canva Sans Bold"/>
                <a:sym typeface="Canva Sans Bold"/>
              </a:rPr>
              <a:t>2410030248 – Swathi</a:t>
            </a:r>
          </a:p>
          <a:p>
            <a:pPr algn="ctr">
              <a:lnSpc>
                <a:spcPts val="3967"/>
              </a:lnSpc>
            </a:pPr>
            <a:r>
              <a:rPr lang="en-US" sz="2833" b="1" dirty="0">
                <a:solidFill>
                  <a:srgbClr val="F4F4F4"/>
                </a:solidFill>
                <a:latin typeface="Canva Sans Bold"/>
                <a:ea typeface="Canva Sans Bold"/>
                <a:cs typeface="Canva Sans Bold"/>
                <a:sym typeface="Canva Sans Bold"/>
              </a:rPr>
              <a:t>2410030245 – </a:t>
            </a:r>
            <a:r>
              <a:rPr lang="en-US" sz="2833" b="1" dirty="0" err="1">
                <a:solidFill>
                  <a:srgbClr val="F4F4F4"/>
                </a:solidFill>
                <a:latin typeface="Canva Sans Bold"/>
                <a:ea typeface="Canva Sans Bold"/>
                <a:cs typeface="Canva Sans Bold"/>
                <a:sym typeface="Canva Sans Bold"/>
              </a:rPr>
              <a:t>Vishnuchethana</a:t>
            </a:r>
            <a:endParaRPr lang="en-US" sz="2833" b="1" dirty="0">
              <a:solidFill>
                <a:srgbClr val="F4F4F4"/>
              </a:solidFill>
              <a:latin typeface="Canva Sans Bold"/>
              <a:ea typeface="Canva Sans Bold"/>
              <a:cs typeface="Canva Sans Bold"/>
              <a:sym typeface="Canva Sans Bold"/>
            </a:endParaRPr>
          </a:p>
          <a:p>
            <a:pPr algn="ctr">
              <a:lnSpc>
                <a:spcPts val="3967"/>
              </a:lnSpc>
            </a:pPr>
            <a:endParaRPr lang="en-US" sz="2833" b="1" dirty="0">
              <a:solidFill>
                <a:srgbClr val="F4F4F4"/>
              </a:solidFill>
              <a:latin typeface="Canva Sans Bold"/>
              <a:ea typeface="Canva Sans Bold"/>
              <a:cs typeface="Canva Sans Bold"/>
              <a:sym typeface="Canva Sans Bold"/>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7D6C8"/>
        </a:solidFill>
        <a:effectLst/>
      </p:bgPr>
    </p:bg>
    <p:spTree>
      <p:nvGrpSpPr>
        <p:cNvPr id="1" name=""/>
        <p:cNvGrpSpPr/>
        <p:nvPr/>
      </p:nvGrpSpPr>
      <p:grpSpPr>
        <a:xfrm>
          <a:off x="0" y="0"/>
          <a:ext cx="0" cy="0"/>
          <a:chOff x="0" y="0"/>
          <a:chExt cx="0" cy="0"/>
        </a:xfrm>
      </p:grpSpPr>
      <p:grpSp>
        <p:nvGrpSpPr>
          <p:cNvPr id="2" name="Group 2"/>
          <p:cNvGrpSpPr/>
          <p:nvPr/>
        </p:nvGrpSpPr>
        <p:grpSpPr>
          <a:xfrm>
            <a:off x="410972" y="385288"/>
            <a:ext cx="17466056" cy="9516424"/>
            <a:chOff x="0" y="0"/>
            <a:chExt cx="86189481" cy="46960552"/>
          </a:xfrm>
        </p:grpSpPr>
        <p:sp>
          <p:nvSpPr>
            <p:cNvPr id="3" name="Freeform 3"/>
            <p:cNvSpPr/>
            <p:nvPr/>
          </p:nvSpPr>
          <p:spPr>
            <a:xfrm>
              <a:off x="72390" y="72390"/>
              <a:ext cx="86044704" cy="46815771"/>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F4F4F4"/>
            </a:solidFill>
          </p:spPr>
          <p:txBody>
            <a:bodyPr/>
            <a:lstStyle/>
            <a:p>
              <a:endParaRPr lang="en-IN"/>
            </a:p>
          </p:txBody>
        </p:sp>
        <p:sp>
          <p:nvSpPr>
            <p:cNvPr id="4" name="Freeform 4"/>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F4F4F4"/>
            </a:solidFill>
          </p:spPr>
          <p:txBody>
            <a:bodyPr/>
            <a:lstStyle/>
            <a:p>
              <a:endParaRPr lang="en-IN"/>
            </a:p>
          </p:txBody>
        </p:sp>
      </p:grpSp>
      <p:grpSp>
        <p:nvGrpSpPr>
          <p:cNvPr id="5" name="Group 5"/>
          <p:cNvGrpSpPr/>
          <p:nvPr/>
        </p:nvGrpSpPr>
        <p:grpSpPr>
          <a:xfrm>
            <a:off x="410972" y="385288"/>
            <a:ext cx="17466056" cy="2104315"/>
            <a:chOff x="0" y="0"/>
            <a:chExt cx="86189481" cy="10384130"/>
          </a:xfrm>
        </p:grpSpPr>
        <p:sp>
          <p:nvSpPr>
            <p:cNvPr id="6" name="Freeform 6"/>
            <p:cNvSpPr/>
            <p:nvPr/>
          </p:nvSpPr>
          <p:spPr>
            <a:xfrm>
              <a:off x="72390" y="72390"/>
              <a:ext cx="86044704" cy="10239350"/>
            </a:xfrm>
            <a:custGeom>
              <a:avLst/>
              <a:gdLst/>
              <a:ahLst/>
              <a:cxnLst/>
              <a:rect l="l" t="t" r="r" b="b"/>
              <a:pathLst>
                <a:path w="86044704" h="10239350">
                  <a:moveTo>
                    <a:pt x="0" y="0"/>
                  </a:moveTo>
                  <a:lnTo>
                    <a:pt x="86044704" y="0"/>
                  </a:lnTo>
                  <a:lnTo>
                    <a:pt x="86044704" y="10239350"/>
                  </a:lnTo>
                  <a:lnTo>
                    <a:pt x="0" y="10239350"/>
                  </a:lnTo>
                  <a:lnTo>
                    <a:pt x="0" y="0"/>
                  </a:lnTo>
                  <a:close/>
                </a:path>
              </a:pathLst>
            </a:custGeom>
            <a:solidFill>
              <a:srgbClr val="DDC6C6"/>
            </a:solidFill>
          </p:spPr>
          <p:txBody>
            <a:bodyPr/>
            <a:lstStyle/>
            <a:p>
              <a:endParaRPr lang="en-IN"/>
            </a:p>
          </p:txBody>
        </p:sp>
        <p:sp>
          <p:nvSpPr>
            <p:cNvPr id="7" name="Freeform 7"/>
            <p:cNvSpPr/>
            <p:nvPr/>
          </p:nvSpPr>
          <p:spPr>
            <a:xfrm>
              <a:off x="0" y="0"/>
              <a:ext cx="86189480" cy="10384130"/>
            </a:xfrm>
            <a:custGeom>
              <a:avLst/>
              <a:gdLst/>
              <a:ahLst/>
              <a:cxnLst/>
              <a:rect l="l" t="t" r="r" b="b"/>
              <a:pathLst>
                <a:path w="86189480" h="10384130">
                  <a:moveTo>
                    <a:pt x="86044701" y="10239350"/>
                  </a:moveTo>
                  <a:lnTo>
                    <a:pt x="86189480" y="10239350"/>
                  </a:lnTo>
                  <a:lnTo>
                    <a:pt x="86189480" y="10384130"/>
                  </a:lnTo>
                  <a:lnTo>
                    <a:pt x="86044701" y="10384130"/>
                  </a:lnTo>
                  <a:lnTo>
                    <a:pt x="86044701" y="10239350"/>
                  </a:lnTo>
                  <a:close/>
                  <a:moveTo>
                    <a:pt x="0" y="144780"/>
                  </a:moveTo>
                  <a:lnTo>
                    <a:pt x="144780" y="144780"/>
                  </a:lnTo>
                  <a:lnTo>
                    <a:pt x="144780" y="10239350"/>
                  </a:lnTo>
                  <a:lnTo>
                    <a:pt x="0" y="10239350"/>
                  </a:lnTo>
                  <a:lnTo>
                    <a:pt x="0" y="144780"/>
                  </a:lnTo>
                  <a:close/>
                  <a:moveTo>
                    <a:pt x="0" y="10239350"/>
                  </a:moveTo>
                  <a:lnTo>
                    <a:pt x="144780" y="10239350"/>
                  </a:lnTo>
                  <a:lnTo>
                    <a:pt x="144780" y="10384130"/>
                  </a:lnTo>
                  <a:lnTo>
                    <a:pt x="0" y="10384130"/>
                  </a:lnTo>
                  <a:lnTo>
                    <a:pt x="0" y="10239350"/>
                  </a:lnTo>
                  <a:close/>
                  <a:moveTo>
                    <a:pt x="86044701" y="144780"/>
                  </a:moveTo>
                  <a:lnTo>
                    <a:pt x="86189480" y="144780"/>
                  </a:lnTo>
                  <a:lnTo>
                    <a:pt x="86189480" y="10239350"/>
                  </a:lnTo>
                  <a:lnTo>
                    <a:pt x="86044701" y="10239350"/>
                  </a:lnTo>
                  <a:lnTo>
                    <a:pt x="86044701" y="144780"/>
                  </a:lnTo>
                  <a:close/>
                  <a:moveTo>
                    <a:pt x="144780" y="10239350"/>
                  </a:moveTo>
                  <a:lnTo>
                    <a:pt x="86044701" y="10239350"/>
                  </a:lnTo>
                  <a:lnTo>
                    <a:pt x="86044701" y="10384130"/>
                  </a:lnTo>
                  <a:lnTo>
                    <a:pt x="144780" y="10384130"/>
                  </a:lnTo>
                  <a:lnTo>
                    <a:pt x="144780" y="10239350"/>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DDC6C6"/>
            </a:solidFill>
          </p:spPr>
          <p:txBody>
            <a:bodyPr/>
            <a:lstStyle/>
            <a:p>
              <a:endParaRPr lang="en-IN"/>
            </a:p>
          </p:txBody>
        </p:sp>
      </p:grpSp>
      <p:sp>
        <p:nvSpPr>
          <p:cNvPr id="8" name="TextBox 8"/>
          <p:cNvSpPr txBox="1"/>
          <p:nvPr/>
        </p:nvSpPr>
        <p:spPr>
          <a:xfrm>
            <a:off x="2335654" y="2973009"/>
            <a:ext cx="13798303" cy="6389125"/>
          </a:xfrm>
          <a:prstGeom prst="rect">
            <a:avLst/>
          </a:prstGeom>
        </p:spPr>
        <p:txBody>
          <a:bodyPr lIns="0" tIns="0" rIns="0" bIns="0" rtlCol="0" anchor="t">
            <a:spAutoFit/>
          </a:bodyPr>
          <a:lstStyle/>
          <a:p>
            <a:pPr algn="ctr">
              <a:lnSpc>
                <a:spcPts val="5068"/>
              </a:lnSpc>
            </a:pPr>
            <a:r>
              <a:rPr lang="en-US" sz="3620" spc="-57">
                <a:solidFill>
                  <a:srgbClr val="000000"/>
                </a:solidFill>
                <a:latin typeface="Canva Sans"/>
                <a:ea typeface="Canva Sans"/>
                <a:cs typeface="Canva Sans"/>
                <a:sym typeface="Canva Sans"/>
              </a:rPr>
              <a:t>Email is a popular way to send and receive messages. But sometimes, people get spam emails. These are unwanted messages that may be harmful or fake. They can try to steal personal information or damage your computer.</a:t>
            </a:r>
          </a:p>
          <a:p>
            <a:pPr algn="ctr">
              <a:lnSpc>
                <a:spcPts val="5068"/>
              </a:lnSpc>
            </a:pPr>
            <a:r>
              <a:rPr lang="en-US" sz="3620" spc="-57">
                <a:solidFill>
                  <a:srgbClr val="000000"/>
                </a:solidFill>
                <a:latin typeface="Canva Sans"/>
                <a:ea typeface="Canva Sans"/>
                <a:cs typeface="Canva Sans"/>
                <a:sym typeface="Canva Sans"/>
              </a:rPr>
              <a:t>An Email Spam Detector is a tool that helps find spam emails. It keeps your inbox clean and safe. Today, we use smart computer programs (Python and Machine learning) to catch spam because spammers keep changing their tricks.</a:t>
            </a:r>
          </a:p>
          <a:p>
            <a:pPr algn="ctr">
              <a:lnSpc>
                <a:spcPts val="5068"/>
              </a:lnSpc>
            </a:pPr>
            <a:endParaRPr lang="en-US" sz="3620" spc="-57">
              <a:solidFill>
                <a:srgbClr val="000000"/>
              </a:solidFill>
              <a:latin typeface="Canva Sans"/>
              <a:ea typeface="Canva Sans"/>
              <a:cs typeface="Canva Sans"/>
              <a:sym typeface="Canva Sans"/>
            </a:endParaRPr>
          </a:p>
          <a:p>
            <a:pPr algn="ctr">
              <a:lnSpc>
                <a:spcPts val="5068"/>
              </a:lnSpc>
            </a:pPr>
            <a:endParaRPr lang="en-US" sz="3620" spc="-57">
              <a:solidFill>
                <a:srgbClr val="000000"/>
              </a:solidFill>
              <a:latin typeface="Canva Sans"/>
              <a:ea typeface="Canva Sans"/>
              <a:cs typeface="Canva Sans"/>
              <a:sym typeface="Canva Sans"/>
            </a:endParaRPr>
          </a:p>
        </p:txBody>
      </p:sp>
      <p:sp>
        <p:nvSpPr>
          <p:cNvPr id="9" name="Freeform 9"/>
          <p:cNvSpPr/>
          <p:nvPr/>
        </p:nvSpPr>
        <p:spPr>
          <a:xfrm>
            <a:off x="1174963" y="1028700"/>
            <a:ext cx="1386758" cy="975774"/>
          </a:xfrm>
          <a:custGeom>
            <a:avLst/>
            <a:gdLst/>
            <a:ahLst/>
            <a:cxnLst/>
            <a:rect l="l" t="t" r="r" b="b"/>
            <a:pathLst>
              <a:path w="1386758" h="975774">
                <a:moveTo>
                  <a:pt x="0" y="0"/>
                </a:moveTo>
                <a:lnTo>
                  <a:pt x="1386758" y="0"/>
                </a:lnTo>
                <a:lnTo>
                  <a:pt x="1386758" y="975774"/>
                </a:lnTo>
                <a:lnTo>
                  <a:pt x="0" y="9757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0" name="TextBox 10"/>
          <p:cNvSpPr txBox="1"/>
          <p:nvPr/>
        </p:nvSpPr>
        <p:spPr>
          <a:xfrm>
            <a:off x="0" y="895350"/>
            <a:ext cx="12978206" cy="2428007"/>
          </a:xfrm>
          <a:prstGeom prst="rect">
            <a:avLst/>
          </a:prstGeom>
        </p:spPr>
        <p:txBody>
          <a:bodyPr lIns="0" tIns="0" rIns="0" bIns="0" rtlCol="0" anchor="t">
            <a:spAutoFit/>
          </a:bodyPr>
          <a:lstStyle/>
          <a:p>
            <a:pPr algn="ctr">
              <a:lnSpc>
                <a:spcPts val="9773"/>
              </a:lnSpc>
            </a:pPr>
            <a:r>
              <a:rPr lang="en-US" sz="6981" b="1">
                <a:solidFill>
                  <a:srgbClr val="8F847B"/>
                </a:solidFill>
                <a:latin typeface="Canva Sans Bold"/>
                <a:ea typeface="Canva Sans Bold"/>
                <a:cs typeface="Canva Sans Bold"/>
                <a:sym typeface="Canva Sans Bold"/>
              </a:rPr>
              <a:t>INTRODUCTION</a:t>
            </a:r>
          </a:p>
          <a:p>
            <a:pPr algn="ctr">
              <a:lnSpc>
                <a:spcPts val="9773"/>
              </a:lnSpc>
            </a:pPr>
            <a:endParaRPr lang="en-US" sz="6981" b="1">
              <a:solidFill>
                <a:srgbClr val="8F847B"/>
              </a:solidFill>
              <a:latin typeface="Canva Sans Bold"/>
              <a:ea typeface="Canva Sans Bold"/>
              <a:cs typeface="Canva Sans Bold"/>
              <a:sym typeface="Canva Sans Bold"/>
            </a:endParaRPr>
          </a:p>
        </p:txBody>
      </p:sp>
      <p:sp>
        <p:nvSpPr>
          <p:cNvPr id="11" name="TextBox 11"/>
          <p:cNvSpPr txBox="1"/>
          <p:nvPr/>
        </p:nvSpPr>
        <p:spPr>
          <a:xfrm>
            <a:off x="410972" y="9873137"/>
            <a:ext cx="17466056" cy="289275"/>
          </a:xfrm>
          <a:prstGeom prst="rect">
            <a:avLst/>
          </a:prstGeom>
        </p:spPr>
        <p:txBody>
          <a:bodyPr lIns="0" tIns="0" rIns="0" bIns="0" rtlCol="0" anchor="t">
            <a:spAutoFit/>
          </a:bodyPr>
          <a:lstStyle/>
          <a:p>
            <a:pPr algn="ctr">
              <a:lnSpc>
                <a:spcPts val="2430"/>
              </a:lnSpc>
              <a:spcBef>
                <a:spcPct val="0"/>
              </a:spcBef>
            </a:pPr>
            <a:r>
              <a:rPr lang="en-US" sz="1736">
                <a:solidFill>
                  <a:srgbClr val="000000"/>
                </a:solidFill>
                <a:latin typeface="Quicksand"/>
                <a:ea typeface="Quicksand"/>
                <a:cs typeface="Quicksand"/>
                <a:sym typeface="Quicksand"/>
              </a:rPr>
              <a:t>Your paragraph text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6F6F6"/>
        </a:solidFill>
        <a:effectLst/>
      </p:bgPr>
    </p:bg>
    <p:spTree>
      <p:nvGrpSpPr>
        <p:cNvPr id="1" name=""/>
        <p:cNvGrpSpPr/>
        <p:nvPr/>
      </p:nvGrpSpPr>
      <p:grpSpPr>
        <a:xfrm>
          <a:off x="0" y="0"/>
          <a:ext cx="0" cy="0"/>
          <a:chOff x="0" y="0"/>
          <a:chExt cx="0" cy="0"/>
        </a:xfrm>
      </p:grpSpPr>
      <p:grpSp>
        <p:nvGrpSpPr>
          <p:cNvPr id="2" name="Group 2"/>
          <p:cNvGrpSpPr/>
          <p:nvPr/>
        </p:nvGrpSpPr>
        <p:grpSpPr>
          <a:xfrm>
            <a:off x="410972" y="385288"/>
            <a:ext cx="17466056" cy="9516424"/>
            <a:chOff x="0" y="0"/>
            <a:chExt cx="86189481" cy="46960552"/>
          </a:xfrm>
        </p:grpSpPr>
        <p:sp>
          <p:nvSpPr>
            <p:cNvPr id="3" name="Freeform 3"/>
            <p:cNvSpPr/>
            <p:nvPr/>
          </p:nvSpPr>
          <p:spPr>
            <a:xfrm>
              <a:off x="72390" y="72390"/>
              <a:ext cx="86044704" cy="46815771"/>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E7D6C8"/>
            </a:solidFill>
          </p:spPr>
          <p:txBody>
            <a:bodyPr/>
            <a:lstStyle/>
            <a:p>
              <a:endParaRPr lang="en-IN"/>
            </a:p>
          </p:txBody>
        </p:sp>
        <p:sp>
          <p:nvSpPr>
            <p:cNvPr id="4" name="Freeform 4"/>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E7D6C8"/>
            </a:solidFill>
          </p:spPr>
          <p:txBody>
            <a:bodyPr/>
            <a:lstStyle/>
            <a:p>
              <a:endParaRPr lang="en-IN"/>
            </a:p>
          </p:txBody>
        </p:sp>
      </p:grpSp>
      <p:grpSp>
        <p:nvGrpSpPr>
          <p:cNvPr id="5" name="Group 5"/>
          <p:cNvGrpSpPr/>
          <p:nvPr/>
        </p:nvGrpSpPr>
        <p:grpSpPr>
          <a:xfrm>
            <a:off x="410972" y="385288"/>
            <a:ext cx="17466056" cy="2104315"/>
            <a:chOff x="0" y="0"/>
            <a:chExt cx="86189481" cy="10384130"/>
          </a:xfrm>
        </p:grpSpPr>
        <p:sp>
          <p:nvSpPr>
            <p:cNvPr id="6" name="Freeform 6"/>
            <p:cNvSpPr/>
            <p:nvPr/>
          </p:nvSpPr>
          <p:spPr>
            <a:xfrm>
              <a:off x="72390" y="72390"/>
              <a:ext cx="86044704" cy="10239350"/>
            </a:xfrm>
            <a:custGeom>
              <a:avLst/>
              <a:gdLst/>
              <a:ahLst/>
              <a:cxnLst/>
              <a:rect l="l" t="t" r="r" b="b"/>
              <a:pathLst>
                <a:path w="86044704" h="10239350">
                  <a:moveTo>
                    <a:pt x="0" y="0"/>
                  </a:moveTo>
                  <a:lnTo>
                    <a:pt x="86044704" y="0"/>
                  </a:lnTo>
                  <a:lnTo>
                    <a:pt x="86044704" y="10239350"/>
                  </a:lnTo>
                  <a:lnTo>
                    <a:pt x="0" y="10239350"/>
                  </a:lnTo>
                  <a:lnTo>
                    <a:pt x="0" y="0"/>
                  </a:lnTo>
                  <a:close/>
                </a:path>
              </a:pathLst>
            </a:custGeom>
            <a:solidFill>
              <a:srgbClr val="AA9E95"/>
            </a:solidFill>
          </p:spPr>
          <p:txBody>
            <a:bodyPr/>
            <a:lstStyle/>
            <a:p>
              <a:endParaRPr lang="en-IN"/>
            </a:p>
          </p:txBody>
        </p:sp>
        <p:sp>
          <p:nvSpPr>
            <p:cNvPr id="7" name="Freeform 7"/>
            <p:cNvSpPr/>
            <p:nvPr/>
          </p:nvSpPr>
          <p:spPr>
            <a:xfrm>
              <a:off x="0" y="0"/>
              <a:ext cx="86189480" cy="10384130"/>
            </a:xfrm>
            <a:custGeom>
              <a:avLst/>
              <a:gdLst/>
              <a:ahLst/>
              <a:cxnLst/>
              <a:rect l="l" t="t" r="r" b="b"/>
              <a:pathLst>
                <a:path w="86189480" h="10384130">
                  <a:moveTo>
                    <a:pt x="86044701" y="10239350"/>
                  </a:moveTo>
                  <a:lnTo>
                    <a:pt x="86189480" y="10239350"/>
                  </a:lnTo>
                  <a:lnTo>
                    <a:pt x="86189480" y="10384130"/>
                  </a:lnTo>
                  <a:lnTo>
                    <a:pt x="86044701" y="10384130"/>
                  </a:lnTo>
                  <a:lnTo>
                    <a:pt x="86044701" y="10239350"/>
                  </a:lnTo>
                  <a:close/>
                  <a:moveTo>
                    <a:pt x="0" y="144780"/>
                  </a:moveTo>
                  <a:lnTo>
                    <a:pt x="144780" y="144780"/>
                  </a:lnTo>
                  <a:lnTo>
                    <a:pt x="144780" y="10239350"/>
                  </a:lnTo>
                  <a:lnTo>
                    <a:pt x="0" y="10239350"/>
                  </a:lnTo>
                  <a:lnTo>
                    <a:pt x="0" y="144780"/>
                  </a:lnTo>
                  <a:close/>
                  <a:moveTo>
                    <a:pt x="0" y="10239350"/>
                  </a:moveTo>
                  <a:lnTo>
                    <a:pt x="144780" y="10239350"/>
                  </a:lnTo>
                  <a:lnTo>
                    <a:pt x="144780" y="10384130"/>
                  </a:lnTo>
                  <a:lnTo>
                    <a:pt x="0" y="10384130"/>
                  </a:lnTo>
                  <a:lnTo>
                    <a:pt x="0" y="10239350"/>
                  </a:lnTo>
                  <a:close/>
                  <a:moveTo>
                    <a:pt x="86044701" y="144780"/>
                  </a:moveTo>
                  <a:lnTo>
                    <a:pt x="86189480" y="144780"/>
                  </a:lnTo>
                  <a:lnTo>
                    <a:pt x="86189480" y="10239350"/>
                  </a:lnTo>
                  <a:lnTo>
                    <a:pt x="86044701" y="10239350"/>
                  </a:lnTo>
                  <a:lnTo>
                    <a:pt x="86044701" y="144780"/>
                  </a:lnTo>
                  <a:close/>
                  <a:moveTo>
                    <a:pt x="144780" y="10239350"/>
                  </a:moveTo>
                  <a:lnTo>
                    <a:pt x="86044701" y="10239350"/>
                  </a:lnTo>
                  <a:lnTo>
                    <a:pt x="86044701" y="10384130"/>
                  </a:lnTo>
                  <a:lnTo>
                    <a:pt x="144780" y="10384130"/>
                  </a:lnTo>
                  <a:lnTo>
                    <a:pt x="144780" y="10239350"/>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BBADA2"/>
            </a:solidFill>
          </p:spPr>
          <p:txBody>
            <a:bodyPr/>
            <a:lstStyle/>
            <a:p>
              <a:endParaRPr lang="en-IN"/>
            </a:p>
          </p:txBody>
        </p:sp>
      </p:grpSp>
      <p:grpSp>
        <p:nvGrpSpPr>
          <p:cNvPr id="8" name="Group 8"/>
          <p:cNvGrpSpPr/>
          <p:nvPr/>
        </p:nvGrpSpPr>
        <p:grpSpPr>
          <a:xfrm>
            <a:off x="533400" y="763294"/>
            <a:ext cx="16725900" cy="1348304"/>
            <a:chOff x="0" y="0"/>
            <a:chExt cx="4653345" cy="386561"/>
          </a:xfrm>
        </p:grpSpPr>
        <p:sp>
          <p:nvSpPr>
            <p:cNvPr id="9" name="Freeform 9"/>
            <p:cNvSpPr/>
            <p:nvPr/>
          </p:nvSpPr>
          <p:spPr>
            <a:xfrm>
              <a:off x="0" y="0"/>
              <a:ext cx="4653345" cy="386561"/>
            </a:xfrm>
            <a:custGeom>
              <a:avLst/>
              <a:gdLst/>
              <a:ahLst/>
              <a:cxnLst/>
              <a:rect l="l" t="t" r="r" b="b"/>
              <a:pathLst>
                <a:path w="4653345" h="386561">
                  <a:moveTo>
                    <a:pt x="47700" y="0"/>
                  </a:moveTo>
                  <a:lnTo>
                    <a:pt x="4605645" y="0"/>
                  </a:lnTo>
                  <a:cubicBezTo>
                    <a:pt x="4618296" y="0"/>
                    <a:pt x="4630428" y="5025"/>
                    <a:pt x="4639374" y="13971"/>
                  </a:cubicBezTo>
                  <a:cubicBezTo>
                    <a:pt x="4648319" y="22916"/>
                    <a:pt x="4653345" y="35049"/>
                    <a:pt x="4653345" y="47700"/>
                  </a:cubicBezTo>
                  <a:lnTo>
                    <a:pt x="4653345" y="338862"/>
                  </a:lnTo>
                  <a:cubicBezTo>
                    <a:pt x="4653345" y="351512"/>
                    <a:pt x="4648319" y="363645"/>
                    <a:pt x="4639374" y="372590"/>
                  </a:cubicBezTo>
                  <a:cubicBezTo>
                    <a:pt x="4630428" y="381536"/>
                    <a:pt x="4618296" y="386561"/>
                    <a:pt x="4605645" y="386561"/>
                  </a:cubicBezTo>
                  <a:lnTo>
                    <a:pt x="47700" y="386561"/>
                  </a:lnTo>
                  <a:cubicBezTo>
                    <a:pt x="35049" y="386561"/>
                    <a:pt x="22916" y="381536"/>
                    <a:pt x="13971" y="372590"/>
                  </a:cubicBezTo>
                  <a:cubicBezTo>
                    <a:pt x="5025" y="363645"/>
                    <a:pt x="0" y="351512"/>
                    <a:pt x="0" y="338862"/>
                  </a:cubicBezTo>
                  <a:lnTo>
                    <a:pt x="0" y="47700"/>
                  </a:lnTo>
                  <a:cubicBezTo>
                    <a:pt x="0" y="35049"/>
                    <a:pt x="5025" y="22916"/>
                    <a:pt x="13971" y="13971"/>
                  </a:cubicBezTo>
                  <a:cubicBezTo>
                    <a:pt x="22916" y="5025"/>
                    <a:pt x="35049" y="0"/>
                    <a:pt x="47700" y="0"/>
                  </a:cubicBezTo>
                  <a:close/>
                </a:path>
              </a:pathLst>
            </a:custGeom>
            <a:solidFill>
              <a:srgbClr val="F4F4F4"/>
            </a:solidFill>
            <a:ln w="23812" cap="rnd">
              <a:solidFill>
                <a:srgbClr val="F5F4F2"/>
              </a:solidFill>
              <a:prstDash val="solid"/>
              <a:round/>
            </a:ln>
          </p:spPr>
          <p:txBody>
            <a:bodyPr/>
            <a:lstStyle/>
            <a:p>
              <a:endParaRPr lang="en-IN"/>
            </a:p>
          </p:txBody>
        </p:sp>
        <p:sp>
          <p:nvSpPr>
            <p:cNvPr id="10" name="TextBox 10"/>
            <p:cNvSpPr txBox="1"/>
            <p:nvPr/>
          </p:nvSpPr>
          <p:spPr>
            <a:xfrm>
              <a:off x="0" y="-28575"/>
              <a:ext cx="4653345" cy="415136"/>
            </a:xfrm>
            <a:prstGeom prst="rect">
              <a:avLst/>
            </a:prstGeom>
          </p:spPr>
          <p:txBody>
            <a:bodyPr lIns="63000" tIns="63000" rIns="63000" bIns="63000" rtlCol="0" anchor="ctr"/>
            <a:lstStyle/>
            <a:p>
              <a:pPr algn="ctr">
                <a:lnSpc>
                  <a:spcPts val="2430"/>
                </a:lnSpc>
                <a:spcBef>
                  <a:spcPct val="0"/>
                </a:spcBef>
              </a:pPr>
              <a:endParaRPr/>
            </a:p>
          </p:txBody>
        </p:sp>
      </p:grpSp>
      <p:sp>
        <p:nvSpPr>
          <p:cNvPr id="11" name="TextBox 11"/>
          <p:cNvSpPr txBox="1"/>
          <p:nvPr/>
        </p:nvSpPr>
        <p:spPr>
          <a:xfrm>
            <a:off x="417957" y="3169658"/>
            <a:ext cx="16841343" cy="6370398"/>
          </a:xfrm>
          <a:prstGeom prst="rect">
            <a:avLst/>
          </a:prstGeom>
        </p:spPr>
        <p:txBody>
          <a:bodyPr lIns="0" tIns="0" rIns="0" bIns="0" rtlCol="0" anchor="t">
            <a:spAutoFit/>
          </a:bodyPr>
          <a:lstStyle/>
          <a:p>
            <a:pPr algn="l">
              <a:lnSpc>
                <a:spcPts val="5020"/>
              </a:lnSpc>
            </a:pPr>
            <a:r>
              <a:rPr lang="en-US" sz="3586" b="1" dirty="0">
                <a:solidFill>
                  <a:srgbClr val="000000"/>
                </a:solidFill>
                <a:latin typeface="Canva Sans Bold"/>
                <a:ea typeface="Canva Sans Bold"/>
                <a:cs typeface="Canva Sans Bold"/>
                <a:sym typeface="Canva Sans Bold"/>
              </a:rPr>
              <a:t>Problem:</a:t>
            </a:r>
          </a:p>
          <a:p>
            <a:pPr algn="l">
              <a:lnSpc>
                <a:spcPts val="5020"/>
              </a:lnSpc>
            </a:pPr>
            <a:r>
              <a:rPr lang="en-US" sz="3586">
                <a:solidFill>
                  <a:srgbClr val="000000"/>
                </a:solidFill>
                <a:latin typeface="Canva Sans"/>
                <a:ea typeface="Canva Sans"/>
                <a:cs typeface="Canva Sans"/>
                <a:sym typeface="Canva Sans"/>
              </a:rPr>
              <a:t>         Increasing </a:t>
            </a:r>
            <a:r>
              <a:rPr lang="en-US" sz="3586" dirty="0">
                <a:solidFill>
                  <a:srgbClr val="000000"/>
                </a:solidFill>
                <a:latin typeface="Canva Sans"/>
                <a:ea typeface="Canva Sans"/>
                <a:cs typeface="Canva Sans"/>
                <a:sym typeface="Canva Sans"/>
              </a:rPr>
              <a:t>email spam attacks worldwide.</a:t>
            </a:r>
          </a:p>
          <a:p>
            <a:pPr algn="l">
              <a:lnSpc>
                <a:spcPts val="5020"/>
              </a:lnSpc>
            </a:pPr>
            <a:r>
              <a:rPr lang="en-US" sz="3586" dirty="0">
                <a:solidFill>
                  <a:srgbClr val="000000"/>
                </a:solidFill>
                <a:latin typeface="Canva Sans"/>
                <a:ea typeface="Canva Sans"/>
                <a:cs typeface="Canva Sans"/>
                <a:sym typeface="Canva Sans"/>
              </a:rPr>
              <a:t>         Limited research on multilingual and emotion-based spam detection.</a:t>
            </a:r>
          </a:p>
          <a:p>
            <a:pPr algn="l">
              <a:lnSpc>
                <a:spcPts val="5020"/>
              </a:lnSpc>
            </a:pPr>
            <a:endParaRPr lang="en-US" sz="3586" dirty="0">
              <a:solidFill>
                <a:srgbClr val="000000"/>
              </a:solidFill>
              <a:latin typeface="Canva Sans"/>
              <a:ea typeface="Canva Sans"/>
              <a:cs typeface="Canva Sans"/>
              <a:sym typeface="Canva Sans"/>
            </a:endParaRPr>
          </a:p>
          <a:p>
            <a:pPr algn="l">
              <a:lnSpc>
                <a:spcPts val="5020"/>
              </a:lnSpc>
            </a:pPr>
            <a:r>
              <a:rPr lang="en-US" sz="3586" b="1" dirty="0">
                <a:solidFill>
                  <a:srgbClr val="000000"/>
                </a:solidFill>
                <a:latin typeface="Canva Sans Bold"/>
                <a:ea typeface="Canva Sans Bold"/>
                <a:cs typeface="Canva Sans Bold"/>
                <a:sym typeface="Canva Sans Bold"/>
              </a:rPr>
              <a:t>Objective:</a:t>
            </a:r>
          </a:p>
          <a:p>
            <a:pPr algn="l">
              <a:lnSpc>
                <a:spcPts val="5020"/>
              </a:lnSpc>
            </a:pPr>
            <a:r>
              <a:rPr lang="en-US" sz="3586" dirty="0">
                <a:solidFill>
                  <a:srgbClr val="000000"/>
                </a:solidFill>
                <a:latin typeface="Canva Sans"/>
                <a:ea typeface="Canva Sans"/>
                <a:cs typeface="Canva Sans"/>
                <a:sym typeface="Canva Sans"/>
              </a:rPr>
              <a:t>         Develop a robust email spam detector using ML algorithms.</a:t>
            </a:r>
          </a:p>
          <a:p>
            <a:pPr algn="l">
              <a:lnSpc>
                <a:spcPts val="5020"/>
              </a:lnSpc>
            </a:pPr>
            <a:r>
              <a:rPr lang="en-US" sz="3586" dirty="0">
                <a:solidFill>
                  <a:srgbClr val="000000"/>
                </a:solidFill>
                <a:latin typeface="Canva Sans"/>
                <a:ea typeface="Canva Sans"/>
                <a:cs typeface="Canva Sans"/>
                <a:sym typeface="Canva Sans"/>
              </a:rPr>
              <a:t>         Improve accuracy with preprocessing and feature extraction techniques.</a:t>
            </a:r>
          </a:p>
          <a:p>
            <a:pPr algn="l">
              <a:lnSpc>
                <a:spcPts val="5020"/>
              </a:lnSpc>
            </a:pPr>
            <a:endParaRPr lang="en-US" sz="3586" dirty="0">
              <a:solidFill>
                <a:srgbClr val="000000"/>
              </a:solidFill>
              <a:latin typeface="Canva Sans"/>
              <a:ea typeface="Canva Sans"/>
              <a:cs typeface="Canva Sans"/>
              <a:sym typeface="Canva Sans"/>
            </a:endParaRPr>
          </a:p>
          <a:p>
            <a:pPr algn="l">
              <a:lnSpc>
                <a:spcPts val="5020"/>
              </a:lnSpc>
            </a:pPr>
            <a:endParaRPr lang="en-US" sz="3586" dirty="0">
              <a:solidFill>
                <a:srgbClr val="000000"/>
              </a:solidFill>
              <a:latin typeface="Canva Sans"/>
              <a:ea typeface="Canva Sans"/>
              <a:cs typeface="Canva Sans"/>
              <a:sym typeface="Canva Sans"/>
            </a:endParaRPr>
          </a:p>
        </p:txBody>
      </p:sp>
      <p:sp>
        <p:nvSpPr>
          <p:cNvPr id="12" name="Freeform 12"/>
          <p:cNvSpPr/>
          <p:nvPr/>
        </p:nvSpPr>
        <p:spPr>
          <a:xfrm>
            <a:off x="799542" y="3817413"/>
            <a:ext cx="529726" cy="475768"/>
          </a:xfrm>
          <a:custGeom>
            <a:avLst/>
            <a:gdLst/>
            <a:ahLst/>
            <a:cxnLst/>
            <a:rect l="l" t="t" r="r" b="b"/>
            <a:pathLst>
              <a:path w="529726" h="475768">
                <a:moveTo>
                  <a:pt x="0" y="0"/>
                </a:moveTo>
                <a:lnTo>
                  <a:pt x="529726" y="0"/>
                </a:lnTo>
                <a:lnTo>
                  <a:pt x="529726" y="475768"/>
                </a:lnTo>
                <a:lnTo>
                  <a:pt x="0" y="4757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3" name="Freeform 13"/>
          <p:cNvSpPr/>
          <p:nvPr/>
        </p:nvSpPr>
        <p:spPr>
          <a:xfrm>
            <a:off x="799542" y="4559899"/>
            <a:ext cx="529726" cy="475768"/>
          </a:xfrm>
          <a:custGeom>
            <a:avLst/>
            <a:gdLst/>
            <a:ahLst/>
            <a:cxnLst/>
            <a:rect l="l" t="t" r="r" b="b"/>
            <a:pathLst>
              <a:path w="529726" h="475768">
                <a:moveTo>
                  <a:pt x="0" y="0"/>
                </a:moveTo>
                <a:lnTo>
                  <a:pt x="529726" y="0"/>
                </a:lnTo>
                <a:lnTo>
                  <a:pt x="529726" y="475768"/>
                </a:lnTo>
                <a:lnTo>
                  <a:pt x="0" y="4757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4" name="Freeform 14"/>
          <p:cNvSpPr/>
          <p:nvPr/>
        </p:nvSpPr>
        <p:spPr>
          <a:xfrm>
            <a:off x="763837" y="6359642"/>
            <a:ext cx="529726" cy="475768"/>
          </a:xfrm>
          <a:custGeom>
            <a:avLst/>
            <a:gdLst/>
            <a:ahLst/>
            <a:cxnLst/>
            <a:rect l="l" t="t" r="r" b="b"/>
            <a:pathLst>
              <a:path w="529726" h="475768">
                <a:moveTo>
                  <a:pt x="0" y="0"/>
                </a:moveTo>
                <a:lnTo>
                  <a:pt x="529726" y="0"/>
                </a:lnTo>
                <a:lnTo>
                  <a:pt x="529726" y="475769"/>
                </a:lnTo>
                <a:lnTo>
                  <a:pt x="0" y="475769"/>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5" name="Freeform 15"/>
          <p:cNvSpPr/>
          <p:nvPr/>
        </p:nvSpPr>
        <p:spPr>
          <a:xfrm>
            <a:off x="763837" y="7102111"/>
            <a:ext cx="529726" cy="475768"/>
          </a:xfrm>
          <a:custGeom>
            <a:avLst/>
            <a:gdLst/>
            <a:ahLst/>
            <a:cxnLst/>
            <a:rect l="l" t="t" r="r" b="b"/>
            <a:pathLst>
              <a:path w="529726" h="475768">
                <a:moveTo>
                  <a:pt x="0" y="0"/>
                </a:moveTo>
                <a:lnTo>
                  <a:pt x="529726" y="0"/>
                </a:lnTo>
                <a:lnTo>
                  <a:pt x="529726" y="475768"/>
                </a:lnTo>
                <a:lnTo>
                  <a:pt x="0" y="47576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Freeform 16"/>
          <p:cNvSpPr/>
          <p:nvPr/>
        </p:nvSpPr>
        <p:spPr>
          <a:xfrm>
            <a:off x="1835676" y="834085"/>
            <a:ext cx="1091153" cy="1073298"/>
          </a:xfrm>
          <a:custGeom>
            <a:avLst/>
            <a:gdLst/>
            <a:ahLst/>
            <a:cxnLst/>
            <a:rect l="l" t="t" r="r" b="b"/>
            <a:pathLst>
              <a:path w="1091153" h="1073298">
                <a:moveTo>
                  <a:pt x="0" y="0"/>
                </a:moveTo>
                <a:lnTo>
                  <a:pt x="1091152" y="0"/>
                </a:lnTo>
                <a:lnTo>
                  <a:pt x="1091152" y="1073297"/>
                </a:lnTo>
                <a:lnTo>
                  <a:pt x="0" y="107329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a:p>
        </p:txBody>
      </p:sp>
      <p:sp>
        <p:nvSpPr>
          <p:cNvPr id="17" name="TextBox 17"/>
          <p:cNvSpPr txBox="1"/>
          <p:nvPr/>
        </p:nvSpPr>
        <p:spPr>
          <a:xfrm>
            <a:off x="2667001" y="829165"/>
            <a:ext cx="13120610" cy="1078218"/>
          </a:xfrm>
          <a:prstGeom prst="rect">
            <a:avLst/>
          </a:prstGeom>
        </p:spPr>
        <p:txBody>
          <a:bodyPr wrap="square" lIns="0" tIns="0" rIns="0" bIns="0" rtlCol="0" anchor="t">
            <a:spAutoFit/>
          </a:bodyPr>
          <a:lstStyle/>
          <a:p>
            <a:pPr algn="ctr">
              <a:lnSpc>
                <a:spcPts val="8820"/>
              </a:lnSpc>
            </a:pPr>
            <a:r>
              <a:rPr lang="en-US" sz="6300" b="1" dirty="0">
                <a:solidFill>
                  <a:srgbClr val="8F847B"/>
                </a:solidFill>
                <a:latin typeface="Canva Sans Bold"/>
                <a:ea typeface="Canva Sans Bold"/>
                <a:cs typeface="Canva Sans Bold"/>
                <a:sym typeface="Canva Sans Bold"/>
              </a:rPr>
              <a:t>Problem Statement &amp; Objective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7D6C8"/>
        </a:solidFill>
        <a:effectLst/>
      </p:bgPr>
    </p:bg>
    <p:spTree>
      <p:nvGrpSpPr>
        <p:cNvPr id="1" name=""/>
        <p:cNvGrpSpPr/>
        <p:nvPr/>
      </p:nvGrpSpPr>
      <p:grpSpPr>
        <a:xfrm>
          <a:off x="0" y="0"/>
          <a:ext cx="0" cy="0"/>
          <a:chOff x="0" y="0"/>
          <a:chExt cx="0" cy="0"/>
        </a:xfrm>
      </p:grpSpPr>
      <p:grpSp>
        <p:nvGrpSpPr>
          <p:cNvPr id="2" name="Group 2"/>
          <p:cNvGrpSpPr/>
          <p:nvPr/>
        </p:nvGrpSpPr>
        <p:grpSpPr>
          <a:xfrm>
            <a:off x="401447" y="385288"/>
            <a:ext cx="17466056" cy="9516424"/>
            <a:chOff x="0" y="0"/>
            <a:chExt cx="86189481" cy="46960552"/>
          </a:xfrm>
        </p:grpSpPr>
        <p:sp>
          <p:nvSpPr>
            <p:cNvPr id="3" name="Freeform 3"/>
            <p:cNvSpPr/>
            <p:nvPr/>
          </p:nvSpPr>
          <p:spPr>
            <a:xfrm>
              <a:off x="72390" y="72390"/>
              <a:ext cx="86044704" cy="46815771"/>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F5F4F2"/>
            </a:solidFill>
          </p:spPr>
          <p:txBody>
            <a:bodyPr/>
            <a:lstStyle/>
            <a:p>
              <a:endParaRPr lang="en-IN"/>
            </a:p>
          </p:txBody>
        </p:sp>
        <p:sp>
          <p:nvSpPr>
            <p:cNvPr id="4" name="Freeform 4"/>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F4F4F4"/>
            </a:solidFill>
          </p:spPr>
          <p:txBody>
            <a:bodyPr/>
            <a:lstStyle/>
            <a:p>
              <a:endParaRPr lang="en-IN"/>
            </a:p>
          </p:txBody>
        </p:sp>
      </p:grpSp>
      <p:grpSp>
        <p:nvGrpSpPr>
          <p:cNvPr id="5" name="Group 5"/>
          <p:cNvGrpSpPr/>
          <p:nvPr/>
        </p:nvGrpSpPr>
        <p:grpSpPr>
          <a:xfrm>
            <a:off x="410972" y="385288"/>
            <a:ext cx="17466056" cy="2104315"/>
            <a:chOff x="0" y="0"/>
            <a:chExt cx="86189481" cy="10384130"/>
          </a:xfrm>
        </p:grpSpPr>
        <p:sp>
          <p:nvSpPr>
            <p:cNvPr id="6" name="Freeform 6"/>
            <p:cNvSpPr/>
            <p:nvPr/>
          </p:nvSpPr>
          <p:spPr>
            <a:xfrm>
              <a:off x="72390" y="72390"/>
              <a:ext cx="86044704" cy="10239350"/>
            </a:xfrm>
            <a:custGeom>
              <a:avLst/>
              <a:gdLst/>
              <a:ahLst/>
              <a:cxnLst/>
              <a:rect l="l" t="t" r="r" b="b"/>
              <a:pathLst>
                <a:path w="86044704" h="10239350">
                  <a:moveTo>
                    <a:pt x="0" y="0"/>
                  </a:moveTo>
                  <a:lnTo>
                    <a:pt x="86044704" y="0"/>
                  </a:lnTo>
                  <a:lnTo>
                    <a:pt x="86044704" y="10239350"/>
                  </a:lnTo>
                  <a:lnTo>
                    <a:pt x="0" y="10239350"/>
                  </a:lnTo>
                  <a:lnTo>
                    <a:pt x="0" y="0"/>
                  </a:lnTo>
                  <a:close/>
                </a:path>
              </a:pathLst>
            </a:custGeom>
            <a:solidFill>
              <a:srgbClr val="BBADA2"/>
            </a:solidFill>
          </p:spPr>
          <p:txBody>
            <a:bodyPr/>
            <a:lstStyle/>
            <a:p>
              <a:endParaRPr lang="en-IN"/>
            </a:p>
          </p:txBody>
        </p:sp>
        <p:sp>
          <p:nvSpPr>
            <p:cNvPr id="7" name="Freeform 7"/>
            <p:cNvSpPr/>
            <p:nvPr/>
          </p:nvSpPr>
          <p:spPr>
            <a:xfrm>
              <a:off x="0" y="0"/>
              <a:ext cx="86189480" cy="10384130"/>
            </a:xfrm>
            <a:custGeom>
              <a:avLst/>
              <a:gdLst/>
              <a:ahLst/>
              <a:cxnLst/>
              <a:rect l="l" t="t" r="r" b="b"/>
              <a:pathLst>
                <a:path w="86189480" h="10384130">
                  <a:moveTo>
                    <a:pt x="86044701" y="10239350"/>
                  </a:moveTo>
                  <a:lnTo>
                    <a:pt x="86189480" y="10239350"/>
                  </a:lnTo>
                  <a:lnTo>
                    <a:pt x="86189480" y="10384130"/>
                  </a:lnTo>
                  <a:lnTo>
                    <a:pt x="86044701" y="10384130"/>
                  </a:lnTo>
                  <a:lnTo>
                    <a:pt x="86044701" y="10239350"/>
                  </a:lnTo>
                  <a:close/>
                  <a:moveTo>
                    <a:pt x="0" y="144780"/>
                  </a:moveTo>
                  <a:lnTo>
                    <a:pt x="144780" y="144780"/>
                  </a:lnTo>
                  <a:lnTo>
                    <a:pt x="144780" y="10239350"/>
                  </a:lnTo>
                  <a:lnTo>
                    <a:pt x="0" y="10239350"/>
                  </a:lnTo>
                  <a:lnTo>
                    <a:pt x="0" y="144780"/>
                  </a:lnTo>
                  <a:close/>
                  <a:moveTo>
                    <a:pt x="0" y="10239350"/>
                  </a:moveTo>
                  <a:lnTo>
                    <a:pt x="144780" y="10239350"/>
                  </a:lnTo>
                  <a:lnTo>
                    <a:pt x="144780" y="10384130"/>
                  </a:lnTo>
                  <a:lnTo>
                    <a:pt x="0" y="10384130"/>
                  </a:lnTo>
                  <a:lnTo>
                    <a:pt x="0" y="10239350"/>
                  </a:lnTo>
                  <a:close/>
                  <a:moveTo>
                    <a:pt x="86044701" y="144780"/>
                  </a:moveTo>
                  <a:lnTo>
                    <a:pt x="86189480" y="144780"/>
                  </a:lnTo>
                  <a:lnTo>
                    <a:pt x="86189480" y="10239350"/>
                  </a:lnTo>
                  <a:lnTo>
                    <a:pt x="86044701" y="10239350"/>
                  </a:lnTo>
                  <a:lnTo>
                    <a:pt x="86044701" y="144780"/>
                  </a:lnTo>
                  <a:close/>
                  <a:moveTo>
                    <a:pt x="144780" y="10239350"/>
                  </a:moveTo>
                  <a:lnTo>
                    <a:pt x="86044701" y="10239350"/>
                  </a:lnTo>
                  <a:lnTo>
                    <a:pt x="86044701" y="10384130"/>
                  </a:lnTo>
                  <a:lnTo>
                    <a:pt x="144780" y="10384130"/>
                  </a:lnTo>
                  <a:lnTo>
                    <a:pt x="144780" y="10239350"/>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BBADA2"/>
            </a:solidFill>
          </p:spPr>
          <p:txBody>
            <a:bodyPr/>
            <a:lstStyle/>
            <a:p>
              <a:endParaRPr lang="en-IN"/>
            </a:p>
          </p:txBody>
        </p:sp>
      </p:grpSp>
      <p:grpSp>
        <p:nvGrpSpPr>
          <p:cNvPr id="8" name="Group 8"/>
          <p:cNvGrpSpPr/>
          <p:nvPr/>
        </p:nvGrpSpPr>
        <p:grpSpPr>
          <a:xfrm>
            <a:off x="1028700" y="763294"/>
            <a:ext cx="16230600" cy="1348304"/>
            <a:chOff x="0" y="0"/>
            <a:chExt cx="4653345" cy="386561"/>
          </a:xfrm>
        </p:grpSpPr>
        <p:sp>
          <p:nvSpPr>
            <p:cNvPr id="9" name="Freeform 9"/>
            <p:cNvSpPr/>
            <p:nvPr/>
          </p:nvSpPr>
          <p:spPr>
            <a:xfrm>
              <a:off x="0" y="0"/>
              <a:ext cx="4653345" cy="386561"/>
            </a:xfrm>
            <a:custGeom>
              <a:avLst/>
              <a:gdLst/>
              <a:ahLst/>
              <a:cxnLst/>
              <a:rect l="l" t="t" r="r" b="b"/>
              <a:pathLst>
                <a:path w="4653345" h="386561">
                  <a:moveTo>
                    <a:pt x="47700" y="0"/>
                  </a:moveTo>
                  <a:lnTo>
                    <a:pt x="4605645" y="0"/>
                  </a:lnTo>
                  <a:cubicBezTo>
                    <a:pt x="4618296" y="0"/>
                    <a:pt x="4630428" y="5025"/>
                    <a:pt x="4639374" y="13971"/>
                  </a:cubicBezTo>
                  <a:cubicBezTo>
                    <a:pt x="4648319" y="22916"/>
                    <a:pt x="4653345" y="35049"/>
                    <a:pt x="4653345" y="47700"/>
                  </a:cubicBezTo>
                  <a:lnTo>
                    <a:pt x="4653345" y="338862"/>
                  </a:lnTo>
                  <a:cubicBezTo>
                    <a:pt x="4653345" y="351512"/>
                    <a:pt x="4648319" y="363645"/>
                    <a:pt x="4639374" y="372590"/>
                  </a:cubicBezTo>
                  <a:cubicBezTo>
                    <a:pt x="4630428" y="381536"/>
                    <a:pt x="4618296" y="386561"/>
                    <a:pt x="4605645" y="386561"/>
                  </a:cubicBezTo>
                  <a:lnTo>
                    <a:pt x="47700" y="386561"/>
                  </a:lnTo>
                  <a:cubicBezTo>
                    <a:pt x="35049" y="386561"/>
                    <a:pt x="22916" y="381536"/>
                    <a:pt x="13971" y="372590"/>
                  </a:cubicBezTo>
                  <a:cubicBezTo>
                    <a:pt x="5025" y="363645"/>
                    <a:pt x="0" y="351512"/>
                    <a:pt x="0" y="338862"/>
                  </a:cubicBezTo>
                  <a:lnTo>
                    <a:pt x="0" y="47700"/>
                  </a:lnTo>
                  <a:cubicBezTo>
                    <a:pt x="0" y="35049"/>
                    <a:pt x="5025" y="22916"/>
                    <a:pt x="13971" y="13971"/>
                  </a:cubicBezTo>
                  <a:cubicBezTo>
                    <a:pt x="22916" y="5025"/>
                    <a:pt x="35049" y="0"/>
                    <a:pt x="47700" y="0"/>
                  </a:cubicBezTo>
                  <a:close/>
                </a:path>
              </a:pathLst>
            </a:custGeom>
            <a:solidFill>
              <a:srgbClr val="F4F4F4"/>
            </a:solidFill>
            <a:ln w="23812" cap="rnd">
              <a:solidFill>
                <a:srgbClr val="F5F4F2"/>
              </a:solidFill>
              <a:prstDash val="solid"/>
              <a:round/>
            </a:ln>
          </p:spPr>
          <p:txBody>
            <a:bodyPr/>
            <a:lstStyle/>
            <a:p>
              <a:endParaRPr lang="en-IN"/>
            </a:p>
          </p:txBody>
        </p:sp>
        <p:sp>
          <p:nvSpPr>
            <p:cNvPr id="10" name="TextBox 10"/>
            <p:cNvSpPr txBox="1"/>
            <p:nvPr/>
          </p:nvSpPr>
          <p:spPr>
            <a:xfrm>
              <a:off x="0" y="-28575"/>
              <a:ext cx="4653345" cy="415136"/>
            </a:xfrm>
            <a:prstGeom prst="rect">
              <a:avLst/>
            </a:prstGeom>
          </p:spPr>
          <p:txBody>
            <a:bodyPr lIns="63000" tIns="63000" rIns="63000" bIns="63000" rtlCol="0" anchor="ctr"/>
            <a:lstStyle/>
            <a:p>
              <a:pPr algn="ctr">
                <a:lnSpc>
                  <a:spcPts val="2430"/>
                </a:lnSpc>
                <a:spcBef>
                  <a:spcPct val="0"/>
                </a:spcBef>
              </a:pPr>
              <a:endParaRPr/>
            </a:p>
          </p:txBody>
        </p:sp>
      </p:grpSp>
      <p:sp>
        <p:nvSpPr>
          <p:cNvPr id="12" name="Freeform 12"/>
          <p:cNvSpPr/>
          <p:nvPr/>
        </p:nvSpPr>
        <p:spPr>
          <a:xfrm>
            <a:off x="1562341" y="949559"/>
            <a:ext cx="1386758" cy="975774"/>
          </a:xfrm>
          <a:custGeom>
            <a:avLst/>
            <a:gdLst/>
            <a:ahLst/>
            <a:cxnLst/>
            <a:rect l="l" t="t" r="r" b="b"/>
            <a:pathLst>
              <a:path w="1386758" h="975774">
                <a:moveTo>
                  <a:pt x="0" y="0"/>
                </a:moveTo>
                <a:lnTo>
                  <a:pt x="1386758" y="0"/>
                </a:lnTo>
                <a:lnTo>
                  <a:pt x="1386758" y="975773"/>
                </a:lnTo>
                <a:lnTo>
                  <a:pt x="0" y="9757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3" name="TextBox 13"/>
          <p:cNvSpPr txBox="1"/>
          <p:nvPr/>
        </p:nvSpPr>
        <p:spPr>
          <a:xfrm>
            <a:off x="2949099" y="988788"/>
            <a:ext cx="13309841" cy="1659255"/>
          </a:xfrm>
          <a:prstGeom prst="rect">
            <a:avLst/>
          </a:prstGeom>
        </p:spPr>
        <p:txBody>
          <a:bodyPr lIns="0" tIns="0" rIns="0" bIns="0" rtlCol="0" anchor="t">
            <a:spAutoFit/>
          </a:bodyPr>
          <a:lstStyle/>
          <a:p>
            <a:pPr algn="ctr">
              <a:lnSpc>
                <a:spcPts val="6719"/>
              </a:lnSpc>
            </a:pPr>
            <a:r>
              <a:rPr lang="en-US" sz="4800" b="1">
                <a:solidFill>
                  <a:srgbClr val="2B2B2B"/>
                </a:solidFill>
                <a:latin typeface="Quicksand Bold"/>
                <a:ea typeface="Quicksand Bold"/>
                <a:cs typeface="Quicksand Bold"/>
                <a:sym typeface="Quicksand Bold"/>
              </a:rPr>
              <a:t>LITERATURE SURVEY</a:t>
            </a:r>
          </a:p>
          <a:p>
            <a:pPr algn="ctr">
              <a:lnSpc>
                <a:spcPts val="6719"/>
              </a:lnSpc>
            </a:pPr>
            <a:endParaRPr lang="en-US" sz="4800" b="1">
              <a:solidFill>
                <a:srgbClr val="2B2B2B"/>
              </a:solidFill>
              <a:latin typeface="Quicksand Bold"/>
              <a:ea typeface="Quicksand Bold"/>
              <a:cs typeface="Quicksand Bold"/>
              <a:sym typeface="Quicksand Bold"/>
            </a:endParaRPr>
          </a:p>
        </p:txBody>
      </p:sp>
      <p:sp>
        <p:nvSpPr>
          <p:cNvPr id="14" name="Freeform 14"/>
          <p:cNvSpPr/>
          <p:nvPr/>
        </p:nvSpPr>
        <p:spPr>
          <a:xfrm>
            <a:off x="15195273" y="1028700"/>
            <a:ext cx="1386758" cy="975774"/>
          </a:xfrm>
          <a:custGeom>
            <a:avLst/>
            <a:gdLst/>
            <a:ahLst/>
            <a:cxnLst/>
            <a:rect l="l" t="t" r="r" b="b"/>
            <a:pathLst>
              <a:path w="1386758" h="975774">
                <a:moveTo>
                  <a:pt x="0" y="0"/>
                </a:moveTo>
                <a:lnTo>
                  <a:pt x="1386758" y="0"/>
                </a:lnTo>
                <a:lnTo>
                  <a:pt x="1386758" y="975774"/>
                </a:lnTo>
                <a:lnTo>
                  <a:pt x="0" y="97577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graphicFrame>
        <p:nvGraphicFramePr>
          <p:cNvPr id="15" name="Table 14">
            <a:extLst>
              <a:ext uri="{FF2B5EF4-FFF2-40B4-BE49-F238E27FC236}">
                <a16:creationId xmlns:a16="http://schemas.microsoft.com/office/drawing/2014/main" id="{3BB40501-FF7D-A7EC-B275-F80A9277F690}"/>
              </a:ext>
            </a:extLst>
          </p:cNvPr>
          <p:cNvGraphicFramePr>
            <a:graphicFrameLocks noGrp="1"/>
          </p:cNvGraphicFramePr>
          <p:nvPr>
            <p:extLst>
              <p:ext uri="{D42A27DB-BD31-4B8C-83A1-F6EECF244321}">
                <p14:modId xmlns:p14="http://schemas.microsoft.com/office/powerpoint/2010/main" val="3963756948"/>
              </p:ext>
            </p:extLst>
          </p:nvPr>
        </p:nvGraphicFramePr>
        <p:xfrm>
          <a:off x="685800" y="2753271"/>
          <a:ext cx="16992599" cy="6901669"/>
        </p:xfrm>
        <a:graphic>
          <a:graphicData uri="http://schemas.openxmlformats.org/drawingml/2006/table">
            <a:tbl>
              <a:tblPr firstRow="1" bandRow="1">
                <a:tableStyleId>{8EC20E35-A176-4012-BC5E-935CFFF8708E}</a:tableStyleId>
              </a:tblPr>
              <a:tblGrid>
                <a:gridCol w="2987709">
                  <a:extLst>
                    <a:ext uri="{9D8B030D-6E8A-4147-A177-3AD203B41FA5}">
                      <a16:colId xmlns:a16="http://schemas.microsoft.com/office/drawing/2014/main" val="1656681325"/>
                    </a:ext>
                  </a:extLst>
                </a:gridCol>
                <a:gridCol w="2800978">
                  <a:extLst>
                    <a:ext uri="{9D8B030D-6E8A-4147-A177-3AD203B41FA5}">
                      <a16:colId xmlns:a16="http://schemas.microsoft.com/office/drawing/2014/main" val="3883136562"/>
                    </a:ext>
                  </a:extLst>
                </a:gridCol>
                <a:gridCol w="2800978">
                  <a:extLst>
                    <a:ext uri="{9D8B030D-6E8A-4147-A177-3AD203B41FA5}">
                      <a16:colId xmlns:a16="http://schemas.microsoft.com/office/drawing/2014/main" val="2391021052"/>
                    </a:ext>
                  </a:extLst>
                </a:gridCol>
                <a:gridCol w="2800978">
                  <a:extLst>
                    <a:ext uri="{9D8B030D-6E8A-4147-A177-3AD203B41FA5}">
                      <a16:colId xmlns:a16="http://schemas.microsoft.com/office/drawing/2014/main" val="1199633610"/>
                    </a:ext>
                  </a:extLst>
                </a:gridCol>
                <a:gridCol w="2800978">
                  <a:extLst>
                    <a:ext uri="{9D8B030D-6E8A-4147-A177-3AD203B41FA5}">
                      <a16:colId xmlns:a16="http://schemas.microsoft.com/office/drawing/2014/main" val="643337799"/>
                    </a:ext>
                  </a:extLst>
                </a:gridCol>
                <a:gridCol w="2800978">
                  <a:extLst>
                    <a:ext uri="{9D8B030D-6E8A-4147-A177-3AD203B41FA5}">
                      <a16:colId xmlns:a16="http://schemas.microsoft.com/office/drawing/2014/main" val="1851948372"/>
                    </a:ext>
                  </a:extLst>
                </a:gridCol>
              </a:tblGrid>
              <a:tr h="652100">
                <a:tc>
                  <a:txBody>
                    <a:bodyPr/>
                    <a:lstStyle/>
                    <a:p>
                      <a:r>
                        <a:rPr sz="2500" dirty="0"/>
                        <a:t>Year</a:t>
                      </a:r>
                    </a:p>
                  </a:txBody>
                  <a:tcPr/>
                </a:tc>
                <a:tc>
                  <a:txBody>
                    <a:bodyPr/>
                    <a:lstStyle/>
                    <a:p>
                      <a:r>
                        <a:rPr sz="2500"/>
                        <a:t>Title</a:t>
                      </a:r>
                    </a:p>
                  </a:txBody>
                  <a:tcPr/>
                </a:tc>
                <a:tc>
                  <a:txBody>
                    <a:bodyPr/>
                    <a:lstStyle/>
                    <a:p>
                      <a:r>
                        <a:rPr sz="2500"/>
                        <a:t>Techniques</a:t>
                      </a:r>
                    </a:p>
                  </a:txBody>
                  <a:tcPr/>
                </a:tc>
                <a:tc>
                  <a:txBody>
                    <a:bodyPr/>
                    <a:lstStyle/>
                    <a:p>
                      <a:r>
                        <a:rPr sz="2500"/>
                        <a:t>Accuracy</a:t>
                      </a:r>
                    </a:p>
                  </a:txBody>
                  <a:tcPr/>
                </a:tc>
                <a:tc>
                  <a:txBody>
                    <a:bodyPr/>
                    <a:lstStyle/>
                    <a:p>
                      <a:r>
                        <a:rPr sz="2500"/>
                        <a:t>Dataset</a:t>
                      </a:r>
                    </a:p>
                  </a:txBody>
                  <a:tcPr/>
                </a:tc>
                <a:tc>
                  <a:txBody>
                    <a:bodyPr/>
                    <a:lstStyle/>
                    <a:p>
                      <a:r>
                        <a:rPr sz="2500"/>
                        <a:t>Limitations</a:t>
                      </a:r>
                    </a:p>
                  </a:txBody>
                  <a:tcPr/>
                </a:tc>
                <a:extLst>
                  <a:ext uri="{0D108BD9-81ED-4DB2-BD59-A6C34878D82A}">
                    <a16:rowId xmlns:a16="http://schemas.microsoft.com/office/drawing/2014/main" val="1104031609"/>
                  </a:ext>
                </a:extLst>
              </a:tr>
              <a:tr h="821873">
                <a:tc>
                  <a:txBody>
                    <a:bodyPr/>
                    <a:lstStyle/>
                    <a:p>
                      <a:r>
                        <a:rPr sz="2500" dirty="0"/>
                        <a:t>2023</a:t>
                      </a:r>
                    </a:p>
                  </a:txBody>
                  <a:tcPr/>
                </a:tc>
                <a:tc>
                  <a:txBody>
                    <a:bodyPr/>
                    <a:lstStyle/>
                    <a:p>
                      <a:r>
                        <a:rPr sz="2500" dirty="0"/>
                        <a:t>Arabic Email Spam Detection</a:t>
                      </a:r>
                    </a:p>
                  </a:txBody>
                  <a:tcPr/>
                </a:tc>
                <a:tc>
                  <a:txBody>
                    <a:bodyPr/>
                    <a:lstStyle/>
                    <a:p>
                      <a:r>
                        <a:rPr sz="2500" dirty="0"/>
                        <a:t>SVM, TF-IDF</a:t>
                      </a:r>
                    </a:p>
                  </a:txBody>
                  <a:tcPr/>
                </a:tc>
                <a:tc>
                  <a:txBody>
                    <a:bodyPr/>
                    <a:lstStyle/>
                    <a:p>
                      <a:r>
                        <a:rPr sz="2500" dirty="0"/>
                        <a:t>98-99%</a:t>
                      </a:r>
                    </a:p>
                  </a:txBody>
                  <a:tcPr/>
                </a:tc>
                <a:tc>
                  <a:txBody>
                    <a:bodyPr/>
                    <a:lstStyle/>
                    <a:p>
                      <a:r>
                        <a:rPr sz="2500"/>
                        <a:t>Kaggle Arabic Emails</a:t>
                      </a:r>
                    </a:p>
                  </a:txBody>
                  <a:tcPr/>
                </a:tc>
                <a:tc>
                  <a:txBody>
                    <a:bodyPr/>
                    <a:lstStyle/>
                    <a:p>
                      <a:r>
                        <a:rPr sz="2500"/>
                        <a:t>Language-specific</a:t>
                      </a:r>
                    </a:p>
                  </a:txBody>
                  <a:tcPr/>
                </a:tc>
                <a:extLst>
                  <a:ext uri="{0D108BD9-81ED-4DB2-BD59-A6C34878D82A}">
                    <a16:rowId xmlns:a16="http://schemas.microsoft.com/office/drawing/2014/main" val="395234302"/>
                  </a:ext>
                </a:extLst>
              </a:tr>
              <a:tr h="1304200">
                <a:tc>
                  <a:txBody>
                    <a:bodyPr/>
                    <a:lstStyle/>
                    <a:p>
                      <a:r>
                        <a:rPr sz="2500"/>
                        <a:t>2022</a:t>
                      </a:r>
                    </a:p>
                  </a:txBody>
                  <a:tcPr/>
                </a:tc>
                <a:tc>
                  <a:txBody>
                    <a:bodyPr/>
                    <a:lstStyle/>
                    <a:p>
                      <a:r>
                        <a:rPr sz="2500" dirty="0"/>
                        <a:t>Intelligent Spam Detection</a:t>
                      </a:r>
                    </a:p>
                  </a:txBody>
                  <a:tcPr/>
                </a:tc>
                <a:tc>
                  <a:txBody>
                    <a:bodyPr/>
                    <a:lstStyle/>
                    <a:p>
                      <a:r>
                        <a:rPr sz="2500" dirty="0"/>
                        <a:t>Random Forest, Naïve Bayes</a:t>
                      </a:r>
                    </a:p>
                  </a:txBody>
                  <a:tcPr/>
                </a:tc>
                <a:tc>
                  <a:txBody>
                    <a:bodyPr/>
                    <a:lstStyle/>
                    <a:p>
                      <a:r>
                        <a:rPr sz="2500" dirty="0"/>
                        <a:t>98.45%</a:t>
                      </a:r>
                    </a:p>
                  </a:txBody>
                  <a:tcPr/>
                </a:tc>
                <a:tc>
                  <a:txBody>
                    <a:bodyPr/>
                    <a:lstStyle/>
                    <a:p>
                      <a:r>
                        <a:rPr sz="2500"/>
                        <a:t>English Spam Dataset</a:t>
                      </a:r>
                    </a:p>
                  </a:txBody>
                  <a:tcPr/>
                </a:tc>
                <a:tc>
                  <a:txBody>
                    <a:bodyPr/>
                    <a:lstStyle/>
                    <a:p>
                      <a:r>
                        <a:rPr sz="2500"/>
                        <a:t>High computational cost</a:t>
                      </a:r>
                    </a:p>
                  </a:txBody>
                  <a:tcPr/>
                </a:tc>
                <a:extLst>
                  <a:ext uri="{0D108BD9-81ED-4DB2-BD59-A6C34878D82A}">
                    <a16:rowId xmlns:a16="http://schemas.microsoft.com/office/drawing/2014/main" val="31282844"/>
                  </a:ext>
                </a:extLst>
              </a:tr>
              <a:tr h="1874789">
                <a:tc>
                  <a:txBody>
                    <a:bodyPr/>
                    <a:lstStyle/>
                    <a:p>
                      <a:r>
                        <a:rPr sz="2500"/>
                        <a:t>2021</a:t>
                      </a:r>
                    </a:p>
                  </a:txBody>
                  <a:tcPr/>
                </a:tc>
                <a:tc>
                  <a:txBody>
                    <a:bodyPr/>
                    <a:lstStyle/>
                    <a:p>
                      <a:r>
                        <a:rPr lang="en-US" sz="2500" dirty="0"/>
                        <a:t>Almeida and José María Gómez Hidalgo at the University </a:t>
                      </a:r>
                      <a:endParaRPr sz="2500" dirty="0"/>
                    </a:p>
                  </a:txBody>
                  <a:tcPr/>
                </a:tc>
                <a:tc>
                  <a:txBody>
                    <a:bodyPr/>
                    <a:lstStyle/>
                    <a:p>
                      <a:r>
                        <a:rPr sz="2500" dirty="0"/>
                        <a:t>LSTM, NLP</a:t>
                      </a:r>
                      <a:r>
                        <a:rPr lang="en-IN" sz="2500" dirty="0"/>
                        <a:t>,</a:t>
                      </a:r>
                      <a:r>
                        <a:rPr kumimoji="0" lang="en-US" altLang="en-US" sz="2500" b="1" u="none" strike="noStrike" cap="none" normalizeH="0" baseline="0" dirty="0">
                          <a:ln>
                            <a:noFill/>
                          </a:ln>
                          <a:solidFill>
                            <a:schemeClr val="tx1"/>
                          </a:solidFill>
                          <a:effectLst/>
                        </a:rPr>
                        <a:t> </a:t>
                      </a:r>
                      <a:r>
                        <a:rPr kumimoji="0" lang="en-US" altLang="en-US" sz="2500" b="0" u="none" strike="noStrike" cap="none" normalizeH="0" baseline="0" dirty="0">
                          <a:ln>
                            <a:noFill/>
                          </a:ln>
                          <a:solidFill>
                            <a:schemeClr val="tx1"/>
                          </a:solidFill>
                          <a:effectLst/>
                        </a:rPr>
                        <a:t>Naive Bayes,</a:t>
                      </a:r>
                      <a:r>
                        <a:rPr kumimoji="0" lang="en-US" altLang="en-US" sz="2500" b="1" u="none" strike="noStrike" cap="none" normalizeH="0" baseline="0" dirty="0">
                          <a:ln>
                            <a:noFill/>
                          </a:ln>
                          <a:solidFill>
                            <a:schemeClr val="tx1"/>
                          </a:solidFill>
                          <a:effectLst/>
                        </a:rPr>
                        <a:t> </a:t>
                      </a:r>
                      <a:r>
                        <a:rPr kumimoji="0" lang="en-US" altLang="en-US" sz="2500" b="0" u="none" strike="noStrike" cap="none" normalizeH="0" baseline="0" dirty="0">
                          <a:ln>
                            <a:noFill/>
                          </a:ln>
                          <a:solidFill>
                            <a:schemeClr val="tx1"/>
                          </a:solidFill>
                          <a:effectLst/>
                        </a:rPr>
                        <a:t>Decision Trees </a:t>
                      </a:r>
                      <a:endParaRPr sz="2500" b="0" dirty="0"/>
                    </a:p>
                  </a:txBody>
                  <a:tcPr/>
                </a:tc>
                <a:tc>
                  <a:txBody>
                    <a:bodyPr/>
                    <a:lstStyle/>
                    <a:p>
                      <a:r>
                        <a:rPr sz="2500" dirty="0"/>
                        <a:t>97%</a:t>
                      </a:r>
                    </a:p>
                  </a:txBody>
                  <a:tcPr/>
                </a:tc>
                <a:tc>
                  <a:txBody>
                    <a:bodyPr/>
                    <a:lstStyle/>
                    <a:p>
                      <a:r>
                        <a:rPr sz="2500" dirty="0"/>
                        <a:t>Mixed Dataset</a:t>
                      </a:r>
                    </a:p>
                  </a:txBody>
                  <a:tcPr/>
                </a:tc>
                <a:tc>
                  <a:txBody>
                    <a:bodyPr/>
                    <a:lstStyle/>
                    <a:p>
                      <a:r>
                        <a:rPr sz="2500" dirty="0"/>
                        <a:t>Limited dataset size</a:t>
                      </a:r>
                    </a:p>
                  </a:txBody>
                  <a:tcPr/>
                </a:tc>
                <a:extLst>
                  <a:ext uri="{0D108BD9-81ED-4DB2-BD59-A6C34878D82A}">
                    <a16:rowId xmlns:a16="http://schemas.microsoft.com/office/drawing/2014/main" val="136291089"/>
                  </a:ext>
                </a:extLst>
              </a:tr>
              <a:tr h="1304200">
                <a:tc>
                  <a:txBody>
                    <a:bodyPr/>
                    <a:lstStyle/>
                    <a:p>
                      <a:r>
                        <a:rPr sz="2500"/>
                        <a:t>2020</a:t>
                      </a:r>
                    </a:p>
                  </a:txBody>
                  <a:tcPr/>
                </a:tc>
                <a:tc>
                  <a:txBody>
                    <a:bodyPr/>
                    <a:lstStyle/>
                    <a:p>
                      <a:r>
                        <a:rPr sz="2500"/>
                        <a:t>SMS Spam Filtering</a:t>
                      </a:r>
                    </a:p>
                  </a:txBody>
                  <a:tcPr/>
                </a:tc>
                <a:tc>
                  <a:txBody>
                    <a:bodyPr/>
                    <a:lstStyle/>
                    <a:p>
                      <a:r>
                        <a:rPr sz="2500" dirty="0"/>
                        <a:t>Logistic Regression</a:t>
                      </a:r>
                    </a:p>
                  </a:txBody>
                  <a:tcPr/>
                </a:tc>
                <a:tc>
                  <a:txBody>
                    <a:bodyPr/>
                    <a:lstStyle/>
                    <a:p>
                      <a:r>
                        <a:rPr sz="2500" dirty="0"/>
                        <a:t>96%</a:t>
                      </a:r>
                    </a:p>
                  </a:txBody>
                  <a:tcPr/>
                </a:tc>
                <a:tc>
                  <a:txBody>
                    <a:bodyPr/>
                    <a:lstStyle/>
                    <a:p>
                      <a:r>
                        <a:rPr sz="2500" dirty="0"/>
                        <a:t>Indian SMS Dataset</a:t>
                      </a:r>
                    </a:p>
                  </a:txBody>
                  <a:tcPr/>
                </a:tc>
                <a:tc>
                  <a:txBody>
                    <a:bodyPr/>
                    <a:lstStyle/>
                    <a:p>
                      <a:r>
                        <a:rPr sz="2500" dirty="0"/>
                        <a:t>Poor multilingual support</a:t>
                      </a:r>
                    </a:p>
                  </a:txBody>
                  <a:tcPr/>
                </a:tc>
                <a:extLst>
                  <a:ext uri="{0D108BD9-81ED-4DB2-BD59-A6C34878D82A}">
                    <a16:rowId xmlns:a16="http://schemas.microsoft.com/office/drawing/2014/main" val="2141426818"/>
                  </a:ext>
                </a:extLst>
              </a:tr>
              <a:tr h="912940">
                <a:tc>
                  <a:txBody>
                    <a:bodyPr/>
                    <a:lstStyle/>
                    <a:p>
                      <a:r>
                        <a:rPr sz="2500"/>
                        <a:t>2020</a:t>
                      </a:r>
                    </a:p>
                  </a:txBody>
                  <a:tcPr/>
                </a:tc>
                <a:tc>
                  <a:txBody>
                    <a:bodyPr/>
                    <a:lstStyle/>
                    <a:p>
                      <a:r>
                        <a:rPr sz="2500"/>
                        <a:t>Email Filterations</a:t>
                      </a:r>
                    </a:p>
                  </a:txBody>
                  <a:tcPr/>
                </a:tc>
                <a:tc>
                  <a:txBody>
                    <a:bodyPr/>
                    <a:lstStyle/>
                    <a:p>
                      <a:r>
                        <a:rPr sz="2500" dirty="0"/>
                        <a:t>Decision Tree</a:t>
                      </a:r>
                    </a:p>
                  </a:txBody>
                  <a:tcPr/>
                </a:tc>
                <a:tc>
                  <a:txBody>
                    <a:bodyPr/>
                    <a:lstStyle/>
                    <a:p>
                      <a:r>
                        <a:rPr sz="2500"/>
                        <a:t>94%</a:t>
                      </a:r>
                    </a:p>
                  </a:txBody>
                  <a:tcPr/>
                </a:tc>
                <a:tc>
                  <a:txBody>
                    <a:bodyPr/>
                    <a:lstStyle/>
                    <a:p>
                      <a:r>
                        <a:rPr sz="2500"/>
                        <a:t>Public Spam Emails</a:t>
                      </a:r>
                    </a:p>
                  </a:txBody>
                  <a:tcPr/>
                </a:tc>
                <a:tc>
                  <a:txBody>
                    <a:bodyPr/>
                    <a:lstStyle/>
                    <a:p>
                      <a:r>
                        <a:rPr sz="2500" dirty="0"/>
                        <a:t>Overfitting issues</a:t>
                      </a:r>
                    </a:p>
                  </a:txBody>
                  <a:tcPr/>
                </a:tc>
                <a:extLst>
                  <a:ext uri="{0D108BD9-81ED-4DB2-BD59-A6C34878D82A}">
                    <a16:rowId xmlns:a16="http://schemas.microsoft.com/office/drawing/2014/main" val="3930938971"/>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DC6C6"/>
        </a:solidFill>
        <a:effectLst/>
      </p:bgPr>
    </p:bg>
    <p:spTree>
      <p:nvGrpSpPr>
        <p:cNvPr id="1" name=""/>
        <p:cNvGrpSpPr/>
        <p:nvPr/>
      </p:nvGrpSpPr>
      <p:grpSpPr>
        <a:xfrm>
          <a:off x="0" y="0"/>
          <a:ext cx="0" cy="0"/>
          <a:chOff x="0" y="0"/>
          <a:chExt cx="0" cy="0"/>
        </a:xfrm>
      </p:grpSpPr>
      <p:grpSp>
        <p:nvGrpSpPr>
          <p:cNvPr id="2" name="Group 2"/>
          <p:cNvGrpSpPr/>
          <p:nvPr/>
        </p:nvGrpSpPr>
        <p:grpSpPr>
          <a:xfrm>
            <a:off x="410972" y="385288"/>
            <a:ext cx="17466056" cy="9516424"/>
            <a:chOff x="0" y="0"/>
            <a:chExt cx="86189481" cy="46960552"/>
          </a:xfrm>
        </p:grpSpPr>
        <p:sp>
          <p:nvSpPr>
            <p:cNvPr id="3" name="Freeform 3"/>
            <p:cNvSpPr/>
            <p:nvPr/>
          </p:nvSpPr>
          <p:spPr>
            <a:xfrm>
              <a:off x="72390" y="72390"/>
              <a:ext cx="86044704" cy="46815771"/>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F5F4F2"/>
            </a:solidFill>
          </p:spPr>
          <p:txBody>
            <a:bodyPr/>
            <a:lstStyle/>
            <a:p>
              <a:endParaRPr lang="en-IN"/>
            </a:p>
          </p:txBody>
        </p:sp>
        <p:sp>
          <p:nvSpPr>
            <p:cNvPr id="4" name="Freeform 4"/>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F4F4F4"/>
            </a:solidFill>
          </p:spPr>
          <p:txBody>
            <a:bodyPr/>
            <a:lstStyle/>
            <a:p>
              <a:endParaRPr lang="en-IN"/>
            </a:p>
          </p:txBody>
        </p:sp>
      </p:grpSp>
      <p:grpSp>
        <p:nvGrpSpPr>
          <p:cNvPr id="5" name="Group 5"/>
          <p:cNvGrpSpPr/>
          <p:nvPr/>
        </p:nvGrpSpPr>
        <p:grpSpPr>
          <a:xfrm>
            <a:off x="410972" y="385288"/>
            <a:ext cx="17466056" cy="2104315"/>
            <a:chOff x="0" y="0"/>
            <a:chExt cx="86189481" cy="10384130"/>
          </a:xfrm>
        </p:grpSpPr>
        <p:sp>
          <p:nvSpPr>
            <p:cNvPr id="6" name="Freeform 6"/>
            <p:cNvSpPr/>
            <p:nvPr/>
          </p:nvSpPr>
          <p:spPr>
            <a:xfrm>
              <a:off x="72390" y="72390"/>
              <a:ext cx="86044704" cy="10239350"/>
            </a:xfrm>
            <a:custGeom>
              <a:avLst/>
              <a:gdLst/>
              <a:ahLst/>
              <a:cxnLst/>
              <a:rect l="l" t="t" r="r" b="b"/>
              <a:pathLst>
                <a:path w="86044704" h="10239350">
                  <a:moveTo>
                    <a:pt x="0" y="0"/>
                  </a:moveTo>
                  <a:lnTo>
                    <a:pt x="86044704" y="0"/>
                  </a:lnTo>
                  <a:lnTo>
                    <a:pt x="86044704" y="10239350"/>
                  </a:lnTo>
                  <a:lnTo>
                    <a:pt x="0" y="10239350"/>
                  </a:lnTo>
                  <a:lnTo>
                    <a:pt x="0" y="0"/>
                  </a:lnTo>
                  <a:close/>
                </a:path>
              </a:pathLst>
            </a:custGeom>
            <a:solidFill>
              <a:srgbClr val="BBADA2"/>
            </a:solidFill>
          </p:spPr>
          <p:txBody>
            <a:bodyPr/>
            <a:lstStyle/>
            <a:p>
              <a:endParaRPr lang="en-IN"/>
            </a:p>
          </p:txBody>
        </p:sp>
        <p:sp>
          <p:nvSpPr>
            <p:cNvPr id="7" name="Freeform 7"/>
            <p:cNvSpPr/>
            <p:nvPr/>
          </p:nvSpPr>
          <p:spPr>
            <a:xfrm>
              <a:off x="0" y="0"/>
              <a:ext cx="86189480" cy="10384130"/>
            </a:xfrm>
            <a:custGeom>
              <a:avLst/>
              <a:gdLst/>
              <a:ahLst/>
              <a:cxnLst/>
              <a:rect l="l" t="t" r="r" b="b"/>
              <a:pathLst>
                <a:path w="86189480" h="10384130">
                  <a:moveTo>
                    <a:pt x="86044701" y="10239350"/>
                  </a:moveTo>
                  <a:lnTo>
                    <a:pt x="86189480" y="10239350"/>
                  </a:lnTo>
                  <a:lnTo>
                    <a:pt x="86189480" y="10384130"/>
                  </a:lnTo>
                  <a:lnTo>
                    <a:pt x="86044701" y="10384130"/>
                  </a:lnTo>
                  <a:lnTo>
                    <a:pt x="86044701" y="10239350"/>
                  </a:lnTo>
                  <a:close/>
                  <a:moveTo>
                    <a:pt x="0" y="144780"/>
                  </a:moveTo>
                  <a:lnTo>
                    <a:pt x="144780" y="144780"/>
                  </a:lnTo>
                  <a:lnTo>
                    <a:pt x="144780" y="10239350"/>
                  </a:lnTo>
                  <a:lnTo>
                    <a:pt x="0" y="10239350"/>
                  </a:lnTo>
                  <a:lnTo>
                    <a:pt x="0" y="144780"/>
                  </a:lnTo>
                  <a:close/>
                  <a:moveTo>
                    <a:pt x="0" y="10239350"/>
                  </a:moveTo>
                  <a:lnTo>
                    <a:pt x="144780" y="10239350"/>
                  </a:lnTo>
                  <a:lnTo>
                    <a:pt x="144780" y="10384130"/>
                  </a:lnTo>
                  <a:lnTo>
                    <a:pt x="0" y="10384130"/>
                  </a:lnTo>
                  <a:lnTo>
                    <a:pt x="0" y="10239350"/>
                  </a:lnTo>
                  <a:close/>
                  <a:moveTo>
                    <a:pt x="86044701" y="144780"/>
                  </a:moveTo>
                  <a:lnTo>
                    <a:pt x="86189480" y="144780"/>
                  </a:lnTo>
                  <a:lnTo>
                    <a:pt x="86189480" y="10239350"/>
                  </a:lnTo>
                  <a:lnTo>
                    <a:pt x="86044701" y="10239350"/>
                  </a:lnTo>
                  <a:lnTo>
                    <a:pt x="86044701" y="144780"/>
                  </a:lnTo>
                  <a:close/>
                  <a:moveTo>
                    <a:pt x="144780" y="10239350"/>
                  </a:moveTo>
                  <a:lnTo>
                    <a:pt x="86044701" y="10239350"/>
                  </a:lnTo>
                  <a:lnTo>
                    <a:pt x="86044701" y="10384130"/>
                  </a:lnTo>
                  <a:lnTo>
                    <a:pt x="144780" y="10384130"/>
                  </a:lnTo>
                  <a:lnTo>
                    <a:pt x="144780" y="10239350"/>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D2C1B3"/>
            </a:solidFill>
          </p:spPr>
          <p:txBody>
            <a:bodyPr/>
            <a:lstStyle/>
            <a:p>
              <a:endParaRPr lang="en-IN"/>
            </a:p>
          </p:txBody>
        </p:sp>
      </p:grpSp>
      <p:grpSp>
        <p:nvGrpSpPr>
          <p:cNvPr id="8" name="Group 8"/>
          <p:cNvGrpSpPr/>
          <p:nvPr/>
        </p:nvGrpSpPr>
        <p:grpSpPr>
          <a:xfrm>
            <a:off x="1028700" y="763294"/>
            <a:ext cx="16230600" cy="1348304"/>
            <a:chOff x="0" y="0"/>
            <a:chExt cx="4653345" cy="386561"/>
          </a:xfrm>
        </p:grpSpPr>
        <p:sp>
          <p:nvSpPr>
            <p:cNvPr id="9" name="Freeform 9"/>
            <p:cNvSpPr/>
            <p:nvPr/>
          </p:nvSpPr>
          <p:spPr>
            <a:xfrm>
              <a:off x="0" y="0"/>
              <a:ext cx="4653345" cy="386561"/>
            </a:xfrm>
            <a:custGeom>
              <a:avLst/>
              <a:gdLst/>
              <a:ahLst/>
              <a:cxnLst/>
              <a:rect l="l" t="t" r="r" b="b"/>
              <a:pathLst>
                <a:path w="4653345" h="386561">
                  <a:moveTo>
                    <a:pt x="47700" y="0"/>
                  </a:moveTo>
                  <a:lnTo>
                    <a:pt x="4605645" y="0"/>
                  </a:lnTo>
                  <a:cubicBezTo>
                    <a:pt x="4618296" y="0"/>
                    <a:pt x="4630428" y="5025"/>
                    <a:pt x="4639374" y="13971"/>
                  </a:cubicBezTo>
                  <a:cubicBezTo>
                    <a:pt x="4648319" y="22916"/>
                    <a:pt x="4653345" y="35049"/>
                    <a:pt x="4653345" y="47700"/>
                  </a:cubicBezTo>
                  <a:lnTo>
                    <a:pt x="4653345" y="338862"/>
                  </a:lnTo>
                  <a:cubicBezTo>
                    <a:pt x="4653345" y="351512"/>
                    <a:pt x="4648319" y="363645"/>
                    <a:pt x="4639374" y="372590"/>
                  </a:cubicBezTo>
                  <a:cubicBezTo>
                    <a:pt x="4630428" y="381536"/>
                    <a:pt x="4618296" y="386561"/>
                    <a:pt x="4605645" y="386561"/>
                  </a:cubicBezTo>
                  <a:lnTo>
                    <a:pt x="47700" y="386561"/>
                  </a:lnTo>
                  <a:cubicBezTo>
                    <a:pt x="35049" y="386561"/>
                    <a:pt x="22916" y="381536"/>
                    <a:pt x="13971" y="372590"/>
                  </a:cubicBezTo>
                  <a:cubicBezTo>
                    <a:pt x="5025" y="363645"/>
                    <a:pt x="0" y="351512"/>
                    <a:pt x="0" y="338862"/>
                  </a:cubicBezTo>
                  <a:lnTo>
                    <a:pt x="0" y="47700"/>
                  </a:lnTo>
                  <a:cubicBezTo>
                    <a:pt x="0" y="35049"/>
                    <a:pt x="5025" y="22916"/>
                    <a:pt x="13971" y="13971"/>
                  </a:cubicBezTo>
                  <a:cubicBezTo>
                    <a:pt x="22916" y="5025"/>
                    <a:pt x="35049" y="0"/>
                    <a:pt x="47700" y="0"/>
                  </a:cubicBezTo>
                  <a:close/>
                </a:path>
              </a:pathLst>
            </a:custGeom>
            <a:solidFill>
              <a:srgbClr val="F4F4F4"/>
            </a:solidFill>
            <a:ln w="23812" cap="rnd">
              <a:solidFill>
                <a:srgbClr val="F5F4F2"/>
              </a:solidFill>
              <a:prstDash val="solid"/>
              <a:round/>
            </a:ln>
          </p:spPr>
          <p:txBody>
            <a:bodyPr/>
            <a:lstStyle/>
            <a:p>
              <a:endParaRPr lang="en-IN"/>
            </a:p>
          </p:txBody>
        </p:sp>
        <p:sp>
          <p:nvSpPr>
            <p:cNvPr id="10" name="TextBox 10"/>
            <p:cNvSpPr txBox="1"/>
            <p:nvPr/>
          </p:nvSpPr>
          <p:spPr>
            <a:xfrm>
              <a:off x="0" y="-28575"/>
              <a:ext cx="4653345" cy="415136"/>
            </a:xfrm>
            <a:prstGeom prst="rect">
              <a:avLst/>
            </a:prstGeom>
          </p:spPr>
          <p:txBody>
            <a:bodyPr lIns="63000" tIns="63000" rIns="63000" bIns="63000" rtlCol="0" anchor="ctr"/>
            <a:lstStyle/>
            <a:p>
              <a:pPr algn="ctr">
                <a:lnSpc>
                  <a:spcPts val="2430"/>
                </a:lnSpc>
                <a:spcBef>
                  <a:spcPct val="0"/>
                </a:spcBef>
              </a:pPr>
              <a:endParaRPr/>
            </a:p>
          </p:txBody>
        </p:sp>
      </p:grpSp>
      <p:sp>
        <p:nvSpPr>
          <p:cNvPr id="11" name="Freeform 11"/>
          <p:cNvSpPr/>
          <p:nvPr/>
        </p:nvSpPr>
        <p:spPr>
          <a:xfrm>
            <a:off x="9144000" y="6341642"/>
            <a:ext cx="3300833" cy="3203432"/>
          </a:xfrm>
          <a:custGeom>
            <a:avLst/>
            <a:gdLst/>
            <a:ahLst/>
            <a:cxnLst/>
            <a:rect l="l" t="t" r="r" b="b"/>
            <a:pathLst>
              <a:path w="3300833" h="3203432">
                <a:moveTo>
                  <a:pt x="0" y="0"/>
                </a:moveTo>
                <a:lnTo>
                  <a:pt x="3300833" y="0"/>
                </a:lnTo>
                <a:lnTo>
                  <a:pt x="3300833" y="3203432"/>
                </a:lnTo>
                <a:lnTo>
                  <a:pt x="0" y="3203432"/>
                </a:lnTo>
                <a:lnTo>
                  <a:pt x="0" y="0"/>
                </a:lnTo>
                <a:close/>
              </a:path>
            </a:pathLst>
          </a:custGeom>
          <a:blipFill>
            <a:blip r:embed="rId2"/>
            <a:stretch>
              <a:fillRect r="-1242"/>
            </a:stretch>
          </a:blipFill>
        </p:spPr>
        <p:txBody>
          <a:bodyPr/>
          <a:lstStyle/>
          <a:p>
            <a:endParaRPr lang="en-IN"/>
          </a:p>
        </p:txBody>
      </p:sp>
      <p:sp>
        <p:nvSpPr>
          <p:cNvPr id="12" name="Freeform 12"/>
          <p:cNvSpPr/>
          <p:nvPr/>
        </p:nvSpPr>
        <p:spPr>
          <a:xfrm>
            <a:off x="13155751" y="6489457"/>
            <a:ext cx="4366301" cy="3055617"/>
          </a:xfrm>
          <a:custGeom>
            <a:avLst/>
            <a:gdLst/>
            <a:ahLst/>
            <a:cxnLst/>
            <a:rect l="l" t="t" r="r" b="b"/>
            <a:pathLst>
              <a:path w="4366301" h="3055617">
                <a:moveTo>
                  <a:pt x="0" y="0"/>
                </a:moveTo>
                <a:lnTo>
                  <a:pt x="4366300" y="0"/>
                </a:lnTo>
                <a:lnTo>
                  <a:pt x="4366300" y="3055617"/>
                </a:lnTo>
                <a:lnTo>
                  <a:pt x="0" y="3055617"/>
                </a:lnTo>
                <a:lnTo>
                  <a:pt x="0" y="0"/>
                </a:lnTo>
                <a:close/>
              </a:path>
            </a:pathLst>
          </a:custGeom>
          <a:blipFill>
            <a:blip r:embed="rId3"/>
            <a:stretch>
              <a:fillRect l="-17865" r="-15228"/>
            </a:stretch>
          </a:blipFill>
        </p:spPr>
        <p:txBody>
          <a:bodyPr/>
          <a:lstStyle/>
          <a:p>
            <a:endParaRPr lang="en-IN"/>
          </a:p>
        </p:txBody>
      </p:sp>
      <p:sp>
        <p:nvSpPr>
          <p:cNvPr id="13" name="Freeform 13"/>
          <p:cNvSpPr/>
          <p:nvPr/>
        </p:nvSpPr>
        <p:spPr>
          <a:xfrm>
            <a:off x="9301857" y="2548663"/>
            <a:ext cx="3374550" cy="3355914"/>
          </a:xfrm>
          <a:custGeom>
            <a:avLst/>
            <a:gdLst/>
            <a:ahLst/>
            <a:cxnLst/>
            <a:rect l="l" t="t" r="r" b="b"/>
            <a:pathLst>
              <a:path w="3374550" h="3355914">
                <a:moveTo>
                  <a:pt x="0" y="0"/>
                </a:moveTo>
                <a:lnTo>
                  <a:pt x="3374550" y="0"/>
                </a:lnTo>
                <a:lnTo>
                  <a:pt x="3374550" y="3355914"/>
                </a:lnTo>
                <a:lnTo>
                  <a:pt x="0" y="3355914"/>
                </a:lnTo>
                <a:lnTo>
                  <a:pt x="0" y="0"/>
                </a:lnTo>
                <a:close/>
              </a:path>
            </a:pathLst>
          </a:custGeom>
          <a:blipFill>
            <a:blip r:embed="rId4"/>
            <a:stretch>
              <a:fillRect l="-54083" r="-44812"/>
            </a:stretch>
          </a:blipFill>
        </p:spPr>
        <p:txBody>
          <a:bodyPr/>
          <a:lstStyle/>
          <a:p>
            <a:endParaRPr lang="en-IN"/>
          </a:p>
        </p:txBody>
      </p:sp>
      <p:sp>
        <p:nvSpPr>
          <p:cNvPr id="14" name="TextBox 14"/>
          <p:cNvSpPr txBox="1"/>
          <p:nvPr/>
        </p:nvSpPr>
        <p:spPr>
          <a:xfrm>
            <a:off x="731313" y="3177177"/>
            <a:ext cx="10409347" cy="4427221"/>
          </a:xfrm>
          <a:prstGeom prst="rect">
            <a:avLst/>
          </a:prstGeom>
        </p:spPr>
        <p:txBody>
          <a:bodyPr lIns="0" tIns="0" rIns="0" bIns="0" rtlCol="0" anchor="t">
            <a:spAutoFit/>
          </a:bodyPr>
          <a:lstStyle/>
          <a:p>
            <a:pPr algn="just">
              <a:lnSpc>
                <a:spcPts val="5879"/>
              </a:lnSpc>
            </a:pPr>
            <a:endParaRPr/>
          </a:p>
          <a:p>
            <a:pPr algn="just">
              <a:lnSpc>
                <a:spcPts val="5879"/>
              </a:lnSpc>
            </a:pPr>
            <a:r>
              <a:rPr lang="en-US" sz="4199">
                <a:solidFill>
                  <a:srgbClr val="2B2B2B"/>
                </a:solidFill>
                <a:latin typeface="Canva Sans"/>
                <a:ea typeface="Canva Sans"/>
                <a:cs typeface="Canva Sans"/>
                <a:sym typeface="Canva Sans"/>
              </a:rPr>
              <a:t>•Kaggle (Dataset)</a:t>
            </a:r>
          </a:p>
          <a:p>
            <a:pPr algn="just">
              <a:lnSpc>
                <a:spcPts val="5879"/>
              </a:lnSpc>
            </a:pPr>
            <a:r>
              <a:rPr lang="en-US" sz="4199">
                <a:solidFill>
                  <a:srgbClr val="2B2B2B"/>
                </a:solidFill>
                <a:latin typeface="Canva Sans"/>
                <a:ea typeface="Canva Sans"/>
                <a:cs typeface="Canva Sans"/>
                <a:sym typeface="Canva Sans"/>
              </a:rPr>
              <a:t>•Python(Programming Language)</a:t>
            </a:r>
          </a:p>
          <a:p>
            <a:pPr algn="just">
              <a:lnSpc>
                <a:spcPts val="5879"/>
              </a:lnSpc>
            </a:pPr>
            <a:r>
              <a:rPr lang="en-US" sz="4199">
                <a:solidFill>
                  <a:srgbClr val="2B2B2B"/>
                </a:solidFill>
                <a:latin typeface="Canva Sans"/>
                <a:ea typeface="Canva Sans"/>
                <a:cs typeface="Canva Sans"/>
                <a:sym typeface="Canva Sans"/>
              </a:rPr>
              <a:t>•JupyterNotebook / VS  Editor</a:t>
            </a:r>
          </a:p>
          <a:p>
            <a:pPr algn="just">
              <a:lnSpc>
                <a:spcPts val="5879"/>
              </a:lnSpc>
            </a:pPr>
            <a:r>
              <a:rPr lang="en-US" sz="4199">
                <a:solidFill>
                  <a:srgbClr val="2B2B2B"/>
                </a:solidFill>
                <a:latin typeface="Canva Sans"/>
                <a:ea typeface="Canva Sans"/>
                <a:cs typeface="Canva Sans"/>
                <a:sym typeface="Canva Sans"/>
              </a:rPr>
              <a:t>•Pandas (Data Handling)</a:t>
            </a:r>
          </a:p>
          <a:p>
            <a:pPr algn="just">
              <a:lnSpc>
                <a:spcPts val="5879"/>
              </a:lnSpc>
            </a:pPr>
            <a:r>
              <a:rPr lang="en-US" sz="4199">
                <a:solidFill>
                  <a:srgbClr val="2B2B2B"/>
                </a:solidFill>
                <a:latin typeface="Canva Sans"/>
                <a:ea typeface="Canva Sans"/>
                <a:cs typeface="Canva Sans"/>
                <a:sym typeface="Canva Sans"/>
              </a:rPr>
              <a:t>•HTML / CSS (Frontend)</a:t>
            </a:r>
          </a:p>
        </p:txBody>
      </p:sp>
      <p:sp>
        <p:nvSpPr>
          <p:cNvPr id="15" name="Freeform 15"/>
          <p:cNvSpPr/>
          <p:nvPr/>
        </p:nvSpPr>
        <p:spPr>
          <a:xfrm>
            <a:off x="13586027" y="2736656"/>
            <a:ext cx="3505748" cy="3505748"/>
          </a:xfrm>
          <a:custGeom>
            <a:avLst/>
            <a:gdLst/>
            <a:ahLst/>
            <a:cxnLst/>
            <a:rect l="l" t="t" r="r" b="b"/>
            <a:pathLst>
              <a:path w="3505748" h="3505748">
                <a:moveTo>
                  <a:pt x="0" y="0"/>
                </a:moveTo>
                <a:lnTo>
                  <a:pt x="3505748" y="0"/>
                </a:lnTo>
                <a:lnTo>
                  <a:pt x="3505748" y="3505748"/>
                </a:lnTo>
                <a:lnTo>
                  <a:pt x="0" y="3505748"/>
                </a:lnTo>
                <a:lnTo>
                  <a:pt x="0" y="0"/>
                </a:lnTo>
                <a:close/>
              </a:path>
            </a:pathLst>
          </a:custGeom>
          <a:blipFill>
            <a:blip r:embed="rId5"/>
            <a:stretch>
              <a:fillRect/>
            </a:stretch>
          </a:blipFill>
        </p:spPr>
        <p:txBody>
          <a:bodyPr/>
          <a:lstStyle/>
          <a:p>
            <a:endParaRPr lang="en-IN"/>
          </a:p>
        </p:txBody>
      </p:sp>
      <p:sp>
        <p:nvSpPr>
          <p:cNvPr id="16" name="TextBox 16"/>
          <p:cNvSpPr txBox="1"/>
          <p:nvPr/>
        </p:nvSpPr>
        <p:spPr>
          <a:xfrm>
            <a:off x="2949099" y="988788"/>
            <a:ext cx="12389802" cy="811530"/>
          </a:xfrm>
          <a:prstGeom prst="rect">
            <a:avLst/>
          </a:prstGeom>
        </p:spPr>
        <p:txBody>
          <a:bodyPr lIns="0" tIns="0" rIns="0" bIns="0" rtlCol="0" anchor="t">
            <a:spAutoFit/>
          </a:bodyPr>
          <a:lstStyle/>
          <a:p>
            <a:pPr algn="ctr">
              <a:lnSpc>
                <a:spcPts val="6719"/>
              </a:lnSpc>
            </a:pPr>
            <a:r>
              <a:rPr lang="en-US" sz="4800" b="1">
                <a:solidFill>
                  <a:srgbClr val="2B2B2B"/>
                </a:solidFill>
                <a:latin typeface="Quicksand Bold"/>
                <a:ea typeface="Quicksand Bold"/>
                <a:cs typeface="Quicksand Bold"/>
                <a:sym typeface="Quicksand Bold"/>
              </a:rPr>
              <a:t>🛠️ TOOLS USED – KEY POINTS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8F847B"/>
        </a:solidFill>
        <a:effectLst/>
      </p:bgPr>
    </p:bg>
    <p:spTree>
      <p:nvGrpSpPr>
        <p:cNvPr id="1" name=""/>
        <p:cNvGrpSpPr/>
        <p:nvPr/>
      </p:nvGrpSpPr>
      <p:grpSpPr>
        <a:xfrm>
          <a:off x="0" y="0"/>
          <a:ext cx="0" cy="0"/>
          <a:chOff x="0" y="0"/>
          <a:chExt cx="0" cy="0"/>
        </a:xfrm>
      </p:grpSpPr>
      <p:grpSp>
        <p:nvGrpSpPr>
          <p:cNvPr id="2" name="Group 2"/>
          <p:cNvGrpSpPr/>
          <p:nvPr/>
        </p:nvGrpSpPr>
        <p:grpSpPr>
          <a:xfrm>
            <a:off x="410972" y="2489603"/>
            <a:ext cx="17466056" cy="7412109"/>
            <a:chOff x="0" y="0"/>
            <a:chExt cx="86189481" cy="36576422"/>
          </a:xfrm>
        </p:grpSpPr>
        <p:sp>
          <p:nvSpPr>
            <p:cNvPr id="3" name="Freeform 3"/>
            <p:cNvSpPr/>
            <p:nvPr/>
          </p:nvSpPr>
          <p:spPr>
            <a:xfrm>
              <a:off x="72390" y="72390"/>
              <a:ext cx="86044704" cy="36431642"/>
            </a:xfrm>
            <a:custGeom>
              <a:avLst/>
              <a:gdLst/>
              <a:ahLst/>
              <a:cxnLst/>
              <a:rect l="l" t="t" r="r" b="b"/>
              <a:pathLst>
                <a:path w="86044704" h="36431642">
                  <a:moveTo>
                    <a:pt x="0" y="0"/>
                  </a:moveTo>
                  <a:lnTo>
                    <a:pt x="86044704" y="0"/>
                  </a:lnTo>
                  <a:lnTo>
                    <a:pt x="86044704" y="36431642"/>
                  </a:lnTo>
                  <a:lnTo>
                    <a:pt x="0" y="36431642"/>
                  </a:lnTo>
                  <a:lnTo>
                    <a:pt x="0" y="0"/>
                  </a:lnTo>
                  <a:close/>
                </a:path>
              </a:pathLst>
            </a:custGeom>
            <a:solidFill>
              <a:srgbClr val="FEFFFF"/>
            </a:solidFill>
          </p:spPr>
          <p:txBody>
            <a:bodyPr/>
            <a:lstStyle/>
            <a:p>
              <a:endParaRPr lang="en-IN"/>
            </a:p>
          </p:txBody>
        </p:sp>
        <p:sp>
          <p:nvSpPr>
            <p:cNvPr id="4" name="Freeform 4"/>
            <p:cNvSpPr/>
            <p:nvPr/>
          </p:nvSpPr>
          <p:spPr>
            <a:xfrm>
              <a:off x="0" y="0"/>
              <a:ext cx="86189480" cy="36576422"/>
            </a:xfrm>
            <a:custGeom>
              <a:avLst/>
              <a:gdLst/>
              <a:ahLst/>
              <a:cxnLst/>
              <a:rect l="l" t="t" r="r" b="b"/>
              <a:pathLst>
                <a:path w="86189480" h="36576422">
                  <a:moveTo>
                    <a:pt x="86044701" y="36431643"/>
                  </a:moveTo>
                  <a:lnTo>
                    <a:pt x="86189480" y="36431643"/>
                  </a:lnTo>
                  <a:lnTo>
                    <a:pt x="86189480" y="36576422"/>
                  </a:lnTo>
                  <a:lnTo>
                    <a:pt x="86044701" y="36576422"/>
                  </a:lnTo>
                  <a:lnTo>
                    <a:pt x="86044701" y="36431643"/>
                  </a:lnTo>
                  <a:close/>
                  <a:moveTo>
                    <a:pt x="0" y="144780"/>
                  </a:moveTo>
                  <a:lnTo>
                    <a:pt x="144780" y="144780"/>
                  </a:lnTo>
                  <a:lnTo>
                    <a:pt x="144780" y="36431643"/>
                  </a:lnTo>
                  <a:lnTo>
                    <a:pt x="0" y="36431643"/>
                  </a:lnTo>
                  <a:lnTo>
                    <a:pt x="0" y="144780"/>
                  </a:lnTo>
                  <a:close/>
                  <a:moveTo>
                    <a:pt x="0" y="36431643"/>
                  </a:moveTo>
                  <a:lnTo>
                    <a:pt x="144780" y="36431643"/>
                  </a:lnTo>
                  <a:lnTo>
                    <a:pt x="144780" y="36576422"/>
                  </a:lnTo>
                  <a:lnTo>
                    <a:pt x="0" y="36576422"/>
                  </a:lnTo>
                  <a:lnTo>
                    <a:pt x="0" y="36431643"/>
                  </a:lnTo>
                  <a:close/>
                  <a:moveTo>
                    <a:pt x="86044701" y="144780"/>
                  </a:moveTo>
                  <a:lnTo>
                    <a:pt x="86189480" y="144780"/>
                  </a:lnTo>
                  <a:lnTo>
                    <a:pt x="86189480" y="36431643"/>
                  </a:lnTo>
                  <a:lnTo>
                    <a:pt x="86044701" y="36431643"/>
                  </a:lnTo>
                  <a:lnTo>
                    <a:pt x="86044701" y="144780"/>
                  </a:lnTo>
                  <a:close/>
                  <a:moveTo>
                    <a:pt x="144780" y="36431643"/>
                  </a:moveTo>
                  <a:lnTo>
                    <a:pt x="86044701" y="36431643"/>
                  </a:lnTo>
                  <a:lnTo>
                    <a:pt x="86044701" y="36576422"/>
                  </a:lnTo>
                  <a:lnTo>
                    <a:pt x="144780" y="36576422"/>
                  </a:lnTo>
                  <a:lnTo>
                    <a:pt x="144780" y="36431643"/>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F4F4F4"/>
            </a:solidFill>
          </p:spPr>
          <p:txBody>
            <a:bodyPr/>
            <a:lstStyle/>
            <a:p>
              <a:endParaRPr lang="en-IN"/>
            </a:p>
          </p:txBody>
        </p:sp>
      </p:grpSp>
      <p:grpSp>
        <p:nvGrpSpPr>
          <p:cNvPr id="5" name="Group 5"/>
          <p:cNvGrpSpPr/>
          <p:nvPr/>
        </p:nvGrpSpPr>
        <p:grpSpPr>
          <a:xfrm>
            <a:off x="410972" y="385288"/>
            <a:ext cx="17466056" cy="2104315"/>
            <a:chOff x="0" y="0"/>
            <a:chExt cx="86189481" cy="10384130"/>
          </a:xfrm>
        </p:grpSpPr>
        <p:sp>
          <p:nvSpPr>
            <p:cNvPr id="6" name="Freeform 6"/>
            <p:cNvSpPr/>
            <p:nvPr/>
          </p:nvSpPr>
          <p:spPr>
            <a:xfrm>
              <a:off x="72390" y="72390"/>
              <a:ext cx="86044704" cy="10239350"/>
            </a:xfrm>
            <a:custGeom>
              <a:avLst/>
              <a:gdLst/>
              <a:ahLst/>
              <a:cxnLst/>
              <a:rect l="l" t="t" r="r" b="b"/>
              <a:pathLst>
                <a:path w="86044704" h="10239350">
                  <a:moveTo>
                    <a:pt x="0" y="0"/>
                  </a:moveTo>
                  <a:lnTo>
                    <a:pt x="86044704" y="0"/>
                  </a:lnTo>
                  <a:lnTo>
                    <a:pt x="86044704" y="10239350"/>
                  </a:lnTo>
                  <a:lnTo>
                    <a:pt x="0" y="10239350"/>
                  </a:lnTo>
                  <a:lnTo>
                    <a:pt x="0" y="0"/>
                  </a:lnTo>
                  <a:close/>
                </a:path>
              </a:pathLst>
            </a:custGeom>
            <a:solidFill>
              <a:srgbClr val="DDC6C6"/>
            </a:solidFill>
          </p:spPr>
          <p:txBody>
            <a:bodyPr/>
            <a:lstStyle/>
            <a:p>
              <a:endParaRPr lang="en-IN"/>
            </a:p>
          </p:txBody>
        </p:sp>
        <p:sp>
          <p:nvSpPr>
            <p:cNvPr id="7" name="Freeform 7"/>
            <p:cNvSpPr/>
            <p:nvPr/>
          </p:nvSpPr>
          <p:spPr>
            <a:xfrm>
              <a:off x="0" y="0"/>
              <a:ext cx="86189480" cy="10384130"/>
            </a:xfrm>
            <a:custGeom>
              <a:avLst/>
              <a:gdLst/>
              <a:ahLst/>
              <a:cxnLst/>
              <a:rect l="l" t="t" r="r" b="b"/>
              <a:pathLst>
                <a:path w="86189480" h="10384130">
                  <a:moveTo>
                    <a:pt x="86044701" y="10239350"/>
                  </a:moveTo>
                  <a:lnTo>
                    <a:pt x="86189480" y="10239350"/>
                  </a:lnTo>
                  <a:lnTo>
                    <a:pt x="86189480" y="10384130"/>
                  </a:lnTo>
                  <a:lnTo>
                    <a:pt x="86044701" y="10384130"/>
                  </a:lnTo>
                  <a:lnTo>
                    <a:pt x="86044701" y="10239350"/>
                  </a:lnTo>
                  <a:close/>
                  <a:moveTo>
                    <a:pt x="0" y="144780"/>
                  </a:moveTo>
                  <a:lnTo>
                    <a:pt x="144780" y="144780"/>
                  </a:lnTo>
                  <a:lnTo>
                    <a:pt x="144780" y="10239350"/>
                  </a:lnTo>
                  <a:lnTo>
                    <a:pt x="0" y="10239350"/>
                  </a:lnTo>
                  <a:lnTo>
                    <a:pt x="0" y="144780"/>
                  </a:lnTo>
                  <a:close/>
                  <a:moveTo>
                    <a:pt x="0" y="10239350"/>
                  </a:moveTo>
                  <a:lnTo>
                    <a:pt x="144780" y="10239350"/>
                  </a:lnTo>
                  <a:lnTo>
                    <a:pt x="144780" y="10384130"/>
                  </a:lnTo>
                  <a:lnTo>
                    <a:pt x="0" y="10384130"/>
                  </a:lnTo>
                  <a:lnTo>
                    <a:pt x="0" y="10239350"/>
                  </a:lnTo>
                  <a:close/>
                  <a:moveTo>
                    <a:pt x="86044701" y="144780"/>
                  </a:moveTo>
                  <a:lnTo>
                    <a:pt x="86189480" y="144780"/>
                  </a:lnTo>
                  <a:lnTo>
                    <a:pt x="86189480" y="10239350"/>
                  </a:lnTo>
                  <a:lnTo>
                    <a:pt x="86044701" y="10239350"/>
                  </a:lnTo>
                  <a:lnTo>
                    <a:pt x="86044701" y="144780"/>
                  </a:lnTo>
                  <a:close/>
                  <a:moveTo>
                    <a:pt x="144780" y="10239350"/>
                  </a:moveTo>
                  <a:lnTo>
                    <a:pt x="86044701" y="10239350"/>
                  </a:lnTo>
                  <a:lnTo>
                    <a:pt x="86044701" y="10384130"/>
                  </a:lnTo>
                  <a:lnTo>
                    <a:pt x="144780" y="10384130"/>
                  </a:lnTo>
                  <a:lnTo>
                    <a:pt x="144780" y="10239350"/>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DDC6C6"/>
            </a:solidFill>
          </p:spPr>
          <p:txBody>
            <a:bodyPr/>
            <a:lstStyle/>
            <a:p>
              <a:endParaRPr lang="en-IN"/>
            </a:p>
          </p:txBody>
        </p:sp>
      </p:grpSp>
      <p:grpSp>
        <p:nvGrpSpPr>
          <p:cNvPr id="8" name="Group 8"/>
          <p:cNvGrpSpPr/>
          <p:nvPr/>
        </p:nvGrpSpPr>
        <p:grpSpPr>
          <a:xfrm>
            <a:off x="1028700" y="763294"/>
            <a:ext cx="16230600" cy="1348304"/>
            <a:chOff x="0" y="0"/>
            <a:chExt cx="4653345" cy="386561"/>
          </a:xfrm>
        </p:grpSpPr>
        <p:sp>
          <p:nvSpPr>
            <p:cNvPr id="9" name="Freeform 9"/>
            <p:cNvSpPr/>
            <p:nvPr/>
          </p:nvSpPr>
          <p:spPr>
            <a:xfrm>
              <a:off x="0" y="0"/>
              <a:ext cx="4653345" cy="386561"/>
            </a:xfrm>
            <a:custGeom>
              <a:avLst/>
              <a:gdLst/>
              <a:ahLst/>
              <a:cxnLst/>
              <a:rect l="l" t="t" r="r" b="b"/>
              <a:pathLst>
                <a:path w="4653345" h="386561">
                  <a:moveTo>
                    <a:pt x="47700" y="0"/>
                  </a:moveTo>
                  <a:lnTo>
                    <a:pt x="4605645" y="0"/>
                  </a:lnTo>
                  <a:cubicBezTo>
                    <a:pt x="4618296" y="0"/>
                    <a:pt x="4630428" y="5025"/>
                    <a:pt x="4639374" y="13971"/>
                  </a:cubicBezTo>
                  <a:cubicBezTo>
                    <a:pt x="4648319" y="22916"/>
                    <a:pt x="4653345" y="35049"/>
                    <a:pt x="4653345" y="47700"/>
                  </a:cubicBezTo>
                  <a:lnTo>
                    <a:pt x="4653345" y="338862"/>
                  </a:lnTo>
                  <a:cubicBezTo>
                    <a:pt x="4653345" y="351512"/>
                    <a:pt x="4648319" y="363645"/>
                    <a:pt x="4639374" y="372590"/>
                  </a:cubicBezTo>
                  <a:cubicBezTo>
                    <a:pt x="4630428" y="381536"/>
                    <a:pt x="4618296" y="386561"/>
                    <a:pt x="4605645" y="386561"/>
                  </a:cubicBezTo>
                  <a:lnTo>
                    <a:pt x="47700" y="386561"/>
                  </a:lnTo>
                  <a:cubicBezTo>
                    <a:pt x="35049" y="386561"/>
                    <a:pt x="22916" y="381536"/>
                    <a:pt x="13971" y="372590"/>
                  </a:cubicBezTo>
                  <a:cubicBezTo>
                    <a:pt x="5025" y="363645"/>
                    <a:pt x="0" y="351512"/>
                    <a:pt x="0" y="338862"/>
                  </a:cubicBezTo>
                  <a:lnTo>
                    <a:pt x="0" y="47700"/>
                  </a:lnTo>
                  <a:cubicBezTo>
                    <a:pt x="0" y="35049"/>
                    <a:pt x="5025" y="22916"/>
                    <a:pt x="13971" y="13971"/>
                  </a:cubicBezTo>
                  <a:cubicBezTo>
                    <a:pt x="22916" y="5025"/>
                    <a:pt x="35049" y="0"/>
                    <a:pt x="47700" y="0"/>
                  </a:cubicBezTo>
                  <a:close/>
                </a:path>
              </a:pathLst>
            </a:custGeom>
            <a:solidFill>
              <a:srgbClr val="F4F4F4"/>
            </a:solidFill>
            <a:ln w="23812" cap="rnd">
              <a:solidFill>
                <a:srgbClr val="F5F4F2"/>
              </a:solidFill>
              <a:prstDash val="solid"/>
              <a:round/>
            </a:ln>
          </p:spPr>
          <p:txBody>
            <a:bodyPr/>
            <a:lstStyle/>
            <a:p>
              <a:endParaRPr lang="en-IN"/>
            </a:p>
          </p:txBody>
        </p:sp>
        <p:sp>
          <p:nvSpPr>
            <p:cNvPr id="10" name="TextBox 10"/>
            <p:cNvSpPr txBox="1"/>
            <p:nvPr/>
          </p:nvSpPr>
          <p:spPr>
            <a:xfrm>
              <a:off x="0" y="-28575"/>
              <a:ext cx="4653345" cy="415136"/>
            </a:xfrm>
            <a:prstGeom prst="rect">
              <a:avLst/>
            </a:prstGeom>
          </p:spPr>
          <p:txBody>
            <a:bodyPr lIns="63000" tIns="63000" rIns="63000" bIns="63000" rtlCol="0" anchor="ctr"/>
            <a:lstStyle/>
            <a:p>
              <a:pPr algn="ctr">
                <a:lnSpc>
                  <a:spcPts val="2430"/>
                </a:lnSpc>
                <a:spcBef>
                  <a:spcPct val="0"/>
                </a:spcBef>
              </a:pPr>
              <a:endParaRPr/>
            </a:p>
          </p:txBody>
        </p:sp>
      </p:grpSp>
      <p:sp>
        <p:nvSpPr>
          <p:cNvPr id="11" name="Freeform 11"/>
          <p:cNvSpPr/>
          <p:nvPr/>
        </p:nvSpPr>
        <p:spPr>
          <a:xfrm>
            <a:off x="7098049" y="2489603"/>
            <a:ext cx="4718362" cy="7412109"/>
          </a:xfrm>
          <a:custGeom>
            <a:avLst/>
            <a:gdLst/>
            <a:ahLst/>
            <a:cxnLst/>
            <a:rect l="l" t="t" r="r" b="b"/>
            <a:pathLst>
              <a:path w="4718362" h="7412109">
                <a:moveTo>
                  <a:pt x="0" y="0"/>
                </a:moveTo>
                <a:lnTo>
                  <a:pt x="4718362" y="0"/>
                </a:lnTo>
                <a:lnTo>
                  <a:pt x="4718362" y="7412109"/>
                </a:lnTo>
                <a:lnTo>
                  <a:pt x="0" y="7412109"/>
                </a:lnTo>
                <a:lnTo>
                  <a:pt x="0" y="0"/>
                </a:lnTo>
                <a:close/>
              </a:path>
            </a:pathLst>
          </a:custGeom>
          <a:blipFill>
            <a:blip r:embed="rId2"/>
            <a:stretch>
              <a:fillRect l="-11705" r="-5915"/>
            </a:stretch>
          </a:blipFill>
        </p:spPr>
        <p:txBody>
          <a:bodyPr/>
          <a:lstStyle/>
          <a:p>
            <a:endParaRPr lang="en-IN"/>
          </a:p>
        </p:txBody>
      </p:sp>
      <p:sp>
        <p:nvSpPr>
          <p:cNvPr id="12" name="TextBox 12"/>
          <p:cNvSpPr txBox="1"/>
          <p:nvPr/>
        </p:nvSpPr>
        <p:spPr>
          <a:xfrm>
            <a:off x="5954196" y="564103"/>
            <a:ext cx="7062166" cy="2425055"/>
          </a:xfrm>
          <a:prstGeom prst="rect">
            <a:avLst/>
          </a:prstGeom>
        </p:spPr>
        <p:txBody>
          <a:bodyPr lIns="0" tIns="0" rIns="0" bIns="0" rtlCol="0" anchor="t">
            <a:spAutoFit/>
          </a:bodyPr>
          <a:lstStyle/>
          <a:p>
            <a:pPr algn="ctr">
              <a:lnSpc>
                <a:spcPts val="11200"/>
              </a:lnSpc>
            </a:pPr>
            <a:r>
              <a:rPr lang="en-US" sz="8000" b="1">
                <a:solidFill>
                  <a:srgbClr val="8F847B"/>
                </a:solidFill>
                <a:latin typeface="Canva Sans Bold"/>
                <a:ea typeface="Canva Sans Bold"/>
                <a:cs typeface="Canva Sans Bold"/>
                <a:sym typeface="Canva Sans Bold"/>
              </a:rPr>
              <a:t>FLOWCHART</a:t>
            </a:r>
          </a:p>
          <a:p>
            <a:pPr algn="ctr">
              <a:lnSpc>
                <a:spcPts val="8120"/>
              </a:lnSpc>
            </a:pPr>
            <a:endParaRPr lang="en-US" sz="8000" b="1">
              <a:solidFill>
                <a:srgbClr val="8F847B"/>
              </a:solidFill>
              <a:latin typeface="Canva Sans Bold"/>
              <a:ea typeface="Canva Sans Bold"/>
              <a:cs typeface="Canva Sans Bold"/>
              <a:sym typeface="Canva Sans Bold"/>
            </a:endParaRPr>
          </a:p>
        </p:txBody>
      </p:sp>
      <p:sp>
        <p:nvSpPr>
          <p:cNvPr id="13" name="Freeform 13"/>
          <p:cNvSpPr/>
          <p:nvPr/>
        </p:nvSpPr>
        <p:spPr>
          <a:xfrm>
            <a:off x="1579609" y="1145645"/>
            <a:ext cx="649788" cy="583601"/>
          </a:xfrm>
          <a:custGeom>
            <a:avLst/>
            <a:gdLst/>
            <a:ahLst/>
            <a:cxnLst/>
            <a:rect l="l" t="t" r="r" b="b"/>
            <a:pathLst>
              <a:path w="649788" h="583601">
                <a:moveTo>
                  <a:pt x="0" y="0"/>
                </a:moveTo>
                <a:lnTo>
                  <a:pt x="649788" y="0"/>
                </a:lnTo>
                <a:lnTo>
                  <a:pt x="649788" y="583601"/>
                </a:lnTo>
                <a:lnTo>
                  <a:pt x="0" y="5836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4" name="Freeform 14"/>
          <p:cNvSpPr/>
          <p:nvPr/>
        </p:nvSpPr>
        <p:spPr>
          <a:xfrm>
            <a:off x="16010847" y="1145645"/>
            <a:ext cx="649788" cy="583601"/>
          </a:xfrm>
          <a:custGeom>
            <a:avLst/>
            <a:gdLst/>
            <a:ahLst/>
            <a:cxnLst/>
            <a:rect l="l" t="t" r="r" b="b"/>
            <a:pathLst>
              <a:path w="649788" h="583601">
                <a:moveTo>
                  <a:pt x="0" y="0"/>
                </a:moveTo>
                <a:lnTo>
                  <a:pt x="649789" y="0"/>
                </a:lnTo>
                <a:lnTo>
                  <a:pt x="649789" y="583601"/>
                </a:lnTo>
                <a:lnTo>
                  <a:pt x="0" y="58360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CCABC"/>
        </a:solidFill>
        <a:effectLst/>
      </p:bgPr>
    </p:bg>
    <p:spTree>
      <p:nvGrpSpPr>
        <p:cNvPr id="1" name=""/>
        <p:cNvGrpSpPr/>
        <p:nvPr/>
      </p:nvGrpSpPr>
      <p:grpSpPr>
        <a:xfrm>
          <a:off x="0" y="0"/>
          <a:ext cx="0" cy="0"/>
          <a:chOff x="0" y="0"/>
          <a:chExt cx="0" cy="0"/>
        </a:xfrm>
      </p:grpSpPr>
      <p:grpSp>
        <p:nvGrpSpPr>
          <p:cNvPr id="2" name="Group 2"/>
          <p:cNvGrpSpPr/>
          <p:nvPr/>
        </p:nvGrpSpPr>
        <p:grpSpPr>
          <a:xfrm>
            <a:off x="410972" y="385288"/>
            <a:ext cx="17466056" cy="9516424"/>
            <a:chOff x="0" y="0"/>
            <a:chExt cx="86189481" cy="46960552"/>
          </a:xfrm>
        </p:grpSpPr>
        <p:sp>
          <p:nvSpPr>
            <p:cNvPr id="3" name="Freeform 3"/>
            <p:cNvSpPr/>
            <p:nvPr/>
          </p:nvSpPr>
          <p:spPr>
            <a:xfrm>
              <a:off x="72390" y="72390"/>
              <a:ext cx="86044704" cy="46815771"/>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F6F6F6"/>
            </a:solidFill>
          </p:spPr>
          <p:txBody>
            <a:bodyPr/>
            <a:lstStyle/>
            <a:p>
              <a:endParaRPr lang="en-IN"/>
            </a:p>
          </p:txBody>
        </p:sp>
        <p:sp>
          <p:nvSpPr>
            <p:cNvPr id="4" name="Freeform 4"/>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DCCABC"/>
            </a:solidFill>
          </p:spPr>
          <p:txBody>
            <a:bodyPr/>
            <a:lstStyle/>
            <a:p>
              <a:endParaRPr lang="en-IN"/>
            </a:p>
          </p:txBody>
        </p:sp>
      </p:grpSp>
      <p:grpSp>
        <p:nvGrpSpPr>
          <p:cNvPr id="5" name="Group 5"/>
          <p:cNvGrpSpPr/>
          <p:nvPr/>
        </p:nvGrpSpPr>
        <p:grpSpPr>
          <a:xfrm>
            <a:off x="410972" y="385288"/>
            <a:ext cx="17466056" cy="2104315"/>
            <a:chOff x="0" y="0"/>
            <a:chExt cx="86189481" cy="10384130"/>
          </a:xfrm>
        </p:grpSpPr>
        <p:sp>
          <p:nvSpPr>
            <p:cNvPr id="6" name="Freeform 6"/>
            <p:cNvSpPr/>
            <p:nvPr/>
          </p:nvSpPr>
          <p:spPr>
            <a:xfrm>
              <a:off x="72390" y="72390"/>
              <a:ext cx="86044704" cy="10239350"/>
            </a:xfrm>
            <a:custGeom>
              <a:avLst/>
              <a:gdLst/>
              <a:ahLst/>
              <a:cxnLst/>
              <a:rect l="l" t="t" r="r" b="b"/>
              <a:pathLst>
                <a:path w="86044704" h="10239350">
                  <a:moveTo>
                    <a:pt x="0" y="0"/>
                  </a:moveTo>
                  <a:lnTo>
                    <a:pt x="86044704" y="0"/>
                  </a:lnTo>
                  <a:lnTo>
                    <a:pt x="86044704" y="10239350"/>
                  </a:lnTo>
                  <a:lnTo>
                    <a:pt x="0" y="10239350"/>
                  </a:lnTo>
                  <a:lnTo>
                    <a:pt x="0" y="0"/>
                  </a:lnTo>
                  <a:close/>
                </a:path>
              </a:pathLst>
            </a:custGeom>
            <a:solidFill>
              <a:srgbClr val="AA9E95"/>
            </a:solidFill>
          </p:spPr>
          <p:txBody>
            <a:bodyPr/>
            <a:lstStyle/>
            <a:p>
              <a:endParaRPr lang="en-IN"/>
            </a:p>
          </p:txBody>
        </p:sp>
        <p:sp>
          <p:nvSpPr>
            <p:cNvPr id="7" name="Freeform 7"/>
            <p:cNvSpPr/>
            <p:nvPr/>
          </p:nvSpPr>
          <p:spPr>
            <a:xfrm>
              <a:off x="0" y="0"/>
              <a:ext cx="86189480" cy="10384130"/>
            </a:xfrm>
            <a:custGeom>
              <a:avLst/>
              <a:gdLst/>
              <a:ahLst/>
              <a:cxnLst/>
              <a:rect l="l" t="t" r="r" b="b"/>
              <a:pathLst>
                <a:path w="86189480" h="10384130">
                  <a:moveTo>
                    <a:pt x="86044701" y="10239350"/>
                  </a:moveTo>
                  <a:lnTo>
                    <a:pt x="86189480" y="10239350"/>
                  </a:lnTo>
                  <a:lnTo>
                    <a:pt x="86189480" y="10384130"/>
                  </a:lnTo>
                  <a:lnTo>
                    <a:pt x="86044701" y="10384130"/>
                  </a:lnTo>
                  <a:lnTo>
                    <a:pt x="86044701" y="10239350"/>
                  </a:lnTo>
                  <a:close/>
                  <a:moveTo>
                    <a:pt x="0" y="144780"/>
                  </a:moveTo>
                  <a:lnTo>
                    <a:pt x="144780" y="144780"/>
                  </a:lnTo>
                  <a:lnTo>
                    <a:pt x="144780" y="10239350"/>
                  </a:lnTo>
                  <a:lnTo>
                    <a:pt x="0" y="10239350"/>
                  </a:lnTo>
                  <a:lnTo>
                    <a:pt x="0" y="144780"/>
                  </a:lnTo>
                  <a:close/>
                  <a:moveTo>
                    <a:pt x="0" y="10239350"/>
                  </a:moveTo>
                  <a:lnTo>
                    <a:pt x="144780" y="10239350"/>
                  </a:lnTo>
                  <a:lnTo>
                    <a:pt x="144780" y="10384130"/>
                  </a:lnTo>
                  <a:lnTo>
                    <a:pt x="0" y="10384130"/>
                  </a:lnTo>
                  <a:lnTo>
                    <a:pt x="0" y="10239350"/>
                  </a:lnTo>
                  <a:close/>
                  <a:moveTo>
                    <a:pt x="86044701" y="144780"/>
                  </a:moveTo>
                  <a:lnTo>
                    <a:pt x="86189480" y="144780"/>
                  </a:lnTo>
                  <a:lnTo>
                    <a:pt x="86189480" y="10239350"/>
                  </a:lnTo>
                  <a:lnTo>
                    <a:pt x="86044701" y="10239350"/>
                  </a:lnTo>
                  <a:lnTo>
                    <a:pt x="86044701" y="144780"/>
                  </a:lnTo>
                  <a:close/>
                  <a:moveTo>
                    <a:pt x="144780" y="10239350"/>
                  </a:moveTo>
                  <a:lnTo>
                    <a:pt x="86044701" y="10239350"/>
                  </a:lnTo>
                  <a:lnTo>
                    <a:pt x="86044701" y="10384130"/>
                  </a:lnTo>
                  <a:lnTo>
                    <a:pt x="144780" y="10384130"/>
                  </a:lnTo>
                  <a:lnTo>
                    <a:pt x="144780" y="10239350"/>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AA9E95"/>
            </a:solidFill>
          </p:spPr>
          <p:txBody>
            <a:bodyPr/>
            <a:lstStyle/>
            <a:p>
              <a:endParaRPr lang="en-IN"/>
            </a:p>
          </p:txBody>
        </p:sp>
      </p:grpSp>
      <p:grpSp>
        <p:nvGrpSpPr>
          <p:cNvPr id="8" name="Group 8"/>
          <p:cNvGrpSpPr/>
          <p:nvPr/>
        </p:nvGrpSpPr>
        <p:grpSpPr>
          <a:xfrm>
            <a:off x="1028700" y="763294"/>
            <a:ext cx="16230600" cy="1348304"/>
            <a:chOff x="0" y="0"/>
            <a:chExt cx="4653345" cy="386561"/>
          </a:xfrm>
        </p:grpSpPr>
        <p:sp>
          <p:nvSpPr>
            <p:cNvPr id="9" name="Freeform 9"/>
            <p:cNvSpPr/>
            <p:nvPr/>
          </p:nvSpPr>
          <p:spPr>
            <a:xfrm>
              <a:off x="0" y="0"/>
              <a:ext cx="4653345" cy="386561"/>
            </a:xfrm>
            <a:custGeom>
              <a:avLst/>
              <a:gdLst/>
              <a:ahLst/>
              <a:cxnLst/>
              <a:rect l="l" t="t" r="r" b="b"/>
              <a:pathLst>
                <a:path w="4653345" h="386561">
                  <a:moveTo>
                    <a:pt x="47700" y="0"/>
                  </a:moveTo>
                  <a:lnTo>
                    <a:pt x="4605645" y="0"/>
                  </a:lnTo>
                  <a:cubicBezTo>
                    <a:pt x="4618296" y="0"/>
                    <a:pt x="4630428" y="5025"/>
                    <a:pt x="4639374" y="13971"/>
                  </a:cubicBezTo>
                  <a:cubicBezTo>
                    <a:pt x="4648319" y="22916"/>
                    <a:pt x="4653345" y="35049"/>
                    <a:pt x="4653345" y="47700"/>
                  </a:cubicBezTo>
                  <a:lnTo>
                    <a:pt x="4653345" y="338862"/>
                  </a:lnTo>
                  <a:cubicBezTo>
                    <a:pt x="4653345" y="351512"/>
                    <a:pt x="4648319" y="363645"/>
                    <a:pt x="4639374" y="372590"/>
                  </a:cubicBezTo>
                  <a:cubicBezTo>
                    <a:pt x="4630428" y="381536"/>
                    <a:pt x="4618296" y="386561"/>
                    <a:pt x="4605645" y="386561"/>
                  </a:cubicBezTo>
                  <a:lnTo>
                    <a:pt x="47700" y="386561"/>
                  </a:lnTo>
                  <a:cubicBezTo>
                    <a:pt x="35049" y="386561"/>
                    <a:pt x="22916" y="381536"/>
                    <a:pt x="13971" y="372590"/>
                  </a:cubicBezTo>
                  <a:cubicBezTo>
                    <a:pt x="5025" y="363645"/>
                    <a:pt x="0" y="351512"/>
                    <a:pt x="0" y="338862"/>
                  </a:cubicBezTo>
                  <a:lnTo>
                    <a:pt x="0" y="47700"/>
                  </a:lnTo>
                  <a:cubicBezTo>
                    <a:pt x="0" y="35049"/>
                    <a:pt x="5025" y="22916"/>
                    <a:pt x="13971" y="13971"/>
                  </a:cubicBezTo>
                  <a:cubicBezTo>
                    <a:pt x="22916" y="5025"/>
                    <a:pt x="35049" y="0"/>
                    <a:pt x="47700" y="0"/>
                  </a:cubicBezTo>
                  <a:close/>
                </a:path>
              </a:pathLst>
            </a:custGeom>
            <a:solidFill>
              <a:srgbClr val="F6F6F6"/>
            </a:solidFill>
            <a:ln w="23812" cap="rnd">
              <a:solidFill>
                <a:srgbClr val="F5F4F2"/>
              </a:solidFill>
              <a:prstDash val="solid"/>
              <a:round/>
            </a:ln>
          </p:spPr>
          <p:txBody>
            <a:bodyPr/>
            <a:lstStyle/>
            <a:p>
              <a:endParaRPr lang="en-IN"/>
            </a:p>
          </p:txBody>
        </p:sp>
        <p:sp>
          <p:nvSpPr>
            <p:cNvPr id="10" name="TextBox 10"/>
            <p:cNvSpPr txBox="1"/>
            <p:nvPr/>
          </p:nvSpPr>
          <p:spPr>
            <a:xfrm>
              <a:off x="0" y="-28575"/>
              <a:ext cx="4653345" cy="415136"/>
            </a:xfrm>
            <a:prstGeom prst="rect">
              <a:avLst/>
            </a:prstGeom>
          </p:spPr>
          <p:txBody>
            <a:bodyPr lIns="63000" tIns="63000" rIns="63000" bIns="63000" rtlCol="0" anchor="ctr"/>
            <a:lstStyle/>
            <a:p>
              <a:pPr algn="ctr">
                <a:lnSpc>
                  <a:spcPts val="2430"/>
                </a:lnSpc>
                <a:spcBef>
                  <a:spcPct val="0"/>
                </a:spcBef>
              </a:pPr>
              <a:endParaRPr/>
            </a:p>
          </p:txBody>
        </p:sp>
      </p:grpSp>
      <p:sp>
        <p:nvSpPr>
          <p:cNvPr id="11" name="TextBox 11"/>
          <p:cNvSpPr txBox="1"/>
          <p:nvPr/>
        </p:nvSpPr>
        <p:spPr>
          <a:xfrm>
            <a:off x="2949099" y="988788"/>
            <a:ext cx="12389802" cy="1659255"/>
          </a:xfrm>
          <a:prstGeom prst="rect">
            <a:avLst/>
          </a:prstGeom>
        </p:spPr>
        <p:txBody>
          <a:bodyPr lIns="0" tIns="0" rIns="0" bIns="0" rtlCol="0" anchor="t">
            <a:spAutoFit/>
          </a:bodyPr>
          <a:lstStyle/>
          <a:p>
            <a:pPr algn="ctr">
              <a:lnSpc>
                <a:spcPts val="6719"/>
              </a:lnSpc>
            </a:pPr>
            <a:r>
              <a:rPr lang="en-US" sz="4800" b="1">
                <a:solidFill>
                  <a:srgbClr val="8F847B"/>
                </a:solidFill>
                <a:latin typeface="Quicksand Bold"/>
                <a:ea typeface="Quicksand Bold"/>
                <a:cs typeface="Quicksand Bold"/>
                <a:sym typeface="Quicksand Bold"/>
              </a:rPr>
              <a:t>DATASET ANALYSIS SUMMARY </a:t>
            </a:r>
          </a:p>
          <a:p>
            <a:pPr algn="ctr">
              <a:lnSpc>
                <a:spcPts val="6719"/>
              </a:lnSpc>
            </a:pPr>
            <a:endParaRPr lang="en-US" sz="4800" b="1">
              <a:solidFill>
                <a:srgbClr val="8F847B"/>
              </a:solidFill>
              <a:latin typeface="Quicksand Bold"/>
              <a:ea typeface="Quicksand Bold"/>
              <a:cs typeface="Quicksand Bold"/>
              <a:sym typeface="Quicksand Bold"/>
            </a:endParaRPr>
          </a:p>
        </p:txBody>
      </p:sp>
      <p:sp>
        <p:nvSpPr>
          <p:cNvPr id="12" name="TextBox 12"/>
          <p:cNvSpPr txBox="1"/>
          <p:nvPr/>
        </p:nvSpPr>
        <p:spPr>
          <a:xfrm>
            <a:off x="581611" y="2590893"/>
            <a:ext cx="17295417" cy="8887867"/>
          </a:xfrm>
          <a:prstGeom prst="rect">
            <a:avLst/>
          </a:prstGeom>
        </p:spPr>
        <p:txBody>
          <a:bodyPr lIns="0" tIns="0" rIns="0" bIns="0" rtlCol="0" anchor="t">
            <a:spAutoFit/>
          </a:bodyPr>
          <a:lstStyle/>
          <a:p>
            <a:pPr algn="just">
              <a:lnSpc>
                <a:spcPts val="4142"/>
              </a:lnSpc>
            </a:pPr>
            <a:r>
              <a:rPr lang="en-US" sz="2958" dirty="0">
                <a:solidFill>
                  <a:srgbClr val="2B2B2B"/>
                </a:solidFill>
                <a:latin typeface="Canva Sans"/>
                <a:ea typeface="Canva Sans"/>
                <a:cs typeface="Canva Sans"/>
                <a:sym typeface="Canva Sans"/>
              </a:rPr>
              <a:t>1.</a:t>
            </a:r>
            <a:r>
              <a:rPr lang="en-US" sz="2958" b="1" dirty="0">
                <a:solidFill>
                  <a:srgbClr val="2B2B2B"/>
                </a:solidFill>
                <a:latin typeface="Canva Sans"/>
                <a:ea typeface="Canva Sans"/>
                <a:cs typeface="Canva Sans"/>
                <a:sym typeface="Canva Sans"/>
              </a:rPr>
              <a:t>Number of Records: </a:t>
            </a:r>
            <a:r>
              <a:rPr lang="en-US" sz="2958" dirty="0">
                <a:solidFill>
                  <a:srgbClr val="2B2B2B"/>
                </a:solidFill>
                <a:latin typeface="Canva Sans"/>
                <a:ea typeface="Canva Sans"/>
                <a:cs typeface="Canva Sans"/>
                <a:sym typeface="Canva Sans"/>
              </a:rPr>
              <a:t>5,572</a:t>
            </a:r>
          </a:p>
          <a:p>
            <a:pPr algn="just">
              <a:lnSpc>
                <a:spcPts val="4142"/>
              </a:lnSpc>
            </a:pPr>
            <a:r>
              <a:rPr lang="en-US" sz="2958" dirty="0">
                <a:solidFill>
                  <a:srgbClr val="2B2B2B"/>
                </a:solidFill>
                <a:latin typeface="Canva Sans"/>
                <a:ea typeface="Canva Sans"/>
                <a:cs typeface="Canva Sans"/>
                <a:sym typeface="Canva Sans"/>
              </a:rPr>
              <a:t>2. </a:t>
            </a:r>
            <a:r>
              <a:rPr lang="en-US" sz="2958" b="1" dirty="0">
                <a:solidFill>
                  <a:srgbClr val="2B2B2B"/>
                </a:solidFill>
                <a:latin typeface="Canva Sans"/>
                <a:ea typeface="Canva Sans"/>
                <a:cs typeface="Canva Sans"/>
                <a:sym typeface="Canva Sans"/>
              </a:rPr>
              <a:t>Number of Features:</a:t>
            </a:r>
          </a:p>
          <a:p>
            <a:pPr algn="just">
              <a:lnSpc>
                <a:spcPts val="4142"/>
              </a:lnSpc>
            </a:pPr>
            <a:r>
              <a:rPr lang="en-US" sz="2958" dirty="0">
                <a:solidFill>
                  <a:srgbClr val="2B2B2B"/>
                </a:solidFill>
                <a:latin typeface="Canva Sans"/>
                <a:ea typeface="Canva Sans"/>
                <a:cs typeface="Canva Sans"/>
                <a:sym typeface="Canva Sans"/>
              </a:rPr>
              <a:t>    • label → category: ham or spam</a:t>
            </a:r>
          </a:p>
          <a:p>
            <a:pPr algn="just">
              <a:lnSpc>
                <a:spcPts val="4142"/>
              </a:lnSpc>
            </a:pPr>
            <a:r>
              <a:rPr lang="en-US" sz="2958" dirty="0">
                <a:solidFill>
                  <a:srgbClr val="2B2B2B"/>
                </a:solidFill>
                <a:latin typeface="Canva Sans"/>
                <a:ea typeface="Canva Sans"/>
                <a:cs typeface="Canva Sans"/>
                <a:sym typeface="Canva Sans"/>
              </a:rPr>
              <a:t>    • message → text of the email/SMS </a:t>
            </a:r>
          </a:p>
          <a:p>
            <a:pPr algn="just">
              <a:lnSpc>
                <a:spcPts val="4142"/>
              </a:lnSpc>
            </a:pPr>
            <a:r>
              <a:rPr lang="en-US" sz="2958" dirty="0">
                <a:solidFill>
                  <a:srgbClr val="2B2B2B"/>
                </a:solidFill>
                <a:latin typeface="Canva Sans"/>
                <a:ea typeface="Canva Sans"/>
                <a:cs typeface="Canva Sans"/>
                <a:sym typeface="Canva Sans"/>
              </a:rPr>
              <a:t>3. </a:t>
            </a:r>
            <a:r>
              <a:rPr lang="en-US" sz="2958" b="1" dirty="0">
                <a:solidFill>
                  <a:srgbClr val="2B2B2B"/>
                </a:solidFill>
                <a:latin typeface="Canva Sans"/>
                <a:ea typeface="Canva Sans"/>
                <a:cs typeface="Canva Sans"/>
                <a:sym typeface="Canva Sans"/>
              </a:rPr>
              <a:t>Class Distribution:</a:t>
            </a:r>
          </a:p>
          <a:p>
            <a:pPr algn="just">
              <a:lnSpc>
                <a:spcPts val="4142"/>
              </a:lnSpc>
            </a:pPr>
            <a:r>
              <a:rPr lang="en-US" sz="2958" dirty="0">
                <a:solidFill>
                  <a:srgbClr val="2B2B2B"/>
                </a:solidFill>
                <a:latin typeface="Canva Sans"/>
                <a:ea typeface="Canva Sans"/>
                <a:cs typeface="Canva Sans"/>
                <a:sym typeface="Canva Sans"/>
              </a:rPr>
              <a:t>    • Ham (not spam): 4,825 (≈ 86%)</a:t>
            </a:r>
          </a:p>
          <a:p>
            <a:pPr algn="just">
              <a:lnSpc>
                <a:spcPts val="4142"/>
              </a:lnSpc>
            </a:pPr>
            <a:r>
              <a:rPr lang="en-US" sz="2958" dirty="0">
                <a:solidFill>
                  <a:srgbClr val="2B2B2B"/>
                </a:solidFill>
                <a:latin typeface="Canva Sans"/>
                <a:ea typeface="Canva Sans"/>
                <a:cs typeface="Canva Sans"/>
                <a:sym typeface="Canva Sans"/>
              </a:rPr>
              <a:t>    • Spam: 747 (≈ 14%)</a:t>
            </a:r>
          </a:p>
          <a:p>
            <a:pPr algn="just">
              <a:lnSpc>
                <a:spcPts val="4142"/>
              </a:lnSpc>
            </a:pPr>
            <a:r>
              <a:rPr lang="en-US" sz="2958" dirty="0">
                <a:solidFill>
                  <a:srgbClr val="2B2B2B"/>
                </a:solidFill>
                <a:latin typeface="Canva Sans"/>
                <a:ea typeface="Canva Sans"/>
                <a:cs typeface="Canva Sans"/>
                <a:sym typeface="Canva Sans"/>
              </a:rPr>
              <a:t>4.</a:t>
            </a:r>
            <a:r>
              <a:rPr lang="en-US" sz="2958" b="1" dirty="0">
                <a:solidFill>
                  <a:srgbClr val="2B2B2B"/>
                </a:solidFill>
                <a:latin typeface="Canva Sans"/>
                <a:ea typeface="Canva Sans"/>
                <a:cs typeface="Canva Sans"/>
                <a:sym typeface="Canva Sans"/>
              </a:rPr>
              <a:t>Balanced or Not: </a:t>
            </a:r>
            <a:r>
              <a:rPr lang="en-US" sz="2958" dirty="0">
                <a:solidFill>
                  <a:srgbClr val="2B2B2B"/>
                </a:solidFill>
                <a:latin typeface="Canva Sans"/>
                <a:ea typeface="Canva Sans"/>
                <a:cs typeface="Canva Sans"/>
                <a:sym typeface="Canva Sans"/>
              </a:rPr>
              <a:t>Not balanced → dataset is skewed toward ham messages.</a:t>
            </a:r>
          </a:p>
          <a:p>
            <a:pPr algn="just">
              <a:lnSpc>
                <a:spcPts val="4142"/>
              </a:lnSpc>
            </a:pPr>
            <a:r>
              <a:rPr lang="en-US" sz="2958" dirty="0">
                <a:solidFill>
                  <a:srgbClr val="2B2B2B"/>
                </a:solidFill>
                <a:latin typeface="Canva Sans"/>
                <a:ea typeface="Canva Sans"/>
                <a:cs typeface="Canva Sans"/>
                <a:sym typeface="Canva Sans"/>
              </a:rPr>
              <a:t>5.</a:t>
            </a:r>
            <a:r>
              <a:rPr lang="en-US" sz="2958" b="1" dirty="0">
                <a:solidFill>
                  <a:srgbClr val="2B2B2B"/>
                </a:solidFill>
                <a:latin typeface="Canva Sans"/>
                <a:ea typeface="Canva Sans"/>
                <a:cs typeface="Canva Sans"/>
                <a:sym typeface="Canva Sans"/>
              </a:rPr>
              <a:t>Source:</a:t>
            </a:r>
          </a:p>
          <a:p>
            <a:pPr algn="l">
              <a:lnSpc>
                <a:spcPts val="4142"/>
              </a:lnSpc>
            </a:pPr>
            <a:r>
              <a:rPr lang="en-US" sz="2958" dirty="0">
                <a:solidFill>
                  <a:srgbClr val="2B2B2B"/>
                </a:solidFill>
                <a:latin typeface="Canva Sans"/>
                <a:ea typeface="Canva Sans"/>
                <a:cs typeface="Canva Sans"/>
                <a:sym typeface="Canva Sans"/>
              </a:rPr>
              <a:t> Created by Tiago A. Almeida and José María Gómez Hidalgo at the University of São Paulo,     2021.</a:t>
            </a:r>
          </a:p>
          <a:p>
            <a:pPr algn="l">
              <a:lnSpc>
                <a:spcPts val="4142"/>
              </a:lnSpc>
            </a:pPr>
            <a:r>
              <a:rPr lang="en-US" sz="2958" dirty="0">
                <a:solidFill>
                  <a:srgbClr val="2B2B2B"/>
                </a:solidFill>
                <a:latin typeface="Canva Sans"/>
                <a:ea typeface="Canva Sans"/>
                <a:cs typeface="Canva Sans"/>
                <a:sym typeface="Canva Sans"/>
              </a:rPr>
              <a:t>   •Naive Bayes → ~97.5% accuracy</a:t>
            </a:r>
          </a:p>
          <a:p>
            <a:pPr algn="l">
              <a:lnSpc>
                <a:spcPts val="4142"/>
              </a:lnSpc>
            </a:pPr>
            <a:r>
              <a:rPr lang="en-US" sz="2958" dirty="0">
                <a:solidFill>
                  <a:srgbClr val="2B2B2B"/>
                </a:solidFill>
                <a:latin typeface="Canva Sans"/>
                <a:ea typeface="Canva Sans"/>
                <a:cs typeface="Canva Sans"/>
                <a:sym typeface="Canva Sans"/>
              </a:rPr>
              <a:t>   •Support Vector Machines (SVM) → ~96.7% accuracy</a:t>
            </a:r>
          </a:p>
          <a:p>
            <a:pPr algn="l">
              <a:lnSpc>
                <a:spcPts val="4142"/>
              </a:lnSpc>
            </a:pPr>
            <a:r>
              <a:rPr lang="en-US" sz="2958" dirty="0">
                <a:solidFill>
                  <a:srgbClr val="2B2B2B"/>
                </a:solidFill>
                <a:latin typeface="Canva Sans"/>
                <a:ea typeface="Canva Sans"/>
                <a:cs typeface="Canva Sans"/>
                <a:sym typeface="Canva Sans"/>
              </a:rPr>
              <a:t>   •Decision Trees → ~95% accuracy</a:t>
            </a:r>
          </a:p>
          <a:p>
            <a:pPr algn="l">
              <a:lnSpc>
                <a:spcPts val="4142"/>
              </a:lnSpc>
            </a:pPr>
            <a:endParaRPr lang="en-US" sz="2958" dirty="0">
              <a:solidFill>
                <a:srgbClr val="2B2B2B"/>
              </a:solidFill>
              <a:latin typeface="Canva Sans"/>
              <a:ea typeface="Canva Sans"/>
              <a:cs typeface="Canva Sans"/>
              <a:sym typeface="Canva Sans"/>
            </a:endParaRPr>
          </a:p>
          <a:p>
            <a:pPr algn="just">
              <a:lnSpc>
                <a:spcPts val="4142"/>
              </a:lnSpc>
            </a:pPr>
            <a:endParaRPr lang="en-US" sz="2958" dirty="0">
              <a:solidFill>
                <a:srgbClr val="2B2B2B"/>
              </a:solidFill>
              <a:latin typeface="Canva Sans"/>
              <a:ea typeface="Canva Sans"/>
              <a:cs typeface="Canva Sans"/>
              <a:sym typeface="Canva Sans"/>
            </a:endParaRPr>
          </a:p>
          <a:p>
            <a:pPr algn="just">
              <a:lnSpc>
                <a:spcPts val="4142"/>
              </a:lnSpc>
            </a:pPr>
            <a:endParaRPr lang="en-US" sz="2958" dirty="0">
              <a:solidFill>
                <a:srgbClr val="2B2B2B"/>
              </a:solidFill>
              <a:latin typeface="Canva Sans"/>
              <a:ea typeface="Canva Sans"/>
              <a:cs typeface="Canva Sans"/>
              <a:sym typeface="Canva Sans"/>
            </a:endParaRPr>
          </a:p>
        </p:txBody>
      </p:sp>
      <p:sp>
        <p:nvSpPr>
          <p:cNvPr id="13" name="Freeform 13"/>
          <p:cNvSpPr/>
          <p:nvPr/>
        </p:nvSpPr>
        <p:spPr>
          <a:xfrm>
            <a:off x="1564971" y="898503"/>
            <a:ext cx="1224869" cy="1077885"/>
          </a:xfrm>
          <a:custGeom>
            <a:avLst/>
            <a:gdLst/>
            <a:ahLst/>
            <a:cxnLst/>
            <a:rect l="l" t="t" r="r" b="b"/>
            <a:pathLst>
              <a:path w="1224869" h="1077885">
                <a:moveTo>
                  <a:pt x="0" y="0"/>
                </a:moveTo>
                <a:lnTo>
                  <a:pt x="1224869" y="0"/>
                </a:lnTo>
                <a:lnTo>
                  <a:pt x="1224869" y="1077885"/>
                </a:lnTo>
                <a:lnTo>
                  <a:pt x="0" y="107788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7D6C8"/>
        </a:solidFill>
        <a:effectLst/>
      </p:bgPr>
    </p:bg>
    <p:spTree>
      <p:nvGrpSpPr>
        <p:cNvPr id="1" name=""/>
        <p:cNvGrpSpPr/>
        <p:nvPr/>
      </p:nvGrpSpPr>
      <p:grpSpPr>
        <a:xfrm>
          <a:off x="0" y="0"/>
          <a:ext cx="0" cy="0"/>
          <a:chOff x="0" y="0"/>
          <a:chExt cx="0" cy="0"/>
        </a:xfrm>
      </p:grpSpPr>
      <p:grpSp>
        <p:nvGrpSpPr>
          <p:cNvPr id="2" name="Group 2"/>
          <p:cNvGrpSpPr/>
          <p:nvPr/>
        </p:nvGrpSpPr>
        <p:grpSpPr>
          <a:xfrm>
            <a:off x="401447" y="385288"/>
            <a:ext cx="17466056" cy="9516424"/>
            <a:chOff x="0" y="0"/>
            <a:chExt cx="86189481" cy="46960552"/>
          </a:xfrm>
        </p:grpSpPr>
        <p:sp>
          <p:nvSpPr>
            <p:cNvPr id="3" name="Freeform 3"/>
            <p:cNvSpPr/>
            <p:nvPr/>
          </p:nvSpPr>
          <p:spPr>
            <a:xfrm>
              <a:off x="72390" y="72390"/>
              <a:ext cx="86044704" cy="46815771"/>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F5F4F2"/>
            </a:solidFill>
          </p:spPr>
          <p:txBody>
            <a:bodyPr/>
            <a:lstStyle/>
            <a:p>
              <a:endParaRPr lang="en-IN"/>
            </a:p>
          </p:txBody>
        </p:sp>
        <p:sp>
          <p:nvSpPr>
            <p:cNvPr id="4" name="Freeform 4"/>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F4F4F4"/>
            </a:solidFill>
          </p:spPr>
          <p:txBody>
            <a:bodyPr/>
            <a:lstStyle/>
            <a:p>
              <a:endParaRPr lang="en-IN"/>
            </a:p>
          </p:txBody>
        </p:sp>
      </p:grpSp>
      <p:grpSp>
        <p:nvGrpSpPr>
          <p:cNvPr id="5" name="Group 5"/>
          <p:cNvGrpSpPr/>
          <p:nvPr/>
        </p:nvGrpSpPr>
        <p:grpSpPr>
          <a:xfrm>
            <a:off x="410972" y="385288"/>
            <a:ext cx="17466056" cy="2104315"/>
            <a:chOff x="0" y="0"/>
            <a:chExt cx="86189481" cy="10384130"/>
          </a:xfrm>
        </p:grpSpPr>
        <p:sp>
          <p:nvSpPr>
            <p:cNvPr id="6" name="Freeform 6"/>
            <p:cNvSpPr/>
            <p:nvPr/>
          </p:nvSpPr>
          <p:spPr>
            <a:xfrm>
              <a:off x="72390" y="72390"/>
              <a:ext cx="86044704" cy="10239350"/>
            </a:xfrm>
            <a:custGeom>
              <a:avLst/>
              <a:gdLst/>
              <a:ahLst/>
              <a:cxnLst/>
              <a:rect l="l" t="t" r="r" b="b"/>
              <a:pathLst>
                <a:path w="86044704" h="10239350">
                  <a:moveTo>
                    <a:pt x="0" y="0"/>
                  </a:moveTo>
                  <a:lnTo>
                    <a:pt x="86044704" y="0"/>
                  </a:lnTo>
                  <a:lnTo>
                    <a:pt x="86044704" y="10239350"/>
                  </a:lnTo>
                  <a:lnTo>
                    <a:pt x="0" y="10239350"/>
                  </a:lnTo>
                  <a:lnTo>
                    <a:pt x="0" y="0"/>
                  </a:lnTo>
                  <a:close/>
                </a:path>
              </a:pathLst>
            </a:custGeom>
            <a:solidFill>
              <a:srgbClr val="BBADA2"/>
            </a:solidFill>
          </p:spPr>
          <p:txBody>
            <a:bodyPr/>
            <a:lstStyle/>
            <a:p>
              <a:endParaRPr lang="en-IN"/>
            </a:p>
          </p:txBody>
        </p:sp>
        <p:sp>
          <p:nvSpPr>
            <p:cNvPr id="7" name="Freeform 7"/>
            <p:cNvSpPr/>
            <p:nvPr/>
          </p:nvSpPr>
          <p:spPr>
            <a:xfrm>
              <a:off x="0" y="0"/>
              <a:ext cx="86189480" cy="10384130"/>
            </a:xfrm>
            <a:custGeom>
              <a:avLst/>
              <a:gdLst/>
              <a:ahLst/>
              <a:cxnLst/>
              <a:rect l="l" t="t" r="r" b="b"/>
              <a:pathLst>
                <a:path w="86189480" h="10384130">
                  <a:moveTo>
                    <a:pt x="86044701" y="10239350"/>
                  </a:moveTo>
                  <a:lnTo>
                    <a:pt x="86189480" y="10239350"/>
                  </a:lnTo>
                  <a:lnTo>
                    <a:pt x="86189480" y="10384130"/>
                  </a:lnTo>
                  <a:lnTo>
                    <a:pt x="86044701" y="10384130"/>
                  </a:lnTo>
                  <a:lnTo>
                    <a:pt x="86044701" y="10239350"/>
                  </a:lnTo>
                  <a:close/>
                  <a:moveTo>
                    <a:pt x="0" y="144780"/>
                  </a:moveTo>
                  <a:lnTo>
                    <a:pt x="144780" y="144780"/>
                  </a:lnTo>
                  <a:lnTo>
                    <a:pt x="144780" y="10239350"/>
                  </a:lnTo>
                  <a:lnTo>
                    <a:pt x="0" y="10239350"/>
                  </a:lnTo>
                  <a:lnTo>
                    <a:pt x="0" y="144780"/>
                  </a:lnTo>
                  <a:close/>
                  <a:moveTo>
                    <a:pt x="0" y="10239350"/>
                  </a:moveTo>
                  <a:lnTo>
                    <a:pt x="144780" y="10239350"/>
                  </a:lnTo>
                  <a:lnTo>
                    <a:pt x="144780" y="10384130"/>
                  </a:lnTo>
                  <a:lnTo>
                    <a:pt x="0" y="10384130"/>
                  </a:lnTo>
                  <a:lnTo>
                    <a:pt x="0" y="10239350"/>
                  </a:lnTo>
                  <a:close/>
                  <a:moveTo>
                    <a:pt x="86044701" y="144780"/>
                  </a:moveTo>
                  <a:lnTo>
                    <a:pt x="86189480" y="144780"/>
                  </a:lnTo>
                  <a:lnTo>
                    <a:pt x="86189480" y="10239350"/>
                  </a:lnTo>
                  <a:lnTo>
                    <a:pt x="86044701" y="10239350"/>
                  </a:lnTo>
                  <a:lnTo>
                    <a:pt x="86044701" y="144780"/>
                  </a:lnTo>
                  <a:close/>
                  <a:moveTo>
                    <a:pt x="144780" y="10239350"/>
                  </a:moveTo>
                  <a:lnTo>
                    <a:pt x="86044701" y="10239350"/>
                  </a:lnTo>
                  <a:lnTo>
                    <a:pt x="86044701" y="10384130"/>
                  </a:lnTo>
                  <a:lnTo>
                    <a:pt x="144780" y="10384130"/>
                  </a:lnTo>
                  <a:lnTo>
                    <a:pt x="144780" y="10239350"/>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BBADA2"/>
            </a:solidFill>
          </p:spPr>
          <p:txBody>
            <a:bodyPr/>
            <a:lstStyle/>
            <a:p>
              <a:endParaRPr lang="en-IN"/>
            </a:p>
          </p:txBody>
        </p:sp>
      </p:grpSp>
      <p:grpSp>
        <p:nvGrpSpPr>
          <p:cNvPr id="8" name="Group 8"/>
          <p:cNvGrpSpPr/>
          <p:nvPr/>
        </p:nvGrpSpPr>
        <p:grpSpPr>
          <a:xfrm>
            <a:off x="1028700" y="763294"/>
            <a:ext cx="16230600" cy="1348304"/>
            <a:chOff x="0" y="0"/>
            <a:chExt cx="4653345" cy="386561"/>
          </a:xfrm>
        </p:grpSpPr>
        <p:sp>
          <p:nvSpPr>
            <p:cNvPr id="9" name="Freeform 9"/>
            <p:cNvSpPr/>
            <p:nvPr/>
          </p:nvSpPr>
          <p:spPr>
            <a:xfrm>
              <a:off x="0" y="0"/>
              <a:ext cx="4653345" cy="386561"/>
            </a:xfrm>
            <a:custGeom>
              <a:avLst/>
              <a:gdLst/>
              <a:ahLst/>
              <a:cxnLst/>
              <a:rect l="l" t="t" r="r" b="b"/>
              <a:pathLst>
                <a:path w="4653345" h="386561">
                  <a:moveTo>
                    <a:pt x="47700" y="0"/>
                  </a:moveTo>
                  <a:lnTo>
                    <a:pt x="4605645" y="0"/>
                  </a:lnTo>
                  <a:cubicBezTo>
                    <a:pt x="4618296" y="0"/>
                    <a:pt x="4630428" y="5025"/>
                    <a:pt x="4639374" y="13971"/>
                  </a:cubicBezTo>
                  <a:cubicBezTo>
                    <a:pt x="4648319" y="22916"/>
                    <a:pt x="4653345" y="35049"/>
                    <a:pt x="4653345" y="47700"/>
                  </a:cubicBezTo>
                  <a:lnTo>
                    <a:pt x="4653345" y="338862"/>
                  </a:lnTo>
                  <a:cubicBezTo>
                    <a:pt x="4653345" y="351512"/>
                    <a:pt x="4648319" y="363645"/>
                    <a:pt x="4639374" y="372590"/>
                  </a:cubicBezTo>
                  <a:cubicBezTo>
                    <a:pt x="4630428" y="381536"/>
                    <a:pt x="4618296" y="386561"/>
                    <a:pt x="4605645" y="386561"/>
                  </a:cubicBezTo>
                  <a:lnTo>
                    <a:pt x="47700" y="386561"/>
                  </a:lnTo>
                  <a:cubicBezTo>
                    <a:pt x="35049" y="386561"/>
                    <a:pt x="22916" y="381536"/>
                    <a:pt x="13971" y="372590"/>
                  </a:cubicBezTo>
                  <a:cubicBezTo>
                    <a:pt x="5025" y="363645"/>
                    <a:pt x="0" y="351512"/>
                    <a:pt x="0" y="338862"/>
                  </a:cubicBezTo>
                  <a:lnTo>
                    <a:pt x="0" y="47700"/>
                  </a:lnTo>
                  <a:cubicBezTo>
                    <a:pt x="0" y="35049"/>
                    <a:pt x="5025" y="22916"/>
                    <a:pt x="13971" y="13971"/>
                  </a:cubicBezTo>
                  <a:cubicBezTo>
                    <a:pt x="22916" y="5025"/>
                    <a:pt x="35049" y="0"/>
                    <a:pt x="47700" y="0"/>
                  </a:cubicBezTo>
                  <a:close/>
                </a:path>
              </a:pathLst>
            </a:custGeom>
            <a:solidFill>
              <a:srgbClr val="F4F4F4"/>
            </a:solidFill>
            <a:ln w="23812" cap="rnd">
              <a:solidFill>
                <a:srgbClr val="F5F4F2"/>
              </a:solidFill>
              <a:prstDash val="solid"/>
              <a:round/>
            </a:ln>
          </p:spPr>
          <p:txBody>
            <a:bodyPr/>
            <a:lstStyle/>
            <a:p>
              <a:endParaRPr lang="en-IN"/>
            </a:p>
          </p:txBody>
        </p:sp>
        <p:sp>
          <p:nvSpPr>
            <p:cNvPr id="10" name="TextBox 10"/>
            <p:cNvSpPr txBox="1"/>
            <p:nvPr/>
          </p:nvSpPr>
          <p:spPr>
            <a:xfrm>
              <a:off x="0" y="-28575"/>
              <a:ext cx="4653345" cy="415136"/>
            </a:xfrm>
            <a:prstGeom prst="rect">
              <a:avLst/>
            </a:prstGeom>
          </p:spPr>
          <p:txBody>
            <a:bodyPr lIns="63000" tIns="63000" rIns="63000" bIns="63000" rtlCol="0" anchor="ctr"/>
            <a:lstStyle/>
            <a:p>
              <a:pPr algn="ctr">
                <a:lnSpc>
                  <a:spcPts val="2430"/>
                </a:lnSpc>
                <a:spcBef>
                  <a:spcPct val="0"/>
                </a:spcBef>
              </a:pPr>
              <a:endParaRPr/>
            </a:p>
          </p:txBody>
        </p:sp>
      </p:grpSp>
      <p:grpSp>
        <p:nvGrpSpPr>
          <p:cNvPr id="11" name="Group 11"/>
          <p:cNvGrpSpPr/>
          <p:nvPr/>
        </p:nvGrpSpPr>
        <p:grpSpPr>
          <a:xfrm>
            <a:off x="401447" y="2489603"/>
            <a:ext cx="17466056" cy="7411931"/>
            <a:chOff x="0" y="0"/>
            <a:chExt cx="4600114" cy="1952113"/>
          </a:xfrm>
        </p:grpSpPr>
        <p:sp>
          <p:nvSpPr>
            <p:cNvPr id="12" name="Freeform 12"/>
            <p:cNvSpPr/>
            <p:nvPr/>
          </p:nvSpPr>
          <p:spPr>
            <a:xfrm>
              <a:off x="0" y="0"/>
              <a:ext cx="4600114" cy="1952113"/>
            </a:xfrm>
            <a:custGeom>
              <a:avLst/>
              <a:gdLst/>
              <a:ahLst/>
              <a:cxnLst/>
              <a:rect l="l" t="t" r="r" b="b"/>
              <a:pathLst>
                <a:path w="4600114" h="1952113">
                  <a:moveTo>
                    <a:pt x="0" y="0"/>
                  </a:moveTo>
                  <a:lnTo>
                    <a:pt x="4600114" y="0"/>
                  </a:lnTo>
                  <a:lnTo>
                    <a:pt x="4600114" y="1952113"/>
                  </a:lnTo>
                  <a:lnTo>
                    <a:pt x="0" y="1952113"/>
                  </a:lnTo>
                  <a:close/>
                </a:path>
              </a:pathLst>
            </a:custGeom>
            <a:solidFill>
              <a:srgbClr val="DDC6C6"/>
            </a:solidFill>
          </p:spPr>
          <p:txBody>
            <a:bodyPr/>
            <a:lstStyle/>
            <a:p>
              <a:endParaRPr lang="en-IN"/>
            </a:p>
          </p:txBody>
        </p:sp>
        <p:sp>
          <p:nvSpPr>
            <p:cNvPr id="13" name="TextBox 13"/>
            <p:cNvSpPr txBox="1"/>
            <p:nvPr/>
          </p:nvSpPr>
          <p:spPr>
            <a:xfrm>
              <a:off x="0" y="-28575"/>
              <a:ext cx="4600114" cy="1980688"/>
            </a:xfrm>
            <a:prstGeom prst="rect">
              <a:avLst/>
            </a:prstGeom>
          </p:spPr>
          <p:txBody>
            <a:bodyPr lIns="50800" tIns="50800" rIns="50800" bIns="50800" rtlCol="0" anchor="ctr"/>
            <a:lstStyle/>
            <a:p>
              <a:pPr algn="ctr">
                <a:lnSpc>
                  <a:spcPts val="2430"/>
                </a:lnSpc>
              </a:pPr>
              <a:endParaRPr/>
            </a:p>
          </p:txBody>
        </p:sp>
      </p:grpSp>
      <p:sp>
        <p:nvSpPr>
          <p:cNvPr id="14" name="Freeform 14"/>
          <p:cNvSpPr/>
          <p:nvPr/>
        </p:nvSpPr>
        <p:spPr>
          <a:xfrm>
            <a:off x="1028700" y="2489603"/>
            <a:ext cx="5069446" cy="3613132"/>
          </a:xfrm>
          <a:custGeom>
            <a:avLst/>
            <a:gdLst/>
            <a:ahLst/>
            <a:cxnLst/>
            <a:rect l="l" t="t" r="r" b="b"/>
            <a:pathLst>
              <a:path w="5069446" h="3613132">
                <a:moveTo>
                  <a:pt x="0" y="0"/>
                </a:moveTo>
                <a:lnTo>
                  <a:pt x="5069446" y="0"/>
                </a:lnTo>
                <a:lnTo>
                  <a:pt x="5069446" y="3613132"/>
                </a:lnTo>
                <a:lnTo>
                  <a:pt x="0" y="36131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5" name="TextBox 15"/>
          <p:cNvSpPr txBox="1"/>
          <p:nvPr/>
        </p:nvSpPr>
        <p:spPr>
          <a:xfrm>
            <a:off x="9139238" y="4819967"/>
            <a:ext cx="9525" cy="580390"/>
          </a:xfrm>
          <a:prstGeom prst="rect">
            <a:avLst/>
          </a:prstGeom>
        </p:spPr>
        <p:txBody>
          <a:bodyPr lIns="0" tIns="0" rIns="0" bIns="0" rtlCol="0" anchor="t">
            <a:spAutoFit/>
          </a:bodyPr>
          <a:lstStyle/>
          <a:p>
            <a:pPr algn="ctr">
              <a:lnSpc>
                <a:spcPts val="4759"/>
              </a:lnSpc>
            </a:pPr>
            <a:endParaRPr/>
          </a:p>
        </p:txBody>
      </p:sp>
      <p:sp>
        <p:nvSpPr>
          <p:cNvPr id="16" name="TextBox 16"/>
          <p:cNvSpPr txBox="1"/>
          <p:nvPr/>
        </p:nvSpPr>
        <p:spPr>
          <a:xfrm>
            <a:off x="9459925" y="9002659"/>
            <a:ext cx="101560" cy="898875"/>
          </a:xfrm>
          <a:prstGeom prst="rect">
            <a:avLst/>
          </a:prstGeom>
        </p:spPr>
        <p:txBody>
          <a:bodyPr lIns="0" tIns="0" rIns="0" bIns="0" rtlCol="0" anchor="t">
            <a:spAutoFit/>
          </a:bodyPr>
          <a:lstStyle/>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p:txBody>
      </p:sp>
      <p:sp>
        <p:nvSpPr>
          <p:cNvPr id="17" name="Freeform 17"/>
          <p:cNvSpPr/>
          <p:nvPr/>
        </p:nvSpPr>
        <p:spPr>
          <a:xfrm>
            <a:off x="6599752" y="2489603"/>
            <a:ext cx="5069446" cy="3613132"/>
          </a:xfrm>
          <a:custGeom>
            <a:avLst/>
            <a:gdLst/>
            <a:ahLst/>
            <a:cxnLst/>
            <a:rect l="l" t="t" r="r" b="b"/>
            <a:pathLst>
              <a:path w="5069446" h="3613132">
                <a:moveTo>
                  <a:pt x="0" y="0"/>
                </a:moveTo>
                <a:lnTo>
                  <a:pt x="5069446" y="0"/>
                </a:lnTo>
                <a:lnTo>
                  <a:pt x="5069446" y="3613132"/>
                </a:lnTo>
                <a:lnTo>
                  <a:pt x="0" y="36131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8" name="Freeform 18"/>
          <p:cNvSpPr/>
          <p:nvPr/>
        </p:nvSpPr>
        <p:spPr>
          <a:xfrm>
            <a:off x="12560838" y="2582436"/>
            <a:ext cx="5069446" cy="3613132"/>
          </a:xfrm>
          <a:custGeom>
            <a:avLst/>
            <a:gdLst/>
            <a:ahLst/>
            <a:cxnLst/>
            <a:rect l="l" t="t" r="r" b="b"/>
            <a:pathLst>
              <a:path w="5069446" h="3613132">
                <a:moveTo>
                  <a:pt x="0" y="0"/>
                </a:moveTo>
                <a:lnTo>
                  <a:pt x="5069445" y="0"/>
                </a:lnTo>
                <a:lnTo>
                  <a:pt x="5069445" y="3613132"/>
                </a:lnTo>
                <a:lnTo>
                  <a:pt x="0" y="36131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9" name="Freeform 19"/>
          <p:cNvSpPr/>
          <p:nvPr/>
        </p:nvSpPr>
        <p:spPr>
          <a:xfrm>
            <a:off x="410972" y="6195568"/>
            <a:ext cx="5069446" cy="3613132"/>
          </a:xfrm>
          <a:custGeom>
            <a:avLst/>
            <a:gdLst/>
            <a:ahLst/>
            <a:cxnLst/>
            <a:rect l="l" t="t" r="r" b="b"/>
            <a:pathLst>
              <a:path w="5069446" h="3613132">
                <a:moveTo>
                  <a:pt x="0" y="0"/>
                </a:moveTo>
                <a:lnTo>
                  <a:pt x="5069446" y="0"/>
                </a:lnTo>
                <a:lnTo>
                  <a:pt x="5069446" y="3613132"/>
                </a:lnTo>
                <a:lnTo>
                  <a:pt x="0" y="36131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0" name="Freeform 20"/>
          <p:cNvSpPr/>
          <p:nvPr/>
        </p:nvSpPr>
        <p:spPr>
          <a:xfrm>
            <a:off x="6599752" y="6195568"/>
            <a:ext cx="5069446" cy="3613132"/>
          </a:xfrm>
          <a:custGeom>
            <a:avLst/>
            <a:gdLst/>
            <a:ahLst/>
            <a:cxnLst/>
            <a:rect l="l" t="t" r="r" b="b"/>
            <a:pathLst>
              <a:path w="5069446" h="3613132">
                <a:moveTo>
                  <a:pt x="0" y="0"/>
                </a:moveTo>
                <a:lnTo>
                  <a:pt x="5069446" y="0"/>
                </a:lnTo>
                <a:lnTo>
                  <a:pt x="5069446" y="3613132"/>
                </a:lnTo>
                <a:lnTo>
                  <a:pt x="0" y="36131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1" name="Freeform 21"/>
          <p:cNvSpPr/>
          <p:nvPr/>
        </p:nvSpPr>
        <p:spPr>
          <a:xfrm>
            <a:off x="12082454" y="6195568"/>
            <a:ext cx="5069446" cy="3613132"/>
          </a:xfrm>
          <a:custGeom>
            <a:avLst/>
            <a:gdLst/>
            <a:ahLst/>
            <a:cxnLst/>
            <a:rect l="l" t="t" r="r" b="b"/>
            <a:pathLst>
              <a:path w="5069446" h="3613132">
                <a:moveTo>
                  <a:pt x="0" y="0"/>
                </a:moveTo>
                <a:lnTo>
                  <a:pt x="5069445" y="0"/>
                </a:lnTo>
                <a:lnTo>
                  <a:pt x="5069445" y="3613132"/>
                </a:lnTo>
                <a:lnTo>
                  <a:pt x="0" y="361313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22" name="Freeform 22"/>
          <p:cNvSpPr/>
          <p:nvPr/>
        </p:nvSpPr>
        <p:spPr>
          <a:xfrm>
            <a:off x="1537105" y="882461"/>
            <a:ext cx="1408590" cy="1142719"/>
          </a:xfrm>
          <a:custGeom>
            <a:avLst/>
            <a:gdLst/>
            <a:ahLst/>
            <a:cxnLst/>
            <a:rect l="l" t="t" r="r" b="b"/>
            <a:pathLst>
              <a:path w="1408590" h="1142719">
                <a:moveTo>
                  <a:pt x="0" y="0"/>
                </a:moveTo>
                <a:lnTo>
                  <a:pt x="1408590" y="0"/>
                </a:lnTo>
                <a:lnTo>
                  <a:pt x="1408590" y="1142719"/>
                </a:lnTo>
                <a:lnTo>
                  <a:pt x="0" y="1142719"/>
                </a:lnTo>
                <a:lnTo>
                  <a:pt x="0" y="0"/>
                </a:lnTo>
                <a:close/>
              </a:path>
            </a:pathLst>
          </a:custGeom>
          <a:blipFill>
            <a:blip r:embed="rId4"/>
            <a:stretch>
              <a:fillRect/>
            </a:stretch>
          </a:blipFill>
        </p:spPr>
        <p:txBody>
          <a:bodyPr/>
          <a:lstStyle/>
          <a:p>
            <a:endParaRPr lang="en-IN"/>
          </a:p>
        </p:txBody>
      </p:sp>
      <p:sp>
        <p:nvSpPr>
          <p:cNvPr id="23" name="TextBox 23"/>
          <p:cNvSpPr txBox="1"/>
          <p:nvPr/>
        </p:nvSpPr>
        <p:spPr>
          <a:xfrm>
            <a:off x="3657600" y="749111"/>
            <a:ext cx="10959577" cy="1243318"/>
          </a:xfrm>
          <a:prstGeom prst="rect">
            <a:avLst/>
          </a:prstGeom>
        </p:spPr>
        <p:txBody>
          <a:bodyPr wrap="square" lIns="0" tIns="0" rIns="0" bIns="0" rtlCol="0" anchor="t">
            <a:spAutoFit/>
          </a:bodyPr>
          <a:lstStyle/>
          <a:p>
            <a:pPr algn="ctr">
              <a:lnSpc>
                <a:spcPts val="10220"/>
              </a:lnSpc>
            </a:pPr>
            <a:r>
              <a:rPr lang="en-US" sz="7300" b="1" dirty="0">
                <a:solidFill>
                  <a:srgbClr val="8F847B"/>
                </a:solidFill>
                <a:latin typeface="Canva Sans Bold"/>
                <a:ea typeface="Canva Sans Bold"/>
                <a:cs typeface="Canva Sans Bold"/>
                <a:sym typeface="Canva Sans Bold"/>
              </a:rPr>
              <a:t>Preprocessing of DATA</a:t>
            </a:r>
          </a:p>
        </p:txBody>
      </p:sp>
      <p:sp>
        <p:nvSpPr>
          <p:cNvPr id="24" name="TextBox 24"/>
          <p:cNvSpPr txBox="1"/>
          <p:nvPr/>
        </p:nvSpPr>
        <p:spPr>
          <a:xfrm>
            <a:off x="410972" y="3236369"/>
            <a:ext cx="6796893" cy="2052926"/>
          </a:xfrm>
          <a:prstGeom prst="rect">
            <a:avLst/>
          </a:prstGeom>
        </p:spPr>
        <p:txBody>
          <a:bodyPr lIns="0" tIns="0" rIns="0" bIns="0" rtlCol="0" anchor="t">
            <a:spAutoFit/>
          </a:bodyPr>
          <a:lstStyle/>
          <a:p>
            <a:pPr algn="ctr">
              <a:lnSpc>
                <a:spcPts val="5496"/>
              </a:lnSpc>
              <a:spcBef>
                <a:spcPct val="0"/>
              </a:spcBef>
            </a:pPr>
            <a:r>
              <a:rPr lang="en-US" sz="3926" b="1">
                <a:solidFill>
                  <a:srgbClr val="2B2B2B"/>
                </a:solidFill>
                <a:latin typeface="Quicksand Bold"/>
                <a:ea typeface="Quicksand Bold"/>
                <a:cs typeface="Quicksand Bold"/>
                <a:sym typeface="Quicksand Bold"/>
              </a:rPr>
              <a:t>1.Load </a:t>
            </a:r>
          </a:p>
          <a:p>
            <a:pPr algn="ctr">
              <a:lnSpc>
                <a:spcPts val="5496"/>
              </a:lnSpc>
              <a:spcBef>
                <a:spcPct val="0"/>
              </a:spcBef>
            </a:pPr>
            <a:r>
              <a:rPr lang="en-US" sz="3926" b="1">
                <a:solidFill>
                  <a:srgbClr val="2B2B2B"/>
                </a:solidFill>
                <a:latin typeface="Quicksand Bold"/>
                <a:ea typeface="Quicksand Bold"/>
                <a:cs typeface="Quicksand Bold"/>
                <a:sym typeface="Quicksand Bold"/>
              </a:rPr>
              <a:t>the </a:t>
            </a:r>
          </a:p>
          <a:p>
            <a:pPr algn="ctr">
              <a:lnSpc>
                <a:spcPts val="5496"/>
              </a:lnSpc>
              <a:spcBef>
                <a:spcPct val="0"/>
              </a:spcBef>
            </a:pPr>
            <a:r>
              <a:rPr lang="en-US" sz="3926" b="1">
                <a:solidFill>
                  <a:srgbClr val="2B2B2B"/>
                </a:solidFill>
                <a:latin typeface="Quicksand Bold"/>
                <a:ea typeface="Quicksand Bold"/>
                <a:cs typeface="Quicksand Bold"/>
                <a:sym typeface="Quicksand Bold"/>
              </a:rPr>
              <a:t>dataset</a:t>
            </a:r>
          </a:p>
        </p:txBody>
      </p:sp>
      <p:sp>
        <p:nvSpPr>
          <p:cNvPr id="25" name="TextBox 25"/>
          <p:cNvSpPr txBox="1"/>
          <p:nvPr/>
        </p:nvSpPr>
        <p:spPr>
          <a:xfrm>
            <a:off x="7941377" y="3426573"/>
            <a:ext cx="2414772" cy="2453666"/>
          </a:xfrm>
          <a:prstGeom prst="rect">
            <a:avLst/>
          </a:prstGeom>
        </p:spPr>
        <p:txBody>
          <a:bodyPr lIns="0" tIns="0" rIns="0" bIns="0" rtlCol="0" anchor="t">
            <a:spAutoFit/>
          </a:bodyPr>
          <a:lstStyle/>
          <a:p>
            <a:pPr algn="ctr">
              <a:lnSpc>
                <a:spcPts val="4933"/>
              </a:lnSpc>
            </a:pPr>
            <a:r>
              <a:rPr lang="en-US" sz="3523" b="1">
                <a:solidFill>
                  <a:srgbClr val="2B2B2B"/>
                </a:solidFill>
                <a:latin typeface="Canva Sans Bold"/>
                <a:ea typeface="Canva Sans Bold"/>
                <a:cs typeface="Canva Sans Bold"/>
                <a:sym typeface="Canva Sans Bold"/>
              </a:rPr>
              <a:t>2.Handle missing </a:t>
            </a:r>
          </a:p>
          <a:p>
            <a:pPr algn="ctr">
              <a:lnSpc>
                <a:spcPts val="4933"/>
              </a:lnSpc>
            </a:pPr>
            <a:r>
              <a:rPr lang="en-US" sz="3523" b="1">
                <a:solidFill>
                  <a:srgbClr val="2B2B2B"/>
                </a:solidFill>
                <a:latin typeface="Canva Sans Bold"/>
                <a:ea typeface="Canva Sans Bold"/>
                <a:cs typeface="Canva Sans Bold"/>
                <a:sym typeface="Canva Sans Bold"/>
              </a:rPr>
              <a:t>values </a:t>
            </a:r>
          </a:p>
          <a:p>
            <a:pPr algn="ctr">
              <a:lnSpc>
                <a:spcPts val="4933"/>
              </a:lnSpc>
            </a:pPr>
            <a:endParaRPr lang="en-US" sz="3523" b="1">
              <a:solidFill>
                <a:srgbClr val="2B2B2B"/>
              </a:solidFill>
              <a:latin typeface="Canva Sans Bold"/>
              <a:ea typeface="Canva Sans Bold"/>
              <a:cs typeface="Canva Sans Bold"/>
              <a:sym typeface="Canva Sans Bold"/>
            </a:endParaRPr>
          </a:p>
        </p:txBody>
      </p:sp>
      <p:sp>
        <p:nvSpPr>
          <p:cNvPr id="26" name="TextBox 26"/>
          <p:cNvSpPr txBox="1"/>
          <p:nvPr/>
        </p:nvSpPr>
        <p:spPr>
          <a:xfrm>
            <a:off x="13282430" y="3467198"/>
            <a:ext cx="3976870" cy="1544737"/>
          </a:xfrm>
          <a:prstGeom prst="rect">
            <a:avLst/>
          </a:prstGeom>
        </p:spPr>
        <p:txBody>
          <a:bodyPr lIns="0" tIns="0" rIns="0" bIns="0" rtlCol="0" anchor="t">
            <a:spAutoFit/>
          </a:bodyPr>
          <a:lstStyle/>
          <a:p>
            <a:pPr algn="ctr">
              <a:lnSpc>
                <a:spcPts val="6207"/>
              </a:lnSpc>
            </a:pPr>
            <a:r>
              <a:rPr lang="en-US" sz="4433" b="1">
                <a:solidFill>
                  <a:srgbClr val="2B2B2B"/>
                </a:solidFill>
                <a:latin typeface="Canva Sans Bold"/>
                <a:ea typeface="Canva Sans Bold"/>
                <a:cs typeface="Canva Sans Bold"/>
                <a:sym typeface="Canva Sans Bold"/>
              </a:rPr>
              <a:t>3.Remove </a:t>
            </a:r>
          </a:p>
          <a:p>
            <a:pPr algn="ctr">
              <a:lnSpc>
                <a:spcPts val="6207"/>
              </a:lnSpc>
            </a:pPr>
            <a:r>
              <a:rPr lang="en-US" sz="4433" b="1">
                <a:solidFill>
                  <a:srgbClr val="2B2B2B"/>
                </a:solidFill>
                <a:latin typeface="Canva Sans Bold"/>
                <a:ea typeface="Canva Sans Bold"/>
                <a:cs typeface="Canva Sans Bold"/>
                <a:sym typeface="Canva Sans Bold"/>
              </a:rPr>
              <a:t>duplicates </a:t>
            </a:r>
          </a:p>
        </p:txBody>
      </p:sp>
      <p:sp>
        <p:nvSpPr>
          <p:cNvPr id="27" name="TextBox 27"/>
          <p:cNvSpPr txBox="1"/>
          <p:nvPr/>
        </p:nvSpPr>
        <p:spPr>
          <a:xfrm>
            <a:off x="410972" y="7350510"/>
            <a:ext cx="5115943" cy="1516540"/>
          </a:xfrm>
          <a:prstGeom prst="rect">
            <a:avLst/>
          </a:prstGeom>
        </p:spPr>
        <p:txBody>
          <a:bodyPr lIns="0" tIns="0" rIns="0" bIns="0" rtlCol="0" anchor="t">
            <a:spAutoFit/>
          </a:bodyPr>
          <a:lstStyle/>
          <a:p>
            <a:pPr algn="ctr">
              <a:lnSpc>
                <a:spcPts val="5766"/>
              </a:lnSpc>
            </a:pPr>
            <a:r>
              <a:rPr lang="en-US" sz="4118" b="1">
                <a:solidFill>
                  <a:srgbClr val="2B2B2B"/>
                </a:solidFill>
                <a:latin typeface="Canva Sans Bold"/>
                <a:ea typeface="Canva Sans Bold"/>
                <a:cs typeface="Canva Sans Bold"/>
                <a:sym typeface="Canva Sans Bold"/>
              </a:rPr>
              <a:t>4.Data type </a:t>
            </a:r>
          </a:p>
          <a:p>
            <a:pPr algn="ctr">
              <a:lnSpc>
                <a:spcPts val="6606"/>
              </a:lnSpc>
            </a:pPr>
            <a:r>
              <a:rPr lang="en-US" sz="4718" b="1">
                <a:solidFill>
                  <a:srgbClr val="2B2B2B"/>
                </a:solidFill>
                <a:latin typeface="Canva Sans Bold"/>
                <a:ea typeface="Canva Sans Bold"/>
                <a:cs typeface="Canva Sans Bold"/>
                <a:sym typeface="Canva Sans Bold"/>
              </a:rPr>
              <a:t>conversion</a:t>
            </a:r>
          </a:p>
        </p:txBody>
      </p:sp>
      <p:sp>
        <p:nvSpPr>
          <p:cNvPr id="28" name="TextBox 28"/>
          <p:cNvSpPr txBox="1"/>
          <p:nvPr/>
        </p:nvSpPr>
        <p:spPr>
          <a:xfrm>
            <a:off x="7207865" y="7026660"/>
            <a:ext cx="4047180" cy="2143759"/>
          </a:xfrm>
          <a:prstGeom prst="rect">
            <a:avLst/>
          </a:prstGeom>
        </p:spPr>
        <p:txBody>
          <a:bodyPr lIns="0" tIns="0" rIns="0" bIns="0" rtlCol="0" anchor="t">
            <a:spAutoFit/>
          </a:bodyPr>
          <a:lstStyle/>
          <a:p>
            <a:pPr algn="ctr">
              <a:lnSpc>
                <a:spcPts val="5740"/>
              </a:lnSpc>
            </a:pPr>
            <a:r>
              <a:rPr lang="en-US" sz="4100" b="1">
                <a:solidFill>
                  <a:srgbClr val="2B2B2B"/>
                </a:solidFill>
                <a:latin typeface="Canva Sans Bold"/>
                <a:ea typeface="Canva Sans Bold"/>
                <a:cs typeface="Canva Sans Bold"/>
                <a:sym typeface="Canva Sans Bold"/>
              </a:rPr>
              <a:t>5.Encoding categorical values </a:t>
            </a:r>
          </a:p>
        </p:txBody>
      </p:sp>
      <p:sp>
        <p:nvSpPr>
          <p:cNvPr id="29" name="TextBox 29"/>
          <p:cNvSpPr txBox="1"/>
          <p:nvPr/>
        </p:nvSpPr>
        <p:spPr>
          <a:xfrm>
            <a:off x="12548534" y="7681468"/>
            <a:ext cx="4406384" cy="738504"/>
          </a:xfrm>
          <a:prstGeom prst="rect">
            <a:avLst/>
          </a:prstGeom>
        </p:spPr>
        <p:txBody>
          <a:bodyPr lIns="0" tIns="0" rIns="0" bIns="0" rtlCol="0" anchor="t">
            <a:spAutoFit/>
          </a:bodyPr>
          <a:lstStyle/>
          <a:p>
            <a:pPr algn="ctr">
              <a:lnSpc>
                <a:spcPts val="6020"/>
              </a:lnSpc>
            </a:pPr>
            <a:r>
              <a:rPr lang="en-US" sz="4300" b="1">
                <a:solidFill>
                  <a:srgbClr val="2B2B2B"/>
                </a:solidFill>
                <a:latin typeface="Canva Sans Bold"/>
                <a:ea typeface="Canva Sans Bold"/>
                <a:cs typeface="Canva Sans Bold"/>
                <a:sym typeface="Canva Sans Bold"/>
              </a:rPr>
              <a:t>6.Normalization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1CD61-27D9-0E61-DA02-6315023A47FD}"/>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7314903-44B4-3270-3778-B6AABD61310B}"/>
              </a:ext>
            </a:extLst>
          </p:cNvPr>
          <p:cNvGrpSpPr/>
          <p:nvPr/>
        </p:nvGrpSpPr>
        <p:grpSpPr>
          <a:xfrm>
            <a:off x="-381000" y="-375168"/>
            <a:ext cx="20285779" cy="11037336"/>
            <a:chOff x="0" y="0"/>
            <a:chExt cx="86309901" cy="46960551"/>
          </a:xfrm>
        </p:grpSpPr>
        <p:sp>
          <p:nvSpPr>
            <p:cNvPr id="3" name="Freeform 3">
              <a:extLst>
                <a:ext uri="{FF2B5EF4-FFF2-40B4-BE49-F238E27FC236}">
                  <a16:creationId xmlns:a16="http://schemas.microsoft.com/office/drawing/2014/main" id="{2055D7E7-F01E-6B73-F8C0-7D07F8B9684B}"/>
                </a:ext>
              </a:extLst>
            </p:cNvPr>
            <p:cNvSpPr/>
            <p:nvPr/>
          </p:nvSpPr>
          <p:spPr>
            <a:xfrm>
              <a:off x="192810" y="279351"/>
              <a:ext cx="86117091" cy="46401849"/>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D2C1B3"/>
            </a:solidFill>
          </p:spPr>
          <p:txBody>
            <a:bodyPr/>
            <a:lstStyle/>
            <a:p>
              <a:endParaRPr lang="en-IN" dirty="0"/>
            </a:p>
          </p:txBody>
        </p:sp>
        <p:sp>
          <p:nvSpPr>
            <p:cNvPr id="4" name="Freeform 4">
              <a:extLst>
                <a:ext uri="{FF2B5EF4-FFF2-40B4-BE49-F238E27FC236}">
                  <a16:creationId xmlns:a16="http://schemas.microsoft.com/office/drawing/2014/main" id="{03F78518-39FB-492A-C726-7588BEC5FD2C}"/>
                </a:ext>
              </a:extLst>
            </p:cNvPr>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D2C1B3"/>
            </a:solidFill>
          </p:spPr>
          <p:txBody>
            <a:bodyPr/>
            <a:lstStyle/>
            <a:p>
              <a:endParaRPr lang="en-IN"/>
            </a:p>
          </p:txBody>
        </p:sp>
      </p:grpSp>
      <p:sp>
        <p:nvSpPr>
          <p:cNvPr id="8" name="TextBox 8">
            <a:extLst>
              <a:ext uri="{FF2B5EF4-FFF2-40B4-BE49-F238E27FC236}">
                <a16:creationId xmlns:a16="http://schemas.microsoft.com/office/drawing/2014/main" id="{B5173979-FE81-EDF9-4989-EE725FBD73A3}"/>
              </a:ext>
            </a:extLst>
          </p:cNvPr>
          <p:cNvSpPr txBox="1"/>
          <p:nvPr/>
        </p:nvSpPr>
        <p:spPr>
          <a:xfrm>
            <a:off x="9459925" y="9002659"/>
            <a:ext cx="101560" cy="898875"/>
          </a:xfrm>
          <a:prstGeom prst="rect">
            <a:avLst/>
          </a:prstGeom>
        </p:spPr>
        <p:txBody>
          <a:bodyPr lIns="0" tIns="0" rIns="0" bIns="0" rtlCol="0" anchor="t">
            <a:spAutoFit/>
          </a:bodyPr>
          <a:lstStyle/>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p:txBody>
      </p:sp>
      <p:sp>
        <p:nvSpPr>
          <p:cNvPr id="10" name="TextBox 10">
            <a:extLst>
              <a:ext uri="{FF2B5EF4-FFF2-40B4-BE49-F238E27FC236}">
                <a16:creationId xmlns:a16="http://schemas.microsoft.com/office/drawing/2014/main" id="{ED3FFC37-FE0F-21FA-3033-B905316DCBBA}"/>
              </a:ext>
            </a:extLst>
          </p:cNvPr>
          <p:cNvSpPr txBox="1"/>
          <p:nvPr/>
        </p:nvSpPr>
        <p:spPr>
          <a:xfrm>
            <a:off x="428157" y="3116571"/>
            <a:ext cx="5667843" cy="887095"/>
          </a:xfrm>
          <a:prstGeom prst="rect">
            <a:avLst/>
          </a:prstGeom>
        </p:spPr>
        <p:txBody>
          <a:bodyPr wrap="square" lIns="0" tIns="0" rIns="0" bIns="0" rtlCol="0" anchor="t">
            <a:spAutoFit/>
          </a:bodyPr>
          <a:lstStyle/>
          <a:p>
            <a:pPr algn="ctr">
              <a:lnSpc>
                <a:spcPts val="7279"/>
              </a:lnSpc>
            </a:pPr>
            <a:endParaRPr lang="en-US" sz="5199" b="1" dirty="0">
              <a:solidFill>
                <a:srgbClr val="2B2B2B"/>
              </a:solidFill>
              <a:latin typeface="Canva Sans Bold"/>
              <a:ea typeface="Canva Sans Bold"/>
              <a:cs typeface="Canva Sans Bold"/>
              <a:sym typeface="Canva Sans Bold"/>
            </a:endParaRPr>
          </a:p>
        </p:txBody>
      </p:sp>
      <p:pic>
        <p:nvPicPr>
          <p:cNvPr id="13" name="Picture 12">
            <a:extLst>
              <a:ext uri="{FF2B5EF4-FFF2-40B4-BE49-F238E27FC236}">
                <a16:creationId xmlns:a16="http://schemas.microsoft.com/office/drawing/2014/main" id="{DA3070DA-5DDF-990E-26DE-85445C49A21F}"/>
              </a:ext>
            </a:extLst>
          </p:cNvPr>
          <p:cNvPicPr>
            <a:picLocks noChangeAspect="1"/>
          </p:cNvPicPr>
          <p:nvPr/>
        </p:nvPicPr>
        <p:blipFill>
          <a:blip r:embed="rId2"/>
          <a:srcRect l="76" t="1348"/>
          <a:stretch>
            <a:fillRect/>
          </a:stretch>
        </p:blipFill>
        <p:spPr>
          <a:xfrm>
            <a:off x="47494" y="907830"/>
            <a:ext cx="19383506" cy="6801733"/>
          </a:xfrm>
          <a:prstGeom prst="rect">
            <a:avLst/>
          </a:prstGeom>
        </p:spPr>
      </p:pic>
      <p:sp>
        <p:nvSpPr>
          <p:cNvPr id="14" name="TextBox 13">
            <a:extLst>
              <a:ext uri="{FF2B5EF4-FFF2-40B4-BE49-F238E27FC236}">
                <a16:creationId xmlns:a16="http://schemas.microsoft.com/office/drawing/2014/main" id="{AAEDCC6E-50CE-FA07-9913-CF7009B64EE5}"/>
              </a:ext>
            </a:extLst>
          </p:cNvPr>
          <p:cNvSpPr txBox="1"/>
          <p:nvPr/>
        </p:nvSpPr>
        <p:spPr>
          <a:xfrm>
            <a:off x="346863" y="7709563"/>
            <a:ext cx="16488243" cy="2985433"/>
          </a:xfrm>
          <a:prstGeom prst="rect">
            <a:avLst/>
          </a:prstGeom>
          <a:noFill/>
        </p:spPr>
        <p:txBody>
          <a:bodyPr wrap="square" rtlCol="0">
            <a:spAutoFit/>
          </a:bodyPr>
          <a:lstStyle/>
          <a:p>
            <a:pPr lvl="0" eaLnBrk="0" fontAlgn="base" hangingPunct="0">
              <a:spcBef>
                <a:spcPct val="0"/>
              </a:spcBef>
              <a:spcAft>
                <a:spcPct val="0"/>
              </a:spcAft>
              <a:buFontTx/>
              <a:buChar char="•"/>
            </a:pPr>
            <a:r>
              <a:rPr lang="en-US" altLang="en-US" sz="2800" b="1" dirty="0">
                <a:latin typeface="Arial" panose="020B0604020202020204" pitchFamily="34" charset="0"/>
              </a:rPr>
              <a:t>Removed unwanted parts </a:t>
            </a:r>
          </a:p>
          <a:p>
            <a:pPr lvl="0" eaLnBrk="0" fontAlgn="base" hangingPunct="0">
              <a:spcBef>
                <a:spcPct val="0"/>
              </a:spcBef>
              <a:spcAft>
                <a:spcPct val="0"/>
              </a:spcAft>
            </a:pPr>
            <a:r>
              <a:rPr lang="en-US" altLang="en-US" sz="2800" dirty="0">
                <a:latin typeface="Arial" panose="020B0604020202020204" pitchFamily="34" charset="0"/>
              </a:rPr>
              <a:t>     → kept only </a:t>
            </a:r>
            <a:r>
              <a:rPr lang="en-US" altLang="en-US" sz="2800" dirty="0">
                <a:latin typeface="Arial Unicode MS"/>
              </a:rPr>
              <a:t>label</a:t>
            </a:r>
            <a:r>
              <a:rPr lang="en-US" altLang="en-US" sz="2800" dirty="0"/>
              <a:t> and </a:t>
            </a:r>
            <a:r>
              <a:rPr lang="en-US" altLang="en-US" sz="2800" dirty="0">
                <a:latin typeface="Arial Unicode MS"/>
              </a:rPr>
              <a:t>message</a:t>
            </a:r>
            <a:r>
              <a:rPr lang="en-US" altLang="en-US" sz="2800" dirty="0"/>
              <a:t> columns, and converted labels (</a:t>
            </a:r>
            <a:r>
              <a:rPr lang="en-US" altLang="en-US" sz="2800" i="1" dirty="0">
                <a:latin typeface="Arial" panose="020B0604020202020204" pitchFamily="34" charset="0"/>
              </a:rPr>
              <a:t>ham = 0, spam = 1</a:t>
            </a:r>
            <a:r>
              <a:rPr lang="en-US" altLang="en-US" sz="2800" dirty="0">
                <a:latin typeface="Arial" panose="020B0604020202020204" pitchFamily="34" charset="0"/>
              </a:rPr>
              <a:t>).</a:t>
            </a:r>
          </a:p>
          <a:p>
            <a:pPr lvl="0" eaLnBrk="0" fontAlgn="base" hangingPunct="0">
              <a:spcBef>
                <a:spcPct val="0"/>
              </a:spcBef>
              <a:spcAft>
                <a:spcPct val="0"/>
              </a:spcAft>
              <a:buFontTx/>
              <a:buChar char="•"/>
            </a:pPr>
            <a:r>
              <a:rPr lang="en-US" altLang="en-US" sz="2800" b="1" dirty="0">
                <a:latin typeface="Arial" panose="020B0604020202020204" pitchFamily="34" charset="0"/>
              </a:rPr>
              <a:t>Cleaned the text </a:t>
            </a:r>
          </a:p>
          <a:p>
            <a:pPr lvl="0" eaLnBrk="0" fontAlgn="base" hangingPunct="0">
              <a:spcBef>
                <a:spcPct val="0"/>
              </a:spcBef>
              <a:spcAft>
                <a:spcPct val="0"/>
              </a:spcAft>
            </a:pPr>
            <a:r>
              <a:rPr lang="en-US" altLang="en-US" sz="2800" dirty="0">
                <a:latin typeface="Arial" panose="020B0604020202020204" pitchFamily="34" charset="0"/>
              </a:rPr>
              <a:t>     → lowercase + removed punctuation for uniform messages.</a:t>
            </a:r>
          </a:p>
          <a:p>
            <a:pPr lvl="0" eaLnBrk="0" fontAlgn="base" hangingPunct="0">
              <a:spcBef>
                <a:spcPct val="0"/>
              </a:spcBef>
              <a:spcAft>
                <a:spcPct val="0"/>
              </a:spcAft>
              <a:buFontTx/>
              <a:buChar char="•"/>
            </a:pPr>
            <a:r>
              <a:rPr lang="en-US" altLang="en-US" sz="2800" dirty="0">
                <a:latin typeface="Arial" panose="020B0604020202020204" pitchFamily="34" charset="0"/>
              </a:rPr>
              <a:t>Converted text into numbers using TF-IDF after splitting into training and test sets.</a:t>
            </a:r>
          </a:p>
          <a:p>
            <a:endParaRPr lang="en-IN" sz="2400" dirty="0"/>
          </a:p>
          <a:p>
            <a:endParaRPr lang="en-IN" sz="2400" dirty="0"/>
          </a:p>
        </p:txBody>
      </p:sp>
      <p:sp>
        <p:nvSpPr>
          <p:cNvPr id="15" name="Rectangle 1">
            <a:extLst>
              <a:ext uri="{FF2B5EF4-FFF2-40B4-BE49-F238E27FC236}">
                <a16:creationId xmlns:a16="http://schemas.microsoft.com/office/drawing/2014/main" id="{0131DC2F-BAF3-D11D-4D7C-716DC4969E6F}"/>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7" name="TextBox 16">
            <a:extLst>
              <a:ext uri="{FF2B5EF4-FFF2-40B4-BE49-F238E27FC236}">
                <a16:creationId xmlns:a16="http://schemas.microsoft.com/office/drawing/2014/main" id="{E60A5FF8-AB40-2337-4E1B-E908072F0A09}"/>
              </a:ext>
            </a:extLst>
          </p:cNvPr>
          <p:cNvSpPr txBox="1"/>
          <p:nvPr/>
        </p:nvSpPr>
        <p:spPr>
          <a:xfrm>
            <a:off x="4067306" y="0"/>
            <a:ext cx="14173200" cy="1015663"/>
          </a:xfrm>
          <a:prstGeom prst="rect">
            <a:avLst/>
          </a:prstGeom>
          <a:noFill/>
        </p:spPr>
        <p:txBody>
          <a:bodyPr wrap="square" rtlCol="0">
            <a:spAutoFit/>
          </a:bodyPr>
          <a:lstStyle/>
          <a:p>
            <a:r>
              <a:rPr lang="en-US" sz="6000" b="1" dirty="0"/>
              <a:t>How the Dataset Was Prepared?</a:t>
            </a:r>
            <a:endParaRPr lang="en-IN" sz="6000" b="1" dirty="0"/>
          </a:p>
        </p:txBody>
      </p:sp>
    </p:spTree>
    <p:extLst>
      <p:ext uri="{BB962C8B-B14F-4D97-AF65-F5344CB8AC3E}">
        <p14:creationId xmlns:p14="http://schemas.microsoft.com/office/powerpoint/2010/main" val="42499211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D2C1B3"/>
        </a:solidFill>
        <a:effectLst/>
      </p:bgPr>
    </p:bg>
    <p:spTree>
      <p:nvGrpSpPr>
        <p:cNvPr id="1" name=""/>
        <p:cNvGrpSpPr/>
        <p:nvPr/>
      </p:nvGrpSpPr>
      <p:grpSpPr>
        <a:xfrm>
          <a:off x="0" y="0"/>
          <a:ext cx="0" cy="0"/>
          <a:chOff x="0" y="0"/>
          <a:chExt cx="0" cy="0"/>
        </a:xfrm>
      </p:grpSpPr>
      <p:sp>
        <p:nvSpPr>
          <p:cNvPr id="2" name="Freeform 2"/>
          <p:cNvSpPr/>
          <p:nvPr/>
        </p:nvSpPr>
        <p:spPr>
          <a:xfrm>
            <a:off x="454216" y="1028700"/>
            <a:ext cx="14299641" cy="2005717"/>
          </a:xfrm>
          <a:custGeom>
            <a:avLst/>
            <a:gdLst/>
            <a:ahLst/>
            <a:cxnLst/>
            <a:rect l="l" t="t" r="r" b="b"/>
            <a:pathLst>
              <a:path w="14299641" h="2005717">
                <a:moveTo>
                  <a:pt x="0" y="0"/>
                </a:moveTo>
                <a:lnTo>
                  <a:pt x="14299641" y="0"/>
                </a:lnTo>
                <a:lnTo>
                  <a:pt x="14299641" y="2005717"/>
                </a:lnTo>
                <a:lnTo>
                  <a:pt x="0" y="2005717"/>
                </a:lnTo>
                <a:lnTo>
                  <a:pt x="0" y="0"/>
                </a:lnTo>
                <a:close/>
              </a:path>
            </a:pathLst>
          </a:custGeom>
          <a:blipFill>
            <a:blip r:embed="rId2"/>
            <a:stretch>
              <a:fillRect l="-1150" t="-11367" r="-447"/>
            </a:stretch>
          </a:blipFill>
        </p:spPr>
        <p:txBody>
          <a:bodyPr/>
          <a:lstStyle/>
          <a:p>
            <a:endParaRPr lang="en-IN"/>
          </a:p>
        </p:txBody>
      </p:sp>
      <p:sp>
        <p:nvSpPr>
          <p:cNvPr id="3" name="Freeform 3"/>
          <p:cNvSpPr/>
          <p:nvPr/>
        </p:nvSpPr>
        <p:spPr>
          <a:xfrm>
            <a:off x="454216" y="4228068"/>
            <a:ext cx="14299641" cy="1553923"/>
          </a:xfrm>
          <a:custGeom>
            <a:avLst/>
            <a:gdLst/>
            <a:ahLst/>
            <a:cxnLst/>
            <a:rect l="l" t="t" r="r" b="b"/>
            <a:pathLst>
              <a:path w="14299641" h="1553923">
                <a:moveTo>
                  <a:pt x="0" y="0"/>
                </a:moveTo>
                <a:lnTo>
                  <a:pt x="14299641" y="0"/>
                </a:lnTo>
                <a:lnTo>
                  <a:pt x="14299641" y="1553923"/>
                </a:lnTo>
                <a:lnTo>
                  <a:pt x="0" y="1553923"/>
                </a:lnTo>
                <a:lnTo>
                  <a:pt x="0" y="0"/>
                </a:lnTo>
                <a:close/>
              </a:path>
            </a:pathLst>
          </a:custGeom>
          <a:blipFill>
            <a:blip r:embed="rId3"/>
            <a:stretch>
              <a:fillRect t="-13265" b="-13265"/>
            </a:stretch>
          </a:blipFill>
        </p:spPr>
        <p:txBody>
          <a:bodyPr/>
          <a:lstStyle/>
          <a:p>
            <a:endParaRPr lang="en-IN"/>
          </a:p>
        </p:txBody>
      </p:sp>
      <p:sp>
        <p:nvSpPr>
          <p:cNvPr id="4" name="Freeform 4"/>
          <p:cNvSpPr/>
          <p:nvPr/>
        </p:nvSpPr>
        <p:spPr>
          <a:xfrm>
            <a:off x="454216" y="6968688"/>
            <a:ext cx="14299641" cy="875848"/>
          </a:xfrm>
          <a:custGeom>
            <a:avLst/>
            <a:gdLst/>
            <a:ahLst/>
            <a:cxnLst/>
            <a:rect l="l" t="t" r="r" b="b"/>
            <a:pathLst>
              <a:path w="14299641" h="875848">
                <a:moveTo>
                  <a:pt x="0" y="0"/>
                </a:moveTo>
                <a:lnTo>
                  <a:pt x="14299641" y="0"/>
                </a:lnTo>
                <a:lnTo>
                  <a:pt x="14299641" y="875848"/>
                </a:lnTo>
                <a:lnTo>
                  <a:pt x="0" y="875848"/>
                </a:lnTo>
                <a:lnTo>
                  <a:pt x="0" y="0"/>
                </a:lnTo>
                <a:close/>
              </a:path>
            </a:pathLst>
          </a:custGeom>
          <a:blipFill>
            <a:blip r:embed="rId4"/>
            <a:stretch>
              <a:fillRect t="-13265" b="-13265"/>
            </a:stretch>
          </a:blipFill>
        </p:spPr>
        <p:txBody>
          <a:bodyPr/>
          <a:lstStyle/>
          <a:p>
            <a:endParaRPr lang="en-IN"/>
          </a:p>
        </p:txBody>
      </p:sp>
      <p:sp>
        <p:nvSpPr>
          <p:cNvPr id="5" name="Freeform 5"/>
          <p:cNvSpPr/>
          <p:nvPr/>
        </p:nvSpPr>
        <p:spPr>
          <a:xfrm>
            <a:off x="454216" y="9031234"/>
            <a:ext cx="14299641" cy="805215"/>
          </a:xfrm>
          <a:custGeom>
            <a:avLst/>
            <a:gdLst/>
            <a:ahLst/>
            <a:cxnLst/>
            <a:rect l="l" t="t" r="r" b="b"/>
            <a:pathLst>
              <a:path w="14299641" h="805215">
                <a:moveTo>
                  <a:pt x="0" y="0"/>
                </a:moveTo>
                <a:lnTo>
                  <a:pt x="14299641" y="0"/>
                </a:lnTo>
                <a:lnTo>
                  <a:pt x="14299641" y="805214"/>
                </a:lnTo>
                <a:lnTo>
                  <a:pt x="0" y="805214"/>
                </a:lnTo>
                <a:lnTo>
                  <a:pt x="0" y="0"/>
                </a:lnTo>
                <a:close/>
              </a:path>
            </a:pathLst>
          </a:custGeom>
          <a:blipFill>
            <a:blip r:embed="rId5"/>
            <a:stretch>
              <a:fillRect t="-13265" b="-13265"/>
            </a:stretch>
          </a:blipFill>
        </p:spPr>
        <p:txBody>
          <a:bodyPr/>
          <a:lstStyle/>
          <a:p>
            <a:endParaRPr lang="en-IN"/>
          </a:p>
        </p:txBody>
      </p:sp>
      <p:sp>
        <p:nvSpPr>
          <p:cNvPr id="6" name="TextBox 6"/>
          <p:cNvSpPr txBox="1"/>
          <p:nvPr/>
        </p:nvSpPr>
        <p:spPr>
          <a:xfrm>
            <a:off x="9459925" y="9002659"/>
            <a:ext cx="101560" cy="898875"/>
          </a:xfrm>
          <a:prstGeom prst="rect">
            <a:avLst/>
          </a:prstGeom>
        </p:spPr>
        <p:txBody>
          <a:bodyPr lIns="0" tIns="0" rIns="0" bIns="0" rtlCol="0" anchor="t">
            <a:spAutoFit/>
          </a:bodyPr>
          <a:lstStyle/>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p:txBody>
      </p:sp>
      <p:sp>
        <p:nvSpPr>
          <p:cNvPr id="7" name="TextBox 7"/>
          <p:cNvSpPr txBox="1"/>
          <p:nvPr/>
        </p:nvSpPr>
        <p:spPr>
          <a:xfrm>
            <a:off x="454216" y="141605"/>
            <a:ext cx="2558296" cy="887095"/>
          </a:xfrm>
          <a:prstGeom prst="rect">
            <a:avLst/>
          </a:prstGeom>
        </p:spPr>
        <p:txBody>
          <a:bodyPr lIns="0" tIns="0" rIns="0" bIns="0" rtlCol="0" anchor="t">
            <a:spAutoFit/>
          </a:bodyPr>
          <a:lstStyle/>
          <a:p>
            <a:pPr algn="ctr">
              <a:lnSpc>
                <a:spcPts val="7279"/>
              </a:lnSpc>
            </a:pPr>
            <a:r>
              <a:rPr lang="en-US" sz="5199" b="1" dirty="0">
                <a:solidFill>
                  <a:srgbClr val="2B2B2B"/>
                </a:solidFill>
                <a:latin typeface="Canva Sans Bold"/>
                <a:ea typeface="Canva Sans Bold"/>
                <a:cs typeface="Canva Sans Bold"/>
                <a:sym typeface="Canva Sans Bold"/>
              </a:rPr>
              <a:t>Imports</a:t>
            </a:r>
          </a:p>
        </p:txBody>
      </p:sp>
      <p:sp>
        <p:nvSpPr>
          <p:cNvPr id="8" name="TextBox 8"/>
          <p:cNvSpPr txBox="1"/>
          <p:nvPr/>
        </p:nvSpPr>
        <p:spPr>
          <a:xfrm>
            <a:off x="454216" y="3140948"/>
            <a:ext cx="8812292" cy="887095"/>
          </a:xfrm>
          <a:prstGeom prst="rect">
            <a:avLst/>
          </a:prstGeom>
        </p:spPr>
        <p:txBody>
          <a:bodyPr lIns="0" tIns="0" rIns="0" bIns="0" rtlCol="0" anchor="t">
            <a:spAutoFit/>
          </a:bodyPr>
          <a:lstStyle/>
          <a:p>
            <a:pPr algn="ctr">
              <a:lnSpc>
                <a:spcPts val="7279"/>
              </a:lnSpc>
            </a:pPr>
            <a:r>
              <a:rPr lang="en-US" sz="5199" b="1">
                <a:solidFill>
                  <a:srgbClr val="2B2B2B"/>
                </a:solidFill>
                <a:latin typeface="Canva Sans Bold"/>
                <a:ea typeface="Canva Sans Bold"/>
                <a:cs typeface="Canva Sans Bold"/>
                <a:sym typeface="Canva Sans Bold"/>
              </a:rPr>
              <a:t>Load data &amp; select columns</a:t>
            </a:r>
          </a:p>
        </p:txBody>
      </p:sp>
      <p:sp>
        <p:nvSpPr>
          <p:cNvPr id="9" name="TextBox 9"/>
          <p:cNvSpPr txBox="1"/>
          <p:nvPr/>
        </p:nvSpPr>
        <p:spPr>
          <a:xfrm>
            <a:off x="454216" y="5886766"/>
            <a:ext cx="8308784" cy="887095"/>
          </a:xfrm>
          <a:prstGeom prst="rect">
            <a:avLst/>
          </a:prstGeom>
        </p:spPr>
        <p:txBody>
          <a:bodyPr wrap="square" lIns="0" tIns="0" rIns="0" bIns="0" rtlCol="0" anchor="t">
            <a:spAutoFit/>
          </a:bodyPr>
          <a:lstStyle/>
          <a:p>
            <a:pPr algn="ctr">
              <a:lnSpc>
                <a:spcPts val="7279"/>
              </a:lnSpc>
            </a:pPr>
            <a:r>
              <a:rPr lang="en-US" sz="5199" b="1" dirty="0">
                <a:solidFill>
                  <a:srgbClr val="2B2B2B"/>
                </a:solidFill>
                <a:latin typeface="Canva Sans Bold"/>
                <a:ea typeface="Canva Sans Bold"/>
                <a:cs typeface="Canva Sans Bold"/>
                <a:sym typeface="Canva Sans Bold"/>
              </a:rPr>
              <a:t>Handle missing values</a:t>
            </a:r>
          </a:p>
        </p:txBody>
      </p:sp>
      <p:sp>
        <p:nvSpPr>
          <p:cNvPr id="10" name="TextBox 10"/>
          <p:cNvSpPr txBox="1"/>
          <p:nvPr/>
        </p:nvSpPr>
        <p:spPr>
          <a:xfrm>
            <a:off x="-4518711" y="7949311"/>
            <a:ext cx="14299641" cy="887095"/>
          </a:xfrm>
          <a:prstGeom prst="rect">
            <a:avLst/>
          </a:prstGeom>
        </p:spPr>
        <p:txBody>
          <a:bodyPr lIns="0" tIns="0" rIns="0" bIns="0" rtlCol="0" anchor="t">
            <a:spAutoFit/>
          </a:bodyPr>
          <a:lstStyle/>
          <a:p>
            <a:pPr algn="ctr">
              <a:lnSpc>
                <a:spcPts val="7279"/>
              </a:lnSpc>
            </a:pPr>
            <a:r>
              <a:rPr lang="en-US" sz="5199" b="1">
                <a:solidFill>
                  <a:srgbClr val="2B2B2B"/>
                </a:solidFill>
                <a:latin typeface="Canva Sans Bold"/>
                <a:ea typeface="Canva Sans Bold"/>
                <a:cs typeface="Canva Sans Bold"/>
                <a:sym typeface="Canva Sans Bold"/>
              </a:rPr>
              <a:t>Encode labels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05695" y="0"/>
            <a:ext cx="20257476" cy="11037336"/>
            <a:chOff x="0" y="0"/>
            <a:chExt cx="86189481" cy="46960552"/>
          </a:xfrm>
        </p:grpSpPr>
        <p:sp>
          <p:nvSpPr>
            <p:cNvPr id="3" name="Freeform 3"/>
            <p:cNvSpPr/>
            <p:nvPr/>
          </p:nvSpPr>
          <p:spPr>
            <a:xfrm>
              <a:off x="72390" y="72390"/>
              <a:ext cx="86044704" cy="46815771"/>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D2C1B3"/>
            </a:solidFill>
          </p:spPr>
          <p:txBody>
            <a:bodyPr/>
            <a:lstStyle/>
            <a:p>
              <a:endParaRPr lang="en-IN"/>
            </a:p>
          </p:txBody>
        </p:sp>
        <p:sp>
          <p:nvSpPr>
            <p:cNvPr id="4" name="Freeform 4"/>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D2C1B3"/>
            </a:solidFill>
          </p:spPr>
          <p:txBody>
            <a:bodyPr/>
            <a:lstStyle/>
            <a:p>
              <a:endParaRPr lang="en-IN"/>
            </a:p>
          </p:txBody>
        </p:sp>
      </p:grpSp>
      <p:sp>
        <p:nvSpPr>
          <p:cNvPr id="5" name="Freeform 5"/>
          <p:cNvSpPr/>
          <p:nvPr/>
        </p:nvSpPr>
        <p:spPr>
          <a:xfrm>
            <a:off x="428157" y="1194483"/>
            <a:ext cx="13043810" cy="1559991"/>
          </a:xfrm>
          <a:custGeom>
            <a:avLst/>
            <a:gdLst/>
            <a:ahLst/>
            <a:cxnLst/>
            <a:rect l="l" t="t" r="r" b="b"/>
            <a:pathLst>
              <a:path w="13043810" h="1559991">
                <a:moveTo>
                  <a:pt x="0" y="0"/>
                </a:moveTo>
                <a:lnTo>
                  <a:pt x="13043810" y="0"/>
                </a:lnTo>
                <a:lnTo>
                  <a:pt x="13043810" y="1559990"/>
                </a:lnTo>
                <a:lnTo>
                  <a:pt x="0" y="1559990"/>
                </a:lnTo>
                <a:lnTo>
                  <a:pt x="0" y="0"/>
                </a:lnTo>
                <a:close/>
              </a:path>
            </a:pathLst>
          </a:custGeom>
          <a:blipFill>
            <a:blip r:embed="rId2"/>
            <a:stretch>
              <a:fillRect t="-7773" b="-7773"/>
            </a:stretch>
          </a:blipFill>
        </p:spPr>
        <p:txBody>
          <a:bodyPr/>
          <a:lstStyle/>
          <a:p>
            <a:endParaRPr lang="en-IN"/>
          </a:p>
        </p:txBody>
      </p:sp>
      <p:sp>
        <p:nvSpPr>
          <p:cNvPr id="6" name="Freeform 6"/>
          <p:cNvSpPr/>
          <p:nvPr/>
        </p:nvSpPr>
        <p:spPr>
          <a:xfrm>
            <a:off x="428156" y="4010369"/>
            <a:ext cx="14031493" cy="1440911"/>
          </a:xfrm>
          <a:custGeom>
            <a:avLst/>
            <a:gdLst/>
            <a:ahLst/>
            <a:cxnLst/>
            <a:rect l="l" t="t" r="r" b="b"/>
            <a:pathLst>
              <a:path w="14031493" h="1440911">
                <a:moveTo>
                  <a:pt x="0" y="0"/>
                </a:moveTo>
                <a:lnTo>
                  <a:pt x="14031493" y="0"/>
                </a:lnTo>
                <a:lnTo>
                  <a:pt x="14031493" y="1440910"/>
                </a:lnTo>
                <a:lnTo>
                  <a:pt x="0" y="1440910"/>
                </a:lnTo>
                <a:lnTo>
                  <a:pt x="0" y="0"/>
                </a:lnTo>
                <a:close/>
              </a:path>
            </a:pathLst>
          </a:custGeom>
          <a:blipFill>
            <a:blip r:embed="rId3"/>
            <a:stretch>
              <a:fillRect t="-12079" b="-12079"/>
            </a:stretch>
          </a:blipFill>
        </p:spPr>
        <p:txBody>
          <a:bodyPr/>
          <a:lstStyle/>
          <a:p>
            <a:endParaRPr lang="en-IN"/>
          </a:p>
        </p:txBody>
      </p:sp>
      <p:sp>
        <p:nvSpPr>
          <p:cNvPr id="7" name="Freeform 7"/>
          <p:cNvSpPr/>
          <p:nvPr/>
        </p:nvSpPr>
        <p:spPr>
          <a:xfrm>
            <a:off x="428157" y="6560271"/>
            <a:ext cx="13339099" cy="2091867"/>
          </a:xfrm>
          <a:custGeom>
            <a:avLst/>
            <a:gdLst/>
            <a:ahLst/>
            <a:cxnLst/>
            <a:rect l="l" t="t" r="r" b="b"/>
            <a:pathLst>
              <a:path w="13339099" h="2091867">
                <a:moveTo>
                  <a:pt x="0" y="0"/>
                </a:moveTo>
                <a:lnTo>
                  <a:pt x="13339098" y="0"/>
                </a:lnTo>
                <a:lnTo>
                  <a:pt x="13339098" y="2091867"/>
                </a:lnTo>
                <a:lnTo>
                  <a:pt x="0" y="2091867"/>
                </a:lnTo>
                <a:lnTo>
                  <a:pt x="0" y="0"/>
                </a:lnTo>
                <a:close/>
              </a:path>
            </a:pathLst>
          </a:custGeom>
          <a:blipFill>
            <a:blip r:embed="rId4"/>
            <a:stretch>
              <a:fillRect t="-13012" b="-13012"/>
            </a:stretch>
          </a:blipFill>
        </p:spPr>
        <p:txBody>
          <a:bodyPr/>
          <a:lstStyle/>
          <a:p>
            <a:endParaRPr lang="en-IN"/>
          </a:p>
        </p:txBody>
      </p:sp>
      <p:sp>
        <p:nvSpPr>
          <p:cNvPr id="8" name="TextBox 8"/>
          <p:cNvSpPr txBox="1"/>
          <p:nvPr/>
        </p:nvSpPr>
        <p:spPr>
          <a:xfrm>
            <a:off x="9459925" y="9002659"/>
            <a:ext cx="101560" cy="898875"/>
          </a:xfrm>
          <a:prstGeom prst="rect">
            <a:avLst/>
          </a:prstGeom>
        </p:spPr>
        <p:txBody>
          <a:bodyPr lIns="0" tIns="0" rIns="0" bIns="0" rtlCol="0" anchor="t">
            <a:spAutoFit/>
          </a:bodyPr>
          <a:lstStyle/>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p:txBody>
      </p:sp>
      <p:sp>
        <p:nvSpPr>
          <p:cNvPr id="9" name="TextBox 9"/>
          <p:cNvSpPr txBox="1"/>
          <p:nvPr/>
        </p:nvSpPr>
        <p:spPr>
          <a:xfrm>
            <a:off x="267787" y="141605"/>
            <a:ext cx="4075613" cy="887095"/>
          </a:xfrm>
          <a:prstGeom prst="rect">
            <a:avLst/>
          </a:prstGeom>
        </p:spPr>
        <p:txBody>
          <a:bodyPr wrap="square" lIns="0" tIns="0" rIns="0" bIns="0" rtlCol="0" anchor="t">
            <a:spAutoFit/>
          </a:bodyPr>
          <a:lstStyle/>
          <a:p>
            <a:pPr algn="ctr">
              <a:lnSpc>
                <a:spcPts val="7279"/>
              </a:lnSpc>
            </a:pPr>
            <a:r>
              <a:rPr lang="en-US" sz="5199" b="1" dirty="0">
                <a:solidFill>
                  <a:srgbClr val="2B2B2B"/>
                </a:solidFill>
                <a:latin typeface="Canva Sans Bold"/>
                <a:ea typeface="Canva Sans Bold"/>
                <a:cs typeface="Canva Sans Bold"/>
                <a:sym typeface="Canva Sans Bold"/>
              </a:rPr>
              <a:t>Clean text</a:t>
            </a:r>
          </a:p>
        </p:txBody>
      </p:sp>
      <p:sp>
        <p:nvSpPr>
          <p:cNvPr id="10" name="TextBox 10"/>
          <p:cNvSpPr txBox="1"/>
          <p:nvPr/>
        </p:nvSpPr>
        <p:spPr>
          <a:xfrm>
            <a:off x="428157" y="3116571"/>
            <a:ext cx="5667843" cy="887095"/>
          </a:xfrm>
          <a:prstGeom prst="rect">
            <a:avLst/>
          </a:prstGeom>
        </p:spPr>
        <p:txBody>
          <a:bodyPr wrap="square" lIns="0" tIns="0" rIns="0" bIns="0" rtlCol="0" anchor="t">
            <a:spAutoFit/>
          </a:bodyPr>
          <a:lstStyle/>
          <a:p>
            <a:pPr algn="ctr">
              <a:lnSpc>
                <a:spcPts val="7279"/>
              </a:lnSpc>
            </a:pPr>
            <a:r>
              <a:rPr lang="en-US" sz="5199" b="1" dirty="0">
                <a:solidFill>
                  <a:srgbClr val="2B2B2B"/>
                </a:solidFill>
                <a:latin typeface="Canva Sans Bold"/>
                <a:ea typeface="Canva Sans Bold"/>
                <a:cs typeface="Canva Sans Bold"/>
                <a:sym typeface="Canva Sans Bold"/>
              </a:rPr>
              <a:t>Train / Test split</a:t>
            </a:r>
          </a:p>
        </p:txBody>
      </p:sp>
      <p:sp>
        <p:nvSpPr>
          <p:cNvPr id="11" name="TextBox 11"/>
          <p:cNvSpPr txBox="1"/>
          <p:nvPr/>
        </p:nvSpPr>
        <p:spPr>
          <a:xfrm>
            <a:off x="428156" y="5673176"/>
            <a:ext cx="7191843" cy="887095"/>
          </a:xfrm>
          <a:prstGeom prst="rect">
            <a:avLst/>
          </a:prstGeom>
        </p:spPr>
        <p:txBody>
          <a:bodyPr wrap="square" lIns="0" tIns="0" rIns="0" bIns="0" rtlCol="0" anchor="t">
            <a:spAutoFit/>
          </a:bodyPr>
          <a:lstStyle/>
          <a:p>
            <a:pPr algn="ctr">
              <a:lnSpc>
                <a:spcPts val="7279"/>
              </a:lnSpc>
            </a:pPr>
            <a:r>
              <a:rPr lang="en-US" sz="5199" b="1" dirty="0">
                <a:solidFill>
                  <a:srgbClr val="2B2B2B"/>
                </a:solidFill>
                <a:latin typeface="Canva Sans Bold"/>
                <a:ea typeface="Canva Sans Bold"/>
                <a:cs typeface="Canva Sans Bold"/>
                <a:sym typeface="Canva Sans Bold"/>
              </a:rPr>
              <a:t>TF-IDF vectorization</a:t>
            </a:r>
          </a:p>
        </p:txBody>
      </p:sp>
      <p:pic>
        <p:nvPicPr>
          <p:cNvPr id="14" name="Picture 13">
            <a:extLst>
              <a:ext uri="{FF2B5EF4-FFF2-40B4-BE49-F238E27FC236}">
                <a16:creationId xmlns:a16="http://schemas.microsoft.com/office/drawing/2014/main" id="{71B01AA9-BD45-4D7B-85F8-EC5959AE4283}"/>
              </a:ext>
            </a:extLst>
          </p:cNvPr>
          <p:cNvPicPr>
            <a:picLocks noChangeAspect="1"/>
          </p:cNvPicPr>
          <p:nvPr/>
        </p:nvPicPr>
        <p:blipFill>
          <a:blip r:embed="rId5"/>
          <a:stretch>
            <a:fillRect/>
          </a:stretch>
        </p:blipFill>
        <p:spPr>
          <a:xfrm>
            <a:off x="461576" y="9880851"/>
            <a:ext cx="13406823" cy="901449"/>
          </a:xfrm>
          <a:prstGeom prst="rect">
            <a:avLst/>
          </a:prstGeom>
        </p:spPr>
      </p:pic>
      <p:sp>
        <p:nvSpPr>
          <p:cNvPr id="15" name="TextBox 14">
            <a:extLst>
              <a:ext uri="{FF2B5EF4-FFF2-40B4-BE49-F238E27FC236}">
                <a16:creationId xmlns:a16="http://schemas.microsoft.com/office/drawing/2014/main" id="{EC235CEE-F1C5-61C1-DCF7-734ED7D38C04}"/>
              </a:ext>
            </a:extLst>
          </p:cNvPr>
          <p:cNvSpPr txBox="1"/>
          <p:nvPr/>
        </p:nvSpPr>
        <p:spPr>
          <a:xfrm>
            <a:off x="838200" y="9002659"/>
            <a:ext cx="10134600" cy="784830"/>
          </a:xfrm>
          <a:prstGeom prst="rect">
            <a:avLst/>
          </a:prstGeom>
          <a:noFill/>
        </p:spPr>
        <p:txBody>
          <a:bodyPr wrap="square" rtlCol="0">
            <a:spAutoFit/>
          </a:bodyPr>
          <a:lstStyle/>
          <a:p>
            <a:r>
              <a:rPr lang="en-US" sz="4500" b="1" dirty="0"/>
              <a:t>Saving the Preprocessed CSV File</a:t>
            </a:r>
            <a:endParaRPr lang="en-IN" sz="45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68FD2-4709-E64F-4848-C6361F231A88}"/>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BA315F37-1AA8-9ECD-4609-A8C10EABB777}"/>
              </a:ext>
            </a:extLst>
          </p:cNvPr>
          <p:cNvGrpSpPr/>
          <p:nvPr/>
        </p:nvGrpSpPr>
        <p:grpSpPr>
          <a:xfrm>
            <a:off x="-381000" y="-375168"/>
            <a:ext cx="20257476" cy="11037336"/>
            <a:chOff x="0" y="0"/>
            <a:chExt cx="86189480" cy="46960551"/>
          </a:xfrm>
        </p:grpSpPr>
        <p:sp>
          <p:nvSpPr>
            <p:cNvPr id="3" name="Freeform 3">
              <a:extLst>
                <a:ext uri="{FF2B5EF4-FFF2-40B4-BE49-F238E27FC236}">
                  <a16:creationId xmlns:a16="http://schemas.microsoft.com/office/drawing/2014/main" id="{E4EDA88E-FD09-38A3-6F3E-50CF577A6879}"/>
                </a:ext>
              </a:extLst>
            </p:cNvPr>
            <p:cNvSpPr/>
            <p:nvPr/>
          </p:nvSpPr>
          <p:spPr>
            <a:xfrm>
              <a:off x="27787" y="4633"/>
              <a:ext cx="86117091" cy="46401849"/>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D2C1B3"/>
            </a:solidFill>
          </p:spPr>
          <p:txBody>
            <a:bodyPr/>
            <a:lstStyle/>
            <a:p>
              <a:endParaRPr lang="en-IN" dirty="0"/>
            </a:p>
          </p:txBody>
        </p:sp>
        <p:sp>
          <p:nvSpPr>
            <p:cNvPr id="4" name="Freeform 4">
              <a:extLst>
                <a:ext uri="{FF2B5EF4-FFF2-40B4-BE49-F238E27FC236}">
                  <a16:creationId xmlns:a16="http://schemas.microsoft.com/office/drawing/2014/main" id="{F4B3852E-A6DD-F8A9-85F8-EAC8FCEBC95E}"/>
                </a:ext>
              </a:extLst>
            </p:cNvPr>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D2C1B3"/>
            </a:solidFill>
          </p:spPr>
          <p:txBody>
            <a:bodyPr/>
            <a:lstStyle/>
            <a:p>
              <a:endParaRPr lang="en-IN"/>
            </a:p>
          </p:txBody>
        </p:sp>
      </p:grpSp>
      <p:sp>
        <p:nvSpPr>
          <p:cNvPr id="8" name="TextBox 8">
            <a:extLst>
              <a:ext uri="{FF2B5EF4-FFF2-40B4-BE49-F238E27FC236}">
                <a16:creationId xmlns:a16="http://schemas.microsoft.com/office/drawing/2014/main" id="{435B55AB-A011-DA0D-1006-D132C17AEC0C}"/>
              </a:ext>
            </a:extLst>
          </p:cNvPr>
          <p:cNvSpPr txBox="1"/>
          <p:nvPr/>
        </p:nvSpPr>
        <p:spPr>
          <a:xfrm>
            <a:off x="9459925" y="9002659"/>
            <a:ext cx="101560" cy="898875"/>
          </a:xfrm>
          <a:prstGeom prst="rect">
            <a:avLst/>
          </a:prstGeom>
        </p:spPr>
        <p:txBody>
          <a:bodyPr lIns="0" tIns="0" rIns="0" bIns="0" rtlCol="0" anchor="t">
            <a:spAutoFit/>
          </a:bodyPr>
          <a:lstStyle/>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p:txBody>
      </p:sp>
      <p:sp>
        <p:nvSpPr>
          <p:cNvPr id="10" name="TextBox 10">
            <a:extLst>
              <a:ext uri="{FF2B5EF4-FFF2-40B4-BE49-F238E27FC236}">
                <a16:creationId xmlns:a16="http://schemas.microsoft.com/office/drawing/2014/main" id="{F0EE94F3-52B2-E1BD-F833-33260F4F58E3}"/>
              </a:ext>
            </a:extLst>
          </p:cNvPr>
          <p:cNvSpPr txBox="1"/>
          <p:nvPr/>
        </p:nvSpPr>
        <p:spPr>
          <a:xfrm>
            <a:off x="428157" y="3116571"/>
            <a:ext cx="5667843" cy="887095"/>
          </a:xfrm>
          <a:prstGeom prst="rect">
            <a:avLst/>
          </a:prstGeom>
        </p:spPr>
        <p:txBody>
          <a:bodyPr wrap="square" lIns="0" tIns="0" rIns="0" bIns="0" rtlCol="0" anchor="t">
            <a:spAutoFit/>
          </a:bodyPr>
          <a:lstStyle/>
          <a:p>
            <a:pPr algn="ctr">
              <a:lnSpc>
                <a:spcPts val="7279"/>
              </a:lnSpc>
            </a:pPr>
            <a:endParaRPr lang="en-US" sz="5199" b="1" dirty="0">
              <a:solidFill>
                <a:srgbClr val="2B2B2B"/>
              </a:solidFill>
              <a:latin typeface="Canva Sans Bold"/>
              <a:ea typeface="Canva Sans Bold"/>
              <a:cs typeface="Canva Sans Bold"/>
              <a:sym typeface="Canva Sans Bold"/>
            </a:endParaRPr>
          </a:p>
        </p:txBody>
      </p:sp>
      <p:sp>
        <p:nvSpPr>
          <p:cNvPr id="15" name="Rectangle 1">
            <a:extLst>
              <a:ext uri="{FF2B5EF4-FFF2-40B4-BE49-F238E27FC236}">
                <a16:creationId xmlns:a16="http://schemas.microsoft.com/office/drawing/2014/main" id="{A4309D92-B498-BD1C-868C-FD13E48DE176}"/>
              </a:ext>
            </a:extLst>
          </p:cNvPr>
          <p:cNvSpPr>
            <a:spLocks noChangeArrowheads="1"/>
          </p:cNvSpPr>
          <p:nvPr/>
        </p:nvSpPr>
        <p:spPr bwMode="auto">
          <a:xfrm>
            <a:off x="0" y="-184666"/>
            <a:ext cx="26481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graphicFrame>
        <p:nvGraphicFramePr>
          <p:cNvPr id="6" name="Table 5">
            <a:extLst>
              <a:ext uri="{FF2B5EF4-FFF2-40B4-BE49-F238E27FC236}">
                <a16:creationId xmlns:a16="http://schemas.microsoft.com/office/drawing/2014/main" id="{F6756FC6-FA15-1532-03CD-2E86A9B79B6A}"/>
              </a:ext>
            </a:extLst>
          </p:cNvPr>
          <p:cNvGraphicFramePr>
            <a:graphicFrameLocks noGrp="1"/>
          </p:cNvGraphicFramePr>
          <p:nvPr>
            <p:extLst>
              <p:ext uri="{D42A27DB-BD31-4B8C-83A1-F6EECF244321}">
                <p14:modId xmlns:p14="http://schemas.microsoft.com/office/powerpoint/2010/main" val="2053749934"/>
              </p:ext>
            </p:extLst>
          </p:nvPr>
        </p:nvGraphicFramePr>
        <p:xfrm>
          <a:off x="457200" y="1851500"/>
          <a:ext cx="17068800" cy="7559200"/>
        </p:xfrm>
        <a:graphic>
          <a:graphicData uri="http://schemas.openxmlformats.org/drawingml/2006/table">
            <a:tbl>
              <a:tblPr/>
              <a:tblGrid>
                <a:gridCol w="1425700">
                  <a:extLst>
                    <a:ext uri="{9D8B030D-6E8A-4147-A177-3AD203B41FA5}">
                      <a16:colId xmlns:a16="http://schemas.microsoft.com/office/drawing/2014/main" val="3383171421"/>
                    </a:ext>
                  </a:extLst>
                </a:gridCol>
                <a:gridCol w="7821550">
                  <a:extLst>
                    <a:ext uri="{9D8B030D-6E8A-4147-A177-3AD203B41FA5}">
                      <a16:colId xmlns:a16="http://schemas.microsoft.com/office/drawing/2014/main" val="550475232"/>
                    </a:ext>
                  </a:extLst>
                </a:gridCol>
                <a:gridCol w="7821550">
                  <a:extLst>
                    <a:ext uri="{9D8B030D-6E8A-4147-A177-3AD203B41FA5}">
                      <a16:colId xmlns:a16="http://schemas.microsoft.com/office/drawing/2014/main" val="4038826073"/>
                    </a:ext>
                  </a:extLst>
                </a:gridCol>
              </a:tblGrid>
              <a:tr h="687200">
                <a:tc>
                  <a:txBody>
                    <a:bodyPr/>
                    <a:lstStyle/>
                    <a:p>
                      <a:pPr>
                        <a:buNone/>
                      </a:pPr>
                      <a:r>
                        <a:rPr lang="en-IN" sz="3200" b="1" dirty="0"/>
                        <a:t>label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b="1" dirty="0"/>
                        <a:t>Message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IN" sz="3200" b="1" dirty="0"/>
                        <a:t>Cleaned message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828568118"/>
                  </a:ext>
                </a:extLst>
              </a:tr>
              <a:tr h="1718000">
                <a:tc>
                  <a:txBody>
                    <a:bodyPr/>
                    <a:lstStyle/>
                    <a:p>
                      <a:pPr>
                        <a:buNone/>
                      </a:pPr>
                      <a:r>
                        <a:rPr lang="en-IN" sz="3200" dirty="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Go until </a:t>
                      </a:r>
                      <a:r>
                        <a:rPr lang="en-US" sz="3200" dirty="0" err="1"/>
                        <a:t>jurong</a:t>
                      </a:r>
                      <a:r>
                        <a:rPr lang="en-US" sz="3200" dirty="0"/>
                        <a:t> point, crazy.. Available only in </a:t>
                      </a:r>
                      <a:r>
                        <a:rPr lang="en-US" sz="3200" dirty="0" err="1"/>
                        <a:t>bugis</a:t>
                      </a:r>
                      <a:r>
                        <a:rPr lang="en-US" sz="3200" dirty="0"/>
                        <a:t> n great world...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go until </a:t>
                      </a:r>
                      <a:r>
                        <a:rPr lang="en-US" sz="3200" dirty="0" err="1"/>
                        <a:t>jurong</a:t>
                      </a:r>
                      <a:r>
                        <a:rPr lang="en-US" sz="3200" dirty="0"/>
                        <a:t> point crazy available only in </a:t>
                      </a:r>
                      <a:r>
                        <a:rPr lang="en-US" sz="3200" dirty="0" err="1"/>
                        <a:t>bugis</a:t>
                      </a:r>
                      <a:r>
                        <a:rPr lang="en-US" sz="3200" dirty="0"/>
                        <a:t> n great world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39165819"/>
                  </a:ext>
                </a:extLst>
              </a:tr>
              <a:tr h="1718000">
                <a:tc>
                  <a:txBody>
                    <a:bodyPr/>
                    <a:lstStyle/>
                    <a:p>
                      <a:pPr>
                        <a:buNone/>
                      </a:pPr>
                      <a:r>
                        <a:rPr lang="en-IN" sz="320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Free entry in 2 a wkly comp to win FA Cup final tkts 21st May 2005...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free entry in 2 a </a:t>
                      </a:r>
                      <a:r>
                        <a:rPr lang="en-US" sz="3200" dirty="0" err="1"/>
                        <a:t>wkly</a:t>
                      </a:r>
                      <a:r>
                        <a:rPr lang="en-US" sz="3200" dirty="0"/>
                        <a:t> comp to win fa cup final </a:t>
                      </a:r>
                      <a:r>
                        <a:rPr lang="en-US" sz="3200" dirty="0" err="1"/>
                        <a:t>tkts</a:t>
                      </a:r>
                      <a:r>
                        <a:rPr lang="en-US" sz="3200" dirty="0"/>
                        <a:t> 21st may 2005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07132158"/>
                  </a:ext>
                </a:extLst>
              </a:tr>
              <a:tr h="1718000">
                <a:tc>
                  <a:txBody>
                    <a:bodyPr/>
                    <a:lstStyle/>
                    <a:p>
                      <a:pPr>
                        <a:buNone/>
                      </a:pPr>
                      <a:r>
                        <a:rPr lang="en-IN" sz="3200"/>
                        <a:t>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Nah I don’t think he goes to </a:t>
                      </a:r>
                      <a:r>
                        <a:rPr lang="en-US" sz="3200" dirty="0" err="1"/>
                        <a:t>usf</a:t>
                      </a:r>
                      <a:r>
                        <a:rPr lang="en-US" sz="3200" dirty="0"/>
                        <a:t>, he lives around here though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nah </a:t>
                      </a:r>
                      <a:r>
                        <a:rPr lang="en-US" sz="3200" dirty="0" err="1"/>
                        <a:t>i</a:t>
                      </a:r>
                      <a:r>
                        <a:rPr lang="en-US" sz="3200" dirty="0"/>
                        <a:t> </a:t>
                      </a:r>
                      <a:r>
                        <a:rPr lang="en-US" sz="3200" dirty="0" err="1"/>
                        <a:t>dont</a:t>
                      </a:r>
                      <a:r>
                        <a:rPr lang="en-US" sz="3200" dirty="0"/>
                        <a:t> think he goes to </a:t>
                      </a:r>
                      <a:r>
                        <a:rPr lang="en-US" sz="3200" dirty="0" err="1"/>
                        <a:t>usf</a:t>
                      </a:r>
                      <a:r>
                        <a:rPr lang="en-US" sz="3200" dirty="0"/>
                        <a:t> he lives around here though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67616059"/>
                  </a:ext>
                </a:extLst>
              </a:tr>
              <a:tr h="1718000">
                <a:tc>
                  <a:txBody>
                    <a:bodyPr/>
                    <a:lstStyle/>
                    <a:p>
                      <a:pPr>
                        <a:buNone/>
                      </a:pPr>
                      <a:r>
                        <a:rPr lang="en-IN" sz="3200" dirty="0"/>
                        <a:t>1</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a:t>WINNER!! As a valued network customer you have been selected...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3200" dirty="0"/>
                        <a:t>winner as a valued network customer you have been selected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70615754"/>
                  </a:ext>
                </a:extLst>
              </a:tr>
            </a:tbl>
          </a:graphicData>
        </a:graphic>
      </p:graphicFrame>
      <p:sp>
        <p:nvSpPr>
          <p:cNvPr id="9" name="TextBox 8">
            <a:extLst>
              <a:ext uri="{FF2B5EF4-FFF2-40B4-BE49-F238E27FC236}">
                <a16:creationId xmlns:a16="http://schemas.microsoft.com/office/drawing/2014/main" id="{7404D9D1-A501-6606-D27E-719E38C0B28F}"/>
              </a:ext>
            </a:extLst>
          </p:cNvPr>
          <p:cNvSpPr txBox="1"/>
          <p:nvPr/>
        </p:nvSpPr>
        <p:spPr>
          <a:xfrm>
            <a:off x="2971800" y="184666"/>
            <a:ext cx="13487400" cy="861774"/>
          </a:xfrm>
          <a:prstGeom prst="rect">
            <a:avLst/>
          </a:prstGeom>
          <a:noFill/>
        </p:spPr>
        <p:txBody>
          <a:bodyPr wrap="square" rtlCol="0">
            <a:spAutoFit/>
          </a:bodyPr>
          <a:lstStyle/>
          <a:p>
            <a:r>
              <a:rPr lang="en-IN" sz="5000" b="1" dirty="0"/>
              <a:t>                       Ensuring Complete Data</a:t>
            </a:r>
          </a:p>
        </p:txBody>
      </p:sp>
    </p:spTree>
    <p:extLst>
      <p:ext uri="{BB962C8B-B14F-4D97-AF65-F5344CB8AC3E}">
        <p14:creationId xmlns:p14="http://schemas.microsoft.com/office/powerpoint/2010/main" val="1722653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216A6-C1CD-02E4-2594-60BE8658F0DF}"/>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422AA79D-ECBD-14D4-4A6F-B24E27427E8C}"/>
              </a:ext>
            </a:extLst>
          </p:cNvPr>
          <p:cNvGrpSpPr/>
          <p:nvPr/>
        </p:nvGrpSpPr>
        <p:grpSpPr>
          <a:xfrm>
            <a:off x="-152400" y="0"/>
            <a:ext cx="18440400" cy="10287000"/>
            <a:chOff x="0" y="0"/>
            <a:chExt cx="86189481" cy="46960552"/>
          </a:xfrm>
        </p:grpSpPr>
        <p:sp>
          <p:nvSpPr>
            <p:cNvPr id="3" name="Freeform 3">
              <a:extLst>
                <a:ext uri="{FF2B5EF4-FFF2-40B4-BE49-F238E27FC236}">
                  <a16:creationId xmlns:a16="http://schemas.microsoft.com/office/drawing/2014/main" id="{0D20C2ED-E8D8-584C-177E-D2CF077C004A}"/>
                </a:ext>
              </a:extLst>
            </p:cNvPr>
            <p:cNvSpPr/>
            <p:nvPr/>
          </p:nvSpPr>
          <p:spPr>
            <a:xfrm>
              <a:off x="72390" y="72390"/>
              <a:ext cx="86044704" cy="46815771"/>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D2C1B3"/>
            </a:solidFill>
          </p:spPr>
          <p:txBody>
            <a:bodyPr/>
            <a:lstStyle/>
            <a:p>
              <a:endParaRPr lang="en-IN"/>
            </a:p>
          </p:txBody>
        </p:sp>
        <p:sp>
          <p:nvSpPr>
            <p:cNvPr id="4" name="Freeform 4">
              <a:extLst>
                <a:ext uri="{FF2B5EF4-FFF2-40B4-BE49-F238E27FC236}">
                  <a16:creationId xmlns:a16="http://schemas.microsoft.com/office/drawing/2014/main" id="{4991F50B-B5C6-0906-C06C-DF49F6F607C8}"/>
                </a:ext>
              </a:extLst>
            </p:cNvPr>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D2C1B3"/>
            </a:solidFill>
          </p:spPr>
          <p:txBody>
            <a:bodyPr/>
            <a:lstStyle/>
            <a:p>
              <a:endParaRPr lang="en-IN"/>
            </a:p>
          </p:txBody>
        </p:sp>
      </p:grpSp>
      <p:sp>
        <p:nvSpPr>
          <p:cNvPr id="8" name="TextBox 8">
            <a:extLst>
              <a:ext uri="{FF2B5EF4-FFF2-40B4-BE49-F238E27FC236}">
                <a16:creationId xmlns:a16="http://schemas.microsoft.com/office/drawing/2014/main" id="{BE60F740-70CE-7F6E-0E2F-F7BB89161804}"/>
              </a:ext>
            </a:extLst>
          </p:cNvPr>
          <p:cNvSpPr txBox="1"/>
          <p:nvPr/>
        </p:nvSpPr>
        <p:spPr>
          <a:xfrm>
            <a:off x="9459925" y="9002659"/>
            <a:ext cx="101560" cy="898875"/>
          </a:xfrm>
          <a:prstGeom prst="rect">
            <a:avLst/>
          </a:prstGeom>
        </p:spPr>
        <p:txBody>
          <a:bodyPr lIns="0" tIns="0" rIns="0" bIns="0" rtlCol="0" anchor="t">
            <a:spAutoFit/>
          </a:bodyPr>
          <a:lstStyle/>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p:txBody>
      </p:sp>
      <p:pic>
        <p:nvPicPr>
          <p:cNvPr id="6" name="Picture 5">
            <a:extLst>
              <a:ext uri="{FF2B5EF4-FFF2-40B4-BE49-F238E27FC236}">
                <a16:creationId xmlns:a16="http://schemas.microsoft.com/office/drawing/2014/main" id="{7CA682F6-DA87-4409-4512-9775DE01BC76}"/>
              </a:ext>
            </a:extLst>
          </p:cNvPr>
          <p:cNvPicPr>
            <a:picLocks noChangeAspect="1"/>
          </p:cNvPicPr>
          <p:nvPr/>
        </p:nvPicPr>
        <p:blipFill>
          <a:blip r:embed="rId2">
            <a:extLst>
              <a:ext uri="{28A0092B-C50C-407E-A947-70E740481C1C}">
                <a14:useLocalDpi xmlns:a14="http://schemas.microsoft.com/office/drawing/2010/main" val="0"/>
              </a:ext>
            </a:extLst>
          </a:blip>
          <a:srcRect l="9498" r="7504" b="8225"/>
          <a:stretch>
            <a:fillRect/>
          </a:stretch>
        </p:blipFill>
        <p:spPr>
          <a:xfrm>
            <a:off x="12065369" y="100506"/>
            <a:ext cx="5181601" cy="4979385"/>
          </a:xfrm>
          <a:prstGeom prst="rect">
            <a:avLst/>
          </a:prstGeom>
        </p:spPr>
      </p:pic>
      <p:pic>
        <p:nvPicPr>
          <p:cNvPr id="9" name="Picture 8">
            <a:extLst>
              <a:ext uri="{FF2B5EF4-FFF2-40B4-BE49-F238E27FC236}">
                <a16:creationId xmlns:a16="http://schemas.microsoft.com/office/drawing/2014/main" id="{5C228A92-AD32-8B46-4CC2-CCAE9A3DF0A4}"/>
              </a:ext>
            </a:extLst>
          </p:cNvPr>
          <p:cNvPicPr>
            <a:picLocks noChangeAspect="1"/>
          </p:cNvPicPr>
          <p:nvPr/>
        </p:nvPicPr>
        <p:blipFill>
          <a:blip r:embed="rId3"/>
          <a:stretch>
            <a:fillRect/>
          </a:stretch>
        </p:blipFill>
        <p:spPr>
          <a:xfrm>
            <a:off x="816729" y="2249076"/>
            <a:ext cx="7650822" cy="1447800"/>
          </a:xfrm>
          <a:prstGeom prst="rect">
            <a:avLst/>
          </a:prstGeom>
        </p:spPr>
      </p:pic>
      <p:sp>
        <p:nvSpPr>
          <p:cNvPr id="11" name="TextBox 10">
            <a:extLst>
              <a:ext uri="{FF2B5EF4-FFF2-40B4-BE49-F238E27FC236}">
                <a16:creationId xmlns:a16="http://schemas.microsoft.com/office/drawing/2014/main" id="{06478EF8-546D-8C32-7801-C4D04F517C34}"/>
              </a:ext>
            </a:extLst>
          </p:cNvPr>
          <p:cNvSpPr txBox="1"/>
          <p:nvPr/>
        </p:nvSpPr>
        <p:spPr>
          <a:xfrm>
            <a:off x="816729" y="1387653"/>
            <a:ext cx="10372298" cy="1569660"/>
          </a:xfrm>
          <a:prstGeom prst="rect">
            <a:avLst/>
          </a:prstGeom>
          <a:noFill/>
        </p:spPr>
        <p:txBody>
          <a:bodyPr wrap="square">
            <a:spAutoFit/>
          </a:bodyPr>
          <a:lstStyle/>
          <a:p>
            <a:r>
              <a:rPr lang="en-US" sz="4800" b="1" dirty="0">
                <a:solidFill>
                  <a:srgbClr val="2B2B2B"/>
                </a:solidFill>
                <a:latin typeface="Canva Sans Bold"/>
                <a:ea typeface="Canva Sans Bold"/>
                <a:cs typeface="Canva Sans Bold"/>
                <a:sym typeface="Canva Sans Bold"/>
              </a:rPr>
              <a:t>Imports</a:t>
            </a:r>
          </a:p>
          <a:p>
            <a:endParaRPr lang="en-IN" sz="4800" b="1" dirty="0"/>
          </a:p>
        </p:txBody>
      </p:sp>
      <p:sp>
        <p:nvSpPr>
          <p:cNvPr id="13" name="TextBox 12">
            <a:extLst>
              <a:ext uri="{FF2B5EF4-FFF2-40B4-BE49-F238E27FC236}">
                <a16:creationId xmlns:a16="http://schemas.microsoft.com/office/drawing/2014/main" id="{321E4519-9AEE-15B3-C490-8E71C5732E06}"/>
              </a:ext>
            </a:extLst>
          </p:cNvPr>
          <p:cNvSpPr txBox="1"/>
          <p:nvPr/>
        </p:nvSpPr>
        <p:spPr>
          <a:xfrm>
            <a:off x="780197" y="3652509"/>
            <a:ext cx="10372298" cy="830997"/>
          </a:xfrm>
          <a:prstGeom prst="rect">
            <a:avLst/>
          </a:prstGeom>
          <a:noFill/>
        </p:spPr>
        <p:txBody>
          <a:bodyPr wrap="square">
            <a:spAutoFit/>
          </a:bodyPr>
          <a:lstStyle/>
          <a:p>
            <a:r>
              <a:rPr lang="en-IN" sz="4800" b="1" dirty="0"/>
              <a:t>Load Data &amp; Select Columns</a:t>
            </a:r>
          </a:p>
        </p:txBody>
      </p:sp>
      <p:pic>
        <p:nvPicPr>
          <p:cNvPr id="15" name="Picture 14">
            <a:extLst>
              <a:ext uri="{FF2B5EF4-FFF2-40B4-BE49-F238E27FC236}">
                <a16:creationId xmlns:a16="http://schemas.microsoft.com/office/drawing/2014/main" id="{2B0F79DA-6C06-586A-B844-DF9F2F0DE46C}"/>
              </a:ext>
            </a:extLst>
          </p:cNvPr>
          <p:cNvPicPr>
            <a:picLocks noChangeAspect="1"/>
          </p:cNvPicPr>
          <p:nvPr/>
        </p:nvPicPr>
        <p:blipFill>
          <a:blip r:embed="rId4"/>
          <a:srcRect l="240" t="14969"/>
          <a:stretch>
            <a:fillRect/>
          </a:stretch>
        </p:blipFill>
        <p:spPr>
          <a:xfrm>
            <a:off x="780197" y="4503219"/>
            <a:ext cx="7556425" cy="1563243"/>
          </a:xfrm>
          <a:prstGeom prst="rect">
            <a:avLst/>
          </a:prstGeom>
        </p:spPr>
      </p:pic>
      <p:sp>
        <p:nvSpPr>
          <p:cNvPr id="17" name="TextBox 16">
            <a:extLst>
              <a:ext uri="{FF2B5EF4-FFF2-40B4-BE49-F238E27FC236}">
                <a16:creationId xmlns:a16="http://schemas.microsoft.com/office/drawing/2014/main" id="{52353648-62F3-4C0F-40E5-017B9B79A131}"/>
              </a:ext>
            </a:extLst>
          </p:cNvPr>
          <p:cNvSpPr txBox="1"/>
          <p:nvPr/>
        </p:nvSpPr>
        <p:spPr>
          <a:xfrm>
            <a:off x="738909" y="6156996"/>
            <a:ext cx="10372298" cy="830997"/>
          </a:xfrm>
          <a:prstGeom prst="rect">
            <a:avLst/>
          </a:prstGeom>
          <a:noFill/>
        </p:spPr>
        <p:txBody>
          <a:bodyPr wrap="square">
            <a:spAutoFit/>
          </a:bodyPr>
          <a:lstStyle/>
          <a:p>
            <a:r>
              <a:rPr lang="en-IN" sz="4800" b="1" dirty="0"/>
              <a:t>Encode Labels</a:t>
            </a:r>
          </a:p>
        </p:txBody>
      </p:sp>
      <p:pic>
        <p:nvPicPr>
          <p:cNvPr id="19" name="Picture 18">
            <a:extLst>
              <a:ext uri="{FF2B5EF4-FFF2-40B4-BE49-F238E27FC236}">
                <a16:creationId xmlns:a16="http://schemas.microsoft.com/office/drawing/2014/main" id="{36EDF0DF-1AD8-934C-D103-E3464F1502DC}"/>
              </a:ext>
            </a:extLst>
          </p:cNvPr>
          <p:cNvPicPr>
            <a:picLocks noChangeAspect="1"/>
          </p:cNvPicPr>
          <p:nvPr/>
        </p:nvPicPr>
        <p:blipFill>
          <a:blip r:embed="rId5"/>
          <a:stretch>
            <a:fillRect/>
          </a:stretch>
        </p:blipFill>
        <p:spPr>
          <a:xfrm>
            <a:off x="745394" y="7206927"/>
            <a:ext cx="7566909" cy="830997"/>
          </a:xfrm>
          <a:prstGeom prst="rect">
            <a:avLst/>
          </a:prstGeom>
        </p:spPr>
      </p:pic>
      <p:sp>
        <p:nvSpPr>
          <p:cNvPr id="21" name="TextBox 20">
            <a:extLst>
              <a:ext uri="{FF2B5EF4-FFF2-40B4-BE49-F238E27FC236}">
                <a16:creationId xmlns:a16="http://schemas.microsoft.com/office/drawing/2014/main" id="{A0E03516-0032-E386-D810-374EF5F5858F}"/>
              </a:ext>
            </a:extLst>
          </p:cNvPr>
          <p:cNvSpPr txBox="1"/>
          <p:nvPr/>
        </p:nvSpPr>
        <p:spPr>
          <a:xfrm>
            <a:off x="658504" y="8343904"/>
            <a:ext cx="10126638" cy="830997"/>
          </a:xfrm>
          <a:prstGeom prst="rect">
            <a:avLst/>
          </a:prstGeom>
          <a:noFill/>
        </p:spPr>
        <p:txBody>
          <a:bodyPr wrap="square">
            <a:spAutoFit/>
          </a:bodyPr>
          <a:lstStyle/>
          <a:p>
            <a:r>
              <a:rPr lang="en-US" sz="4800" b="1" dirty="0"/>
              <a:t>Line Used for Pie Chart</a:t>
            </a:r>
            <a:endParaRPr lang="en-IN" sz="4800" b="1" dirty="0"/>
          </a:p>
        </p:txBody>
      </p:sp>
      <p:pic>
        <p:nvPicPr>
          <p:cNvPr id="23" name="Picture 22">
            <a:extLst>
              <a:ext uri="{FF2B5EF4-FFF2-40B4-BE49-F238E27FC236}">
                <a16:creationId xmlns:a16="http://schemas.microsoft.com/office/drawing/2014/main" id="{899596A6-56C8-1761-E52B-AAD0517A8667}"/>
              </a:ext>
            </a:extLst>
          </p:cNvPr>
          <p:cNvPicPr>
            <a:picLocks noChangeAspect="1"/>
          </p:cNvPicPr>
          <p:nvPr/>
        </p:nvPicPr>
        <p:blipFill>
          <a:blip r:embed="rId6"/>
          <a:stretch>
            <a:fillRect/>
          </a:stretch>
        </p:blipFill>
        <p:spPr>
          <a:xfrm>
            <a:off x="693709" y="9576190"/>
            <a:ext cx="7476937" cy="1008921"/>
          </a:xfrm>
          <a:prstGeom prst="rect">
            <a:avLst/>
          </a:prstGeom>
        </p:spPr>
      </p:pic>
      <p:pic>
        <p:nvPicPr>
          <p:cNvPr id="25" name="Picture 24">
            <a:extLst>
              <a:ext uri="{FF2B5EF4-FFF2-40B4-BE49-F238E27FC236}">
                <a16:creationId xmlns:a16="http://schemas.microsoft.com/office/drawing/2014/main" id="{22D52817-BFA8-15AA-DAED-7C00B18A9504}"/>
              </a:ext>
            </a:extLst>
          </p:cNvPr>
          <p:cNvPicPr>
            <a:picLocks noChangeAspect="1"/>
          </p:cNvPicPr>
          <p:nvPr/>
        </p:nvPicPr>
        <p:blipFill>
          <a:blip r:embed="rId7"/>
          <a:stretch>
            <a:fillRect/>
          </a:stretch>
        </p:blipFill>
        <p:spPr>
          <a:xfrm>
            <a:off x="10179170" y="5985428"/>
            <a:ext cx="7566910" cy="4354250"/>
          </a:xfrm>
          <a:prstGeom prst="rect">
            <a:avLst/>
          </a:prstGeom>
        </p:spPr>
      </p:pic>
      <p:sp>
        <p:nvSpPr>
          <p:cNvPr id="27" name="TextBox 26">
            <a:extLst>
              <a:ext uri="{FF2B5EF4-FFF2-40B4-BE49-F238E27FC236}">
                <a16:creationId xmlns:a16="http://schemas.microsoft.com/office/drawing/2014/main" id="{D56B4D9E-772F-9401-524C-B80FE0B9EB00}"/>
              </a:ext>
            </a:extLst>
          </p:cNvPr>
          <p:cNvSpPr txBox="1"/>
          <p:nvPr/>
        </p:nvSpPr>
        <p:spPr>
          <a:xfrm>
            <a:off x="10785142" y="5207109"/>
            <a:ext cx="10372298" cy="830997"/>
          </a:xfrm>
          <a:prstGeom prst="rect">
            <a:avLst/>
          </a:prstGeom>
          <a:noFill/>
        </p:spPr>
        <p:txBody>
          <a:bodyPr wrap="square">
            <a:spAutoFit/>
          </a:bodyPr>
          <a:lstStyle/>
          <a:p>
            <a:r>
              <a:rPr lang="en-IN" sz="4800" b="1" dirty="0"/>
              <a:t>Plot Pie Chart</a:t>
            </a:r>
          </a:p>
        </p:txBody>
      </p:sp>
      <p:sp>
        <p:nvSpPr>
          <p:cNvPr id="28" name="TextBox 27">
            <a:extLst>
              <a:ext uri="{FF2B5EF4-FFF2-40B4-BE49-F238E27FC236}">
                <a16:creationId xmlns:a16="http://schemas.microsoft.com/office/drawing/2014/main" id="{AFB46D7E-168D-5BB1-B28F-22C867258B23}"/>
              </a:ext>
            </a:extLst>
          </p:cNvPr>
          <p:cNvSpPr txBox="1"/>
          <p:nvPr/>
        </p:nvSpPr>
        <p:spPr>
          <a:xfrm>
            <a:off x="7005348" y="290229"/>
            <a:ext cx="5702423" cy="1169551"/>
          </a:xfrm>
          <a:prstGeom prst="rect">
            <a:avLst/>
          </a:prstGeom>
          <a:noFill/>
        </p:spPr>
        <p:txBody>
          <a:bodyPr wrap="square" rtlCol="0">
            <a:spAutoFit/>
          </a:bodyPr>
          <a:lstStyle/>
          <a:p>
            <a:r>
              <a:rPr lang="en-US" sz="7000" b="1" dirty="0"/>
              <a:t>Pie  Chart</a:t>
            </a:r>
            <a:endParaRPr lang="en-IN" sz="7000" b="1" dirty="0"/>
          </a:p>
        </p:txBody>
      </p:sp>
    </p:spTree>
    <p:extLst>
      <p:ext uri="{BB962C8B-B14F-4D97-AF65-F5344CB8AC3E}">
        <p14:creationId xmlns:p14="http://schemas.microsoft.com/office/powerpoint/2010/main" val="8192513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BFF44-7615-BAD9-226D-723A1E87E665}"/>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EA599825-795D-995C-7E32-1AB91E0EBCC3}"/>
              </a:ext>
            </a:extLst>
          </p:cNvPr>
          <p:cNvGrpSpPr/>
          <p:nvPr/>
        </p:nvGrpSpPr>
        <p:grpSpPr>
          <a:xfrm>
            <a:off x="-480231" y="7928"/>
            <a:ext cx="18768231" cy="10279071"/>
            <a:chOff x="0" y="0"/>
            <a:chExt cx="86189481" cy="46960552"/>
          </a:xfrm>
        </p:grpSpPr>
        <p:sp>
          <p:nvSpPr>
            <p:cNvPr id="3" name="Freeform 3">
              <a:extLst>
                <a:ext uri="{FF2B5EF4-FFF2-40B4-BE49-F238E27FC236}">
                  <a16:creationId xmlns:a16="http://schemas.microsoft.com/office/drawing/2014/main" id="{C7FCBC70-0BD6-EDC0-F3B5-1848D54C4685}"/>
                </a:ext>
              </a:extLst>
            </p:cNvPr>
            <p:cNvSpPr/>
            <p:nvPr/>
          </p:nvSpPr>
          <p:spPr>
            <a:xfrm>
              <a:off x="72390" y="72390"/>
              <a:ext cx="86044704" cy="46815771"/>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D2C1B3"/>
            </a:solidFill>
          </p:spPr>
          <p:txBody>
            <a:bodyPr/>
            <a:lstStyle/>
            <a:p>
              <a:endParaRPr lang="en-IN"/>
            </a:p>
          </p:txBody>
        </p:sp>
        <p:sp>
          <p:nvSpPr>
            <p:cNvPr id="4" name="Freeform 4">
              <a:extLst>
                <a:ext uri="{FF2B5EF4-FFF2-40B4-BE49-F238E27FC236}">
                  <a16:creationId xmlns:a16="http://schemas.microsoft.com/office/drawing/2014/main" id="{12435E6C-757C-17D8-9074-654EC74EEB2A}"/>
                </a:ext>
              </a:extLst>
            </p:cNvPr>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D2C1B3"/>
            </a:solidFill>
          </p:spPr>
          <p:txBody>
            <a:bodyPr/>
            <a:lstStyle/>
            <a:p>
              <a:endParaRPr lang="en-IN"/>
            </a:p>
          </p:txBody>
        </p:sp>
      </p:grpSp>
      <p:sp>
        <p:nvSpPr>
          <p:cNvPr id="8" name="TextBox 8">
            <a:extLst>
              <a:ext uri="{FF2B5EF4-FFF2-40B4-BE49-F238E27FC236}">
                <a16:creationId xmlns:a16="http://schemas.microsoft.com/office/drawing/2014/main" id="{D26CD16F-3046-BA82-3C0F-66722291E76D}"/>
              </a:ext>
            </a:extLst>
          </p:cNvPr>
          <p:cNvSpPr txBox="1"/>
          <p:nvPr/>
        </p:nvSpPr>
        <p:spPr>
          <a:xfrm>
            <a:off x="9459925" y="9002659"/>
            <a:ext cx="101560" cy="898875"/>
          </a:xfrm>
          <a:prstGeom prst="rect">
            <a:avLst/>
          </a:prstGeom>
        </p:spPr>
        <p:txBody>
          <a:bodyPr lIns="0" tIns="0" rIns="0" bIns="0" rtlCol="0" anchor="t">
            <a:spAutoFit/>
          </a:bodyPr>
          <a:lstStyle/>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p:txBody>
      </p:sp>
      <p:pic>
        <p:nvPicPr>
          <p:cNvPr id="13" name="Picture 12">
            <a:extLst>
              <a:ext uri="{FF2B5EF4-FFF2-40B4-BE49-F238E27FC236}">
                <a16:creationId xmlns:a16="http://schemas.microsoft.com/office/drawing/2014/main" id="{70A1AD50-6F1D-46C3-3918-CE5C4D6F35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881997" y="1542122"/>
            <a:ext cx="9406003" cy="5878752"/>
          </a:xfrm>
          <a:prstGeom prst="rect">
            <a:avLst/>
          </a:prstGeom>
        </p:spPr>
      </p:pic>
      <p:sp>
        <p:nvSpPr>
          <p:cNvPr id="17" name="TextBox 16">
            <a:extLst>
              <a:ext uri="{FF2B5EF4-FFF2-40B4-BE49-F238E27FC236}">
                <a16:creationId xmlns:a16="http://schemas.microsoft.com/office/drawing/2014/main" id="{953B6735-A69C-CBB5-B9DC-3E26F44E13EA}"/>
              </a:ext>
            </a:extLst>
          </p:cNvPr>
          <p:cNvSpPr txBox="1"/>
          <p:nvPr/>
        </p:nvSpPr>
        <p:spPr>
          <a:xfrm>
            <a:off x="0" y="1079930"/>
            <a:ext cx="10486416" cy="830997"/>
          </a:xfrm>
          <a:prstGeom prst="rect">
            <a:avLst/>
          </a:prstGeom>
          <a:noFill/>
        </p:spPr>
        <p:txBody>
          <a:bodyPr wrap="square">
            <a:spAutoFit/>
          </a:bodyPr>
          <a:lstStyle/>
          <a:p>
            <a:r>
              <a:rPr lang="en-IN" sz="4800" b="1" dirty="0"/>
              <a:t>Imports</a:t>
            </a:r>
          </a:p>
        </p:txBody>
      </p:sp>
      <p:pic>
        <p:nvPicPr>
          <p:cNvPr id="19" name="Picture 18">
            <a:extLst>
              <a:ext uri="{FF2B5EF4-FFF2-40B4-BE49-F238E27FC236}">
                <a16:creationId xmlns:a16="http://schemas.microsoft.com/office/drawing/2014/main" id="{64DA5177-3C5B-8ABD-B5C4-5645AD72C611}"/>
              </a:ext>
            </a:extLst>
          </p:cNvPr>
          <p:cNvPicPr>
            <a:picLocks noChangeAspect="1"/>
          </p:cNvPicPr>
          <p:nvPr/>
        </p:nvPicPr>
        <p:blipFill>
          <a:blip r:embed="rId3"/>
          <a:stretch>
            <a:fillRect/>
          </a:stretch>
        </p:blipFill>
        <p:spPr>
          <a:xfrm>
            <a:off x="-32426" y="2204123"/>
            <a:ext cx="8486917" cy="1279071"/>
          </a:xfrm>
          <a:prstGeom prst="rect">
            <a:avLst/>
          </a:prstGeom>
        </p:spPr>
      </p:pic>
      <p:sp>
        <p:nvSpPr>
          <p:cNvPr id="21" name="TextBox 20">
            <a:extLst>
              <a:ext uri="{FF2B5EF4-FFF2-40B4-BE49-F238E27FC236}">
                <a16:creationId xmlns:a16="http://schemas.microsoft.com/office/drawing/2014/main" id="{1C0580B9-68B3-CF98-084D-86AB4BAB7AE2}"/>
              </a:ext>
            </a:extLst>
          </p:cNvPr>
          <p:cNvSpPr txBox="1"/>
          <p:nvPr/>
        </p:nvSpPr>
        <p:spPr>
          <a:xfrm>
            <a:off x="-32426" y="3680559"/>
            <a:ext cx="10486416" cy="830997"/>
          </a:xfrm>
          <a:prstGeom prst="rect">
            <a:avLst/>
          </a:prstGeom>
          <a:noFill/>
        </p:spPr>
        <p:txBody>
          <a:bodyPr wrap="square">
            <a:spAutoFit/>
          </a:bodyPr>
          <a:lstStyle/>
          <a:p>
            <a:r>
              <a:rPr lang="en-IN" sz="4800" b="1" dirty="0"/>
              <a:t>Feature Importances</a:t>
            </a:r>
          </a:p>
        </p:txBody>
      </p:sp>
      <p:pic>
        <p:nvPicPr>
          <p:cNvPr id="23" name="Picture 22">
            <a:extLst>
              <a:ext uri="{FF2B5EF4-FFF2-40B4-BE49-F238E27FC236}">
                <a16:creationId xmlns:a16="http://schemas.microsoft.com/office/drawing/2014/main" id="{210B55A5-68E5-4CB4-8764-0ABB9C1EA0A3}"/>
              </a:ext>
            </a:extLst>
          </p:cNvPr>
          <p:cNvPicPr>
            <a:picLocks noChangeAspect="1"/>
          </p:cNvPicPr>
          <p:nvPr/>
        </p:nvPicPr>
        <p:blipFill>
          <a:blip r:embed="rId4"/>
          <a:stretch>
            <a:fillRect/>
          </a:stretch>
        </p:blipFill>
        <p:spPr>
          <a:xfrm>
            <a:off x="-16214" y="4685412"/>
            <a:ext cx="8454491" cy="2257896"/>
          </a:xfrm>
          <a:prstGeom prst="rect">
            <a:avLst/>
          </a:prstGeom>
        </p:spPr>
      </p:pic>
      <p:pic>
        <p:nvPicPr>
          <p:cNvPr id="25" name="Picture 24">
            <a:extLst>
              <a:ext uri="{FF2B5EF4-FFF2-40B4-BE49-F238E27FC236}">
                <a16:creationId xmlns:a16="http://schemas.microsoft.com/office/drawing/2014/main" id="{7ACCDF12-9E8B-88B6-04F0-63F7EF5875DC}"/>
              </a:ext>
            </a:extLst>
          </p:cNvPr>
          <p:cNvPicPr>
            <a:picLocks noChangeAspect="1"/>
          </p:cNvPicPr>
          <p:nvPr/>
        </p:nvPicPr>
        <p:blipFill>
          <a:blip r:embed="rId5"/>
          <a:stretch>
            <a:fillRect/>
          </a:stretch>
        </p:blipFill>
        <p:spPr>
          <a:xfrm>
            <a:off x="-70396" y="7901569"/>
            <a:ext cx="8352931" cy="2257895"/>
          </a:xfrm>
          <a:prstGeom prst="rect">
            <a:avLst/>
          </a:prstGeom>
        </p:spPr>
      </p:pic>
      <p:sp>
        <p:nvSpPr>
          <p:cNvPr id="27" name="TextBox 26">
            <a:extLst>
              <a:ext uri="{FF2B5EF4-FFF2-40B4-BE49-F238E27FC236}">
                <a16:creationId xmlns:a16="http://schemas.microsoft.com/office/drawing/2014/main" id="{D3C06DCC-6142-26CB-870F-33A677FA5063}"/>
              </a:ext>
            </a:extLst>
          </p:cNvPr>
          <p:cNvSpPr txBox="1"/>
          <p:nvPr/>
        </p:nvSpPr>
        <p:spPr>
          <a:xfrm>
            <a:off x="152400" y="7054716"/>
            <a:ext cx="10486416" cy="830997"/>
          </a:xfrm>
          <a:prstGeom prst="rect">
            <a:avLst/>
          </a:prstGeom>
          <a:noFill/>
        </p:spPr>
        <p:txBody>
          <a:bodyPr wrap="square">
            <a:spAutoFit/>
          </a:bodyPr>
          <a:lstStyle/>
          <a:p>
            <a:r>
              <a:rPr lang="en-IN" sz="4800" b="1" dirty="0"/>
              <a:t>Plot Bar Chart</a:t>
            </a:r>
          </a:p>
        </p:txBody>
      </p:sp>
      <p:pic>
        <p:nvPicPr>
          <p:cNvPr id="29" name="Picture 28">
            <a:extLst>
              <a:ext uri="{FF2B5EF4-FFF2-40B4-BE49-F238E27FC236}">
                <a16:creationId xmlns:a16="http://schemas.microsoft.com/office/drawing/2014/main" id="{ED0C89FD-570F-B3FE-40FE-D1679F4AC6F3}"/>
              </a:ext>
            </a:extLst>
          </p:cNvPr>
          <p:cNvPicPr>
            <a:picLocks noChangeAspect="1"/>
          </p:cNvPicPr>
          <p:nvPr/>
        </p:nvPicPr>
        <p:blipFill>
          <a:blip r:embed="rId6"/>
          <a:stretch>
            <a:fillRect/>
          </a:stretch>
        </p:blipFill>
        <p:spPr>
          <a:xfrm>
            <a:off x="8686800" y="8744878"/>
            <a:ext cx="9440713" cy="948661"/>
          </a:xfrm>
          <a:prstGeom prst="rect">
            <a:avLst/>
          </a:prstGeom>
        </p:spPr>
      </p:pic>
      <p:sp>
        <p:nvSpPr>
          <p:cNvPr id="31" name="TextBox 30">
            <a:extLst>
              <a:ext uri="{FF2B5EF4-FFF2-40B4-BE49-F238E27FC236}">
                <a16:creationId xmlns:a16="http://schemas.microsoft.com/office/drawing/2014/main" id="{C59058E4-A8A4-5384-B7C1-D4A9428F1E18}"/>
              </a:ext>
            </a:extLst>
          </p:cNvPr>
          <p:cNvSpPr txBox="1"/>
          <p:nvPr/>
        </p:nvSpPr>
        <p:spPr>
          <a:xfrm>
            <a:off x="8903884" y="7628767"/>
            <a:ext cx="10136220" cy="830997"/>
          </a:xfrm>
          <a:prstGeom prst="rect">
            <a:avLst/>
          </a:prstGeom>
          <a:noFill/>
        </p:spPr>
        <p:txBody>
          <a:bodyPr wrap="square">
            <a:spAutoFit/>
          </a:bodyPr>
          <a:lstStyle/>
          <a:p>
            <a:r>
              <a:rPr lang="en-US" sz="4800" b="1" dirty="0"/>
              <a:t>Line Used for Horizontal Bar Chart</a:t>
            </a:r>
            <a:endParaRPr lang="en-IN" sz="4800" b="1" dirty="0"/>
          </a:p>
        </p:txBody>
      </p:sp>
      <p:sp>
        <p:nvSpPr>
          <p:cNvPr id="32" name="TextBox 31">
            <a:extLst>
              <a:ext uri="{FF2B5EF4-FFF2-40B4-BE49-F238E27FC236}">
                <a16:creationId xmlns:a16="http://schemas.microsoft.com/office/drawing/2014/main" id="{D9771AD5-C72D-33B0-0468-927BC8F8C332}"/>
              </a:ext>
            </a:extLst>
          </p:cNvPr>
          <p:cNvSpPr txBox="1"/>
          <p:nvPr/>
        </p:nvSpPr>
        <p:spPr>
          <a:xfrm>
            <a:off x="5654361" y="305294"/>
            <a:ext cx="11125200" cy="1015663"/>
          </a:xfrm>
          <a:prstGeom prst="rect">
            <a:avLst/>
          </a:prstGeom>
          <a:noFill/>
        </p:spPr>
        <p:txBody>
          <a:bodyPr wrap="square" rtlCol="0">
            <a:spAutoFit/>
          </a:bodyPr>
          <a:lstStyle/>
          <a:p>
            <a:r>
              <a:rPr lang="en-US" sz="6000" b="1" dirty="0"/>
              <a:t>Horizontal Bar Chart</a:t>
            </a:r>
            <a:endParaRPr lang="en-IN" sz="6000" b="1" dirty="0"/>
          </a:p>
        </p:txBody>
      </p:sp>
    </p:spTree>
    <p:extLst>
      <p:ext uri="{BB962C8B-B14F-4D97-AF65-F5344CB8AC3E}">
        <p14:creationId xmlns:p14="http://schemas.microsoft.com/office/powerpoint/2010/main" val="289956410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FE053-ABE7-BE71-6A7A-1882C5598F07}"/>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CB3729F-3B7C-008F-9594-86B1846D1718}"/>
              </a:ext>
            </a:extLst>
          </p:cNvPr>
          <p:cNvGrpSpPr/>
          <p:nvPr/>
        </p:nvGrpSpPr>
        <p:grpSpPr>
          <a:xfrm>
            <a:off x="0" y="-68505"/>
            <a:ext cx="18288000" cy="10617032"/>
            <a:chOff x="0" y="0"/>
            <a:chExt cx="86189481" cy="46960552"/>
          </a:xfrm>
        </p:grpSpPr>
        <p:sp>
          <p:nvSpPr>
            <p:cNvPr id="3" name="Freeform 3">
              <a:extLst>
                <a:ext uri="{FF2B5EF4-FFF2-40B4-BE49-F238E27FC236}">
                  <a16:creationId xmlns:a16="http://schemas.microsoft.com/office/drawing/2014/main" id="{2FCBA5FD-1126-121A-5E69-9D964B5F54B1}"/>
                </a:ext>
              </a:extLst>
            </p:cNvPr>
            <p:cNvSpPr/>
            <p:nvPr/>
          </p:nvSpPr>
          <p:spPr>
            <a:xfrm>
              <a:off x="72390" y="72390"/>
              <a:ext cx="86044704" cy="46815771"/>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D2C1B3"/>
            </a:solidFill>
          </p:spPr>
          <p:txBody>
            <a:bodyPr/>
            <a:lstStyle/>
            <a:p>
              <a:endParaRPr lang="en-IN"/>
            </a:p>
          </p:txBody>
        </p:sp>
        <p:sp>
          <p:nvSpPr>
            <p:cNvPr id="4" name="Freeform 4">
              <a:extLst>
                <a:ext uri="{FF2B5EF4-FFF2-40B4-BE49-F238E27FC236}">
                  <a16:creationId xmlns:a16="http://schemas.microsoft.com/office/drawing/2014/main" id="{2C42D03A-09EC-FD76-094A-79AD0CD2159A}"/>
                </a:ext>
              </a:extLst>
            </p:cNvPr>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D2C1B3"/>
            </a:solidFill>
          </p:spPr>
          <p:txBody>
            <a:bodyPr/>
            <a:lstStyle/>
            <a:p>
              <a:endParaRPr lang="en-IN"/>
            </a:p>
          </p:txBody>
        </p:sp>
      </p:grpSp>
      <p:sp>
        <p:nvSpPr>
          <p:cNvPr id="8" name="TextBox 8">
            <a:extLst>
              <a:ext uri="{FF2B5EF4-FFF2-40B4-BE49-F238E27FC236}">
                <a16:creationId xmlns:a16="http://schemas.microsoft.com/office/drawing/2014/main" id="{B2DB1AB0-4B38-C85F-6057-A2593B4D2604}"/>
              </a:ext>
            </a:extLst>
          </p:cNvPr>
          <p:cNvSpPr txBox="1"/>
          <p:nvPr/>
        </p:nvSpPr>
        <p:spPr>
          <a:xfrm>
            <a:off x="9459925" y="9002659"/>
            <a:ext cx="101560" cy="898875"/>
          </a:xfrm>
          <a:prstGeom prst="rect">
            <a:avLst/>
          </a:prstGeom>
        </p:spPr>
        <p:txBody>
          <a:bodyPr lIns="0" tIns="0" rIns="0" bIns="0" rtlCol="0" anchor="t">
            <a:spAutoFit/>
          </a:bodyPr>
          <a:lstStyle/>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p:txBody>
      </p:sp>
      <p:pic>
        <p:nvPicPr>
          <p:cNvPr id="6" name="Picture 5">
            <a:extLst>
              <a:ext uri="{FF2B5EF4-FFF2-40B4-BE49-F238E27FC236}">
                <a16:creationId xmlns:a16="http://schemas.microsoft.com/office/drawing/2014/main" id="{B94F4B26-4AA6-AADB-88FE-0BAC6F3AE8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07794" y="750290"/>
            <a:ext cx="7362780" cy="6135650"/>
          </a:xfrm>
          <a:prstGeom prst="rect">
            <a:avLst/>
          </a:prstGeom>
        </p:spPr>
      </p:pic>
      <p:sp>
        <p:nvSpPr>
          <p:cNvPr id="7" name="TextBox 6">
            <a:extLst>
              <a:ext uri="{FF2B5EF4-FFF2-40B4-BE49-F238E27FC236}">
                <a16:creationId xmlns:a16="http://schemas.microsoft.com/office/drawing/2014/main" id="{8FFF815D-4145-FEAD-FD85-9FAA1345C386}"/>
              </a:ext>
            </a:extLst>
          </p:cNvPr>
          <p:cNvSpPr txBox="1"/>
          <p:nvPr/>
        </p:nvSpPr>
        <p:spPr>
          <a:xfrm>
            <a:off x="3008285" y="-68505"/>
            <a:ext cx="13106400" cy="907941"/>
          </a:xfrm>
          <a:prstGeom prst="rect">
            <a:avLst/>
          </a:prstGeom>
          <a:noFill/>
        </p:spPr>
        <p:txBody>
          <a:bodyPr wrap="square" rtlCol="0">
            <a:spAutoFit/>
          </a:bodyPr>
          <a:lstStyle/>
          <a:p>
            <a:r>
              <a:rPr lang="en-IN" sz="5300" b="1" dirty="0"/>
              <a:t>ROC Curve – Random Forest Model</a:t>
            </a:r>
          </a:p>
        </p:txBody>
      </p:sp>
      <p:pic>
        <p:nvPicPr>
          <p:cNvPr id="10" name="Picture 9">
            <a:extLst>
              <a:ext uri="{FF2B5EF4-FFF2-40B4-BE49-F238E27FC236}">
                <a16:creationId xmlns:a16="http://schemas.microsoft.com/office/drawing/2014/main" id="{44E7CC88-A4D4-AC3D-D785-1DE672B5D556}"/>
              </a:ext>
            </a:extLst>
          </p:cNvPr>
          <p:cNvPicPr>
            <a:picLocks noChangeAspect="1"/>
          </p:cNvPicPr>
          <p:nvPr/>
        </p:nvPicPr>
        <p:blipFill>
          <a:blip r:embed="rId3"/>
          <a:stretch>
            <a:fillRect/>
          </a:stretch>
        </p:blipFill>
        <p:spPr>
          <a:xfrm>
            <a:off x="345058" y="1934820"/>
            <a:ext cx="7844283" cy="1552643"/>
          </a:xfrm>
          <a:prstGeom prst="rect">
            <a:avLst/>
          </a:prstGeom>
        </p:spPr>
      </p:pic>
      <p:sp>
        <p:nvSpPr>
          <p:cNvPr id="12" name="TextBox 11">
            <a:extLst>
              <a:ext uri="{FF2B5EF4-FFF2-40B4-BE49-F238E27FC236}">
                <a16:creationId xmlns:a16="http://schemas.microsoft.com/office/drawing/2014/main" id="{65557017-A98F-DBB3-2DC3-BABAEB0FAC4A}"/>
              </a:ext>
            </a:extLst>
          </p:cNvPr>
          <p:cNvSpPr txBox="1"/>
          <p:nvPr/>
        </p:nvSpPr>
        <p:spPr>
          <a:xfrm>
            <a:off x="198331" y="992368"/>
            <a:ext cx="10126492" cy="830997"/>
          </a:xfrm>
          <a:prstGeom prst="rect">
            <a:avLst/>
          </a:prstGeom>
          <a:noFill/>
        </p:spPr>
        <p:txBody>
          <a:bodyPr wrap="square">
            <a:spAutoFit/>
          </a:bodyPr>
          <a:lstStyle/>
          <a:p>
            <a:r>
              <a:rPr lang="en-IN" sz="4800" b="1" dirty="0"/>
              <a:t>Imports</a:t>
            </a:r>
          </a:p>
        </p:txBody>
      </p:sp>
      <p:pic>
        <p:nvPicPr>
          <p:cNvPr id="14" name="Picture 13">
            <a:extLst>
              <a:ext uri="{FF2B5EF4-FFF2-40B4-BE49-F238E27FC236}">
                <a16:creationId xmlns:a16="http://schemas.microsoft.com/office/drawing/2014/main" id="{B869E62C-1C47-819C-064F-672BEE8BAD14}"/>
              </a:ext>
            </a:extLst>
          </p:cNvPr>
          <p:cNvPicPr>
            <a:picLocks noChangeAspect="1"/>
          </p:cNvPicPr>
          <p:nvPr/>
        </p:nvPicPr>
        <p:blipFill>
          <a:blip r:embed="rId4"/>
          <a:stretch>
            <a:fillRect/>
          </a:stretch>
        </p:blipFill>
        <p:spPr>
          <a:xfrm>
            <a:off x="351543" y="4556875"/>
            <a:ext cx="7844283" cy="1147815"/>
          </a:xfrm>
          <a:prstGeom prst="rect">
            <a:avLst/>
          </a:prstGeom>
        </p:spPr>
      </p:pic>
      <p:sp>
        <p:nvSpPr>
          <p:cNvPr id="16" name="TextBox 15">
            <a:extLst>
              <a:ext uri="{FF2B5EF4-FFF2-40B4-BE49-F238E27FC236}">
                <a16:creationId xmlns:a16="http://schemas.microsoft.com/office/drawing/2014/main" id="{D4A60136-7FC4-A4A8-1D76-F10DFB7B5D19}"/>
              </a:ext>
            </a:extLst>
          </p:cNvPr>
          <p:cNvSpPr txBox="1"/>
          <p:nvPr/>
        </p:nvSpPr>
        <p:spPr>
          <a:xfrm>
            <a:off x="247383" y="3598918"/>
            <a:ext cx="10476688" cy="830997"/>
          </a:xfrm>
          <a:prstGeom prst="rect">
            <a:avLst/>
          </a:prstGeom>
          <a:noFill/>
        </p:spPr>
        <p:txBody>
          <a:bodyPr wrap="square">
            <a:spAutoFit/>
          </a:bodyPr>
          <a:lstStyle/>
          <a:p>
            <a:r>
              <a:rPr lang="en-IN" sz="4800" b="1" dirty="0"/>
              <a:t>Predict Probabilities</a:t>
            </a:r>
          </a:p>
        </p:txBody>
      </p:sp>
      <p:pic>
        <p:nvPicPr>
          <p:cNvPr id="18" name="Picture 17">
            <a:extLst>
              <a:ext uri="{FF2B5EF4-FFF2-40B4-BE49-F238E27FC236}">
                <a16:creationId xmlns:a16="http://schemas.microsoft.com/office/drawing/2014/main" id="{E4C989A3-382F-25CE-726A-EB0AA9FF9E52}"/>
              </a:ext>
            </a:extLst>
          </p:cNvPr>
          <p:cNvPicPr>
            <a:picLocks noChangeAspect="1"/>
          </p:cNvPicPr>
          <p:nvPr/>
        </p:nvPicPr>
        <p:blipFill>
          <a:blip r:embed="rId5"/>
          <a:stretch>
            <a:fillRect/>
          </a:stretch>
        </p:blipFill>
        <p:spPr>
          <a:xfrm>
            <a:off x="338572" y="6717624"/>
            <a:ext cx="8224736" cy="1147815"/>
          </a:xfrm>
          <a:prstGeom prst="rect">
            <a:avLst/>
          </a:prstGeom>
        </p:spPr>
      </p:pic>
      <p:sp>
        <p:nvSpPr>
          <p:cNvPr id="20" name="TextBox 19">
            <a:extLst>
              <a:ext uri="{FF2B5EF4-FFF2-40B4-BE49-F238E27FC236}">
                <a16:creationId xmlns:a16="http://schemas.microsoft.com/office/drawing/2014/main" id="{61B958F3-D331-18FD-A80A-185220D1887E}"/>
              </a:ext>
            </a:extLst>
          </p:cNvPr>
          <p:cNvSpPr txBox="1"/>
          <p:nvPr/>
        </p:nvSpPr>
        <p:spPr>
          <a:xfrm>
            <a:off x="533400" y="5831650"/>
            <a:ext cx="10476688" cy="830997"/>
          </a:xfrm>
          <a:prstGeom prst="rect">
            <a:avLst/>
          </a:prstGeom>
          <a:noFill/>
        </p:spPr>
        <p:txBody>
          <a:bodyPr wrap="square">
            <a:spAutoFit/>
          </a:bodyPr>
          <a:lstStyle/>
          <a:p>
            <a:r>
              <a:rPr lang="en-IN" sz="4800" b="1" dirty="0"/>
              <a:t>ROC Values</a:t>
            </a:r>
          </a:p>
        </p:txBody>
      </p:sp>
      <p:pic>
        <p:nvPicPr>
          <p:cNvPr id="22" name="Picture 21">
            <a:extLst>
              <a:ext uri="{FF2B5EF4-FFF2-40B4-BE49-F238E27FC236}">
                <a16:creationId xmlns:a16="http://schemas.microsoft.com/office/drawing/2014/main" id="{96683CBD-5C72-71ED-1AB2-6E5DB658AEB3}"/>
              </a:ext>
            </a:extLst>
          </p:cNvPr>
          <p:cNvPicPr>
            <a:picLocks noChangeAspect="1"/>
          </p:cNvPicPr>
          <p:nvPr/>
        </p:nvPicPr>
        <p:blipFill>
          <a:blip r:embed="rId6"/>
          <a:stretch>
            <a:fillRect/>
          </a:stretch>
        </p:blipFill>
        <p:spPr>
          <a:xfrm>
            <a:off x="10384881" y="7688369"/>
            <a:ext cx="7622992" cy="2801119"/>
          </a:xfrm>
          <a:prstGeom prst="rect">
            <a:avLst/>
          </a:prstGeom>
        </p:spPr>
      </p:pic>
      <p:pic>
        <p:nvPicPr>
          <p:cNvPr id="24" name="Picture 23">
            <a:extLst>
              <a:ext uri="{FF2B5EF4-FFF2-40B4-BE49-F238E27FC236}">
                <a16:creationId xmlns:a16="http://schemas.microsoft.com/office/drawing/2014/main" id="{A78F75D4-2D22-4986-345C-ED978F2D3C9C}"/>
              </a:ext>
            </a:extLst>
          </p:cNvPr>
          <p:cNvPicPr>
            <a:picLocks noChangeAspect="1"/>
          </p:cNvPicPr>
          <p:nvPr/>
        </p:nvPicPr>
        <p:blipFill>
          <a:blip r:embed="rId7"/>
          <a:stretch>
            <a:fillRect/>
          </a:stretch>
        </p:blipFill>
        <p:spPr>
          <a:xfrm>
            <a:off x="431840" y="9218323"/>
            <a:ext cx="6118939" cy="1330204"/>
          </a:xfrm>
          <a:prstGeom prst="rect">
            <a:avLst/>
          </a:prstGeom>
        </p:spPr>
      </p:pic>
      <p:sp>
        <p:nvSpPr>
          <p:cNvPr id="25" name="TextBox 24">
            <a:extLst>
              <a:ext uri="{FF2B5EF4-FFF2-40B4-BE49-F238E27FC236}">
                <a16:creationId xmlns:a16="http://schemas.microsoft.com/office/drawing/2014/main" id="{0014B711-C014-DB09-A165-8818191FA976}"/>
              </a:ext>
            </a:extLst>
          </p:cNvPr>
          <p:cNvSpPr txBox="1"/>
          <p:nvPr/>
        </p:nvSpPr>
        <p:spPr>
          <a:xfrm>
            <a:off x="222432" y="8144433"/>
            <a:ext cx="7966909" cy="830997"/>
          </a:xfrm>
          <a:prstGeom prst="rect">
            <a:avLst/>
          </a:prstGeom>
          <a:noFill/>
        </p:spPr>
        <p:txBody>
          <a:bodyPr wrap="square" rtlCol="0">
            <a:spAutoFit/>
          </a:bodyPr>
          <a:lstStyle/>
          <a:p>
            <a:r>
              <a:rPr lang="en-US" sz="4800" b="1" dirty="0"/>
              <a:t>Main Line Used for This Graph</a:t>
            </a:r>
            <a:endParaRPr lang="en-IN" sz="4800" b="1" dirty="0"/>
          </a:p>
        </p:txBody>
      </p:sp>
      <p:sp>
        <p:nvSpPr>
          <p:cNvPr id="27" name="TextBox 26">
            <a:extLst>
              <a:ext uri="{FF2B5EF4-FFF2-40B4-BE49-F238E27FC236}">
                <a16:creationId xmlns:a16="http://schemas.microsoft.com/office/drawing/2014/main" id="{89D17F4E-78BC-BC70-246D-B67F0ABB9C2B}"/>
              </a:ext>
            </a:extLst>
          </p:cNvPr>
          <p:cNvSpPr txBox="1"/>
          <p:nvPr/>
        </p:nvSpPr>
        <p:spPr>
          <a:xfrm>
            <a:off x="11782233" y="6971522"/>
            <a:ext cx="10175132" cy="830997"/>
          </a:xfrm>
          <a:prstGeom prst="rect">
            <a:avLst/>
          </a:prstGeom>
          <a:noFill/>
        </p:spPr>
        <p:txBody>
          <a:bodyPr wrap="square">
            <a:spAutoFit/>
          </a:bodyPr>
          <a:lstStyle/>
          <a:p>
            <a:r>
              <a:rPr lang="en-IN" sz="4800" b="1" dirty="0"/>
              <a:t>Plot ROC Curve</a:t>
            </a:r>
          </a:p>
        </p:txBody>
      </p:sp>
    </p:spTree>
    <p:extLst>
      <p:ext uri="{BB962C8B-B14F-4D97-AF65-F5344CB8AC3E}">
        <p14:creationId xmlns:p14="http://schemas.microsoft.com/office/powerpoint/2010/main" val="11484064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BA5B-65C0-B0CB-4D0A-61AD003F37F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F1ED45E7-C9B5-DA45-9376-257E45553E07}"/>
              </a:ext>
            </a:extLst>
          </p:cNvPr>
          <p:cNvGrpSpPr/>
          <p:nvPr/>
        </p:nvGrpSpPr>
        <p:grpSpPr>
          <a:xfrm>
            <a:off x="-304800" y="-375168"/>
            <a:ext cx="18592800" cy="10619244"/>
            <a:chOff x="0" y="0"/>
            <a:chExt cx="86189481" cy="46960552"/>
          </a:xfrm>
        </p:grpSpPr>
        <p:sp>
          <p:nvSpPr>
            <p:cNvPr id="3" name="Freeform 3">
              <a:extLst>
                <a:ext uri="{FF2B5EF4-FFF2-40B4-BE49-F238E27FC236}">
                  <a16:creationId xmlns:a16="http://schemas.microsoft.com/office/drawing/2014/main" id="{37F6AD4F-DC85-37C0-27F9-926D4D81DA89}"/>
                </a:ext>
              </a:extLst>
            </p:cNvPr>
            <p:cNvSpPr/>
            <p:nvPr/>
          </p:nvSpPr>
          <p:spPr>
            <a:xfrm>
              <a:off x="72390" y="72390"/>
              <a:ext cx="86044704" cy="46815771"/>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D2C1B3"/>
            </a:solidFill>
          </p:spPr>
          <p:txBody>
            <a:bodyPr/>
            <a:lstStyle/>
            <a:p>
              <a:endParaRPr lang="en-IN"/>
            </a:p>
          </p:txBody>
        </p:sp>
        <p:sp>
          <p:nvSpPr>
            <p:cNvPr id="4" name="Freeform 4">
              <a:extLst>
                <a:ext uri="{FF2B5EF4-FFF2-40B4-BE49-F238E27FC236}">
                  <a16:creationId xmlns:a16="http://schemas.microsoft.com/office/drawing/2014/main" id="{919A650A-38F8-6D98-21EB-BD065045F82D}"/>
                </a:ext>
              </a:extLst>
            </p:cNvPr>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D2C1B3"/>
            </a:solidFill>
          </p:spPr>
          <p:txBody>
            <a:bodyPr/>
            <a:lstStyle/>
            <a:p>
              <a:endParaRPr lang="en-IN"/>
            </a:p>
          </p:txBody>
        </p:sp>
      </p:grpSp>
      <p:sp>
        <p:nvSpPr>
          <p:cNvPr id="8" name="TextBox 8">
            <a:extLst>
              <a:ext uri="{FF2B5EF4-FFF2-40B4-BE49-F238E27FC236}">
                <a16:creationId xmlns:a16="http://schemas.microsoft.com/office/drawing/2014/main" id="{07E1ACB8-AA79-9A54-BA6C-E97452A908FC}"/>
              </a:ext>
            </a:extLst>
          </p:cNvPr>
          <p:cNvSpPr txBox="1"/>
          <p:nvPr/>
        </p:nvSpPr>
        <p:spPr>
          <a:xfrm>
            <a:off x="9459925" y="9002659"/>
            <a:ext cx="101560" cy="898875"/>
          </a:xfrm>
          <a:prstGeom prst="rect">
            <a:avLst/>
          </a:prstGeom>
        </p:spPr>
        <p:txBody>
          <a:bodyPr lIns="0" tIns="0" rIns="0" bIns="0" rtlCol="0" anchor="t">
            <a:spAutoFit/>
          </a:bodyPr>
          <a:lstStyle/>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a:p>
            <a:pPr algn="ctr">
              <a:lnSpc>
                <a:spcPts val="2430"/>
              </a:lnSpc>
              <a:spcBef>
                <a:spcPct val="0"/>
              </a:spcBef>
            </a:pPr>
            <a:r>
              <a:rPr lang="en-US" sz="1736">
                <a:solidFill>
                  <a:srgbClr val="2B2B2B"/>
                </a:solidFill>
                <a:latin typeface="Quicksand"/>
                <a:ea typeface="Quicksand"/>
                <a:cs typeface="Quicksand"/>
                <a:sym typeface="Quicksand"/>
              </a:rPr>
              <a:t> </a:t>
            </a:r>
          </a:p>
        </p:txBody>
      </p:sp>
      <p:pic>
        <p:nvPicPr>
          <p:cNvPr id="6" name="Picture 5">
            <a:extLst>
              <a:ext uri="{FF2B5EF4-FFF2-40B4-BE49-F238E27FC236}">
                <a16:creationId xmlns:a16="http://schemas.microsoft.com/office/drawing/2014/main" id="{E37F0C11-FABB-AFA3-3907-D2BD3963C33A}"/>
              </a:ext>
            </a:extLst>
          </p:cNvPr>
          <p:cNvPicPr>
            <a:picLocks noChangeAspect="1"/>
          </p:cNvPicPr>
          <p:nvPr/>
        </p:nvPicPr>
        <p:blipFill>
          <a:blip r:embed="rId2">
            <a:extLst>
              <a:ext uri="{28A0092B-C50C-407E-A947-70E740481C1C}">
                <a14:useLocalDpi xmlns:a14="http://schemas.microsoft.com/office/drawing/2010/main" val="0"/>
              </a:ext>
            </a:extLst>
          </a:blip>
          <a:srcRect l="6174" t="4189" r="13265" b="1390"/>
          <a:stretch>
            <a:fillRect/>
          </a:stretch>
        </p:blipFill>
        <p:spPr>
          <a:xfrm>
            <a:off x="9295475" y="1201485"/>
            <a:ext cx="7328173" cy="6441681"/>
          </a:xfrm>
          <a:prstGeom prst="rect">
            <a:avLst/>
          </a:prstGeom>
        </p:spPr>
      </p:pic>
      <p:pic>
        <p:nvPicPr>
          <p:cNvPr id="9" name="Picture 8">
            <a:extLst>
              <a:ext uri="{FF2B5EF4-FFF2-40B4-BE49-F238E27FC236}">
                <a16:creationId xmlns:a16="http://schemas.microsoft.com/office/drawing/2014/main" id="{6651F607-6516-152A-6239-E55FF294C54D}"/>
              </a:ext>
            </a:extLst>
          </p:cNvPr>
          <p:cNvPicPr>
            <a:picLocks noChangeAspect="1"/>
          </p:cNvPicPr>
          <p:nvPr/>
        </p:nvPicPr>
        <p:blipFill>
          <a:blip r:embed="rId3"/>
          <a:stretch>
            <a:fillRect/>
          </a:stretch>
        </p:blipFill>
        <p:spPr>
          <a:xfrm>
            <a:off x="301185" y="2146298"/>
            <a:ext cx="8309415" cy="1457380"/>
          </a:xfrm>
          <a:prstGeom prst="rect">
            <a:avLst/>
          </a:prstGeom>
        </p:spPr>
      </p:pic>
      <p:sp>
        <p:nvSpPr>
          <p:cNvPr id="11" name="TextBox 10">
            <a:extLst>
              <a:ext uri="{FF2B5EF4-FFF2-40B4-BE49-F238E27FC236}">
                <a16:creationId xmlns:a16="http://schemas.microsoft.com/office/drawing/2014/main" id="{8C598A67-951D-9EAC-C2A4-4FC2751FBF9F}"/>
              </a:ext>
            </a:extLst>
          </p:cNvPr>
          <p:cNvSpPr txBox="1"/>
          <p:nvPr/>
        </p:nvSpPr>
        <p:spPr>
          <a:xfrm>
            <a:off x="259404" y="1301751"/>
            <a:ext cx="10136220" cy="830997"/>
          </a:xfrm>
          <a:prstGeom prst="rect">
            <a:avLst/>
          </a:prstGeom>
          <a:noFill/>
        </p:spPr>
        <p:txBody>
          <a:bodyPr wrap="square">
            <a:spAutoFit/>
          </a:bodyPr>
          <a:lstStyle/>
          <a:p>
            <a:r>
              <a:rPr lang="en-IN" sz="4800" b="1" dirty="0"/>
              <a:t>Imports</a:t>
            </a:r>
          </a:p>
        </p:txBody>
      </p:sp>
      <p:sp>
        <p:nvSpPr>
          <p:cNvPr id="13" name="TextBox 12">
            <a:extLst>
              <a:ext uri="{FF2B5EF4-FFF2-40B4-BE49-F238E27FC236}">
                <a16:creationId xmlns:a16="http://schemas.microsoft.com/office/drawing/2014/main" id="{DA062417-682C-2B46-E08A-2437B899CFC1}"/>
              </a:ext>
            </a:extLst>
          </p:cNvPr>
          <p:cNvSpPr txBox="1"/>
          <p:nvPr/>
        </p:nvSpPr>
        <p:spPr>
          <a:xfrm>
            <a:off x="3095828" y="221287"/>
            <a:ext cx="12096344" cy="907941"/>
          </a:xfrm>
          <a:prstGeom prst="rect">
            <a:avLst/>
          </a:prstGeom>
          <a:noFill/>
        </p:spPr>
        <p:txBody>
          <a:bodyPr wrap="square">
            <a:spAutoFit/>
          </a:bodyPr>
          <a:lstStyle/>
          <a:p>
            <a:r>
              <a:rPr lang="fr-FR" sz="5300" b="1" dirty="0"/>
              <a:t>Confusion Matrix – </a:t>
            </a:r>
            <a:r>
              <a:rPr lang="fr-FR" sz="5300" b="1" dirty="0" err="1"/>
              <a:t>Random</a:t>
            </a:r>
            <a:r>
              <a:rPr lang="fr-FR" sz="5300" b="1" dirty="0"/>
              <a:t> Forest Model</a:t>
            </a:r>
            <a:endParaRPr lang="en-IN" sz="5300" b="1" dirty="0"/>
          </a:p>
        </p:txBody>
      </p:sp>
      <p:sp>
        <p:nvSpPr>
          <p:cNvPr id="15" name="TextBox 14">
            <a:extLst>
              <a:ext uri="{FF2B5EF4-FFF2-40B4-BE49-F238E27FC236}">
                <a16:creationId xmlns:a16="http://schemas.microsoft.com/office/drawing/2014/main" id="{24EEA514-1950-7995-CFA6-5F80CFA8747E}"/>
              </a:ext>
            </a:extLst>
          </p:cNvPr>
          <p:cNvSpPr txBox="1"/>
          <p:nvPr/>
        </p:nvSpPr>
        <p:spPr>
          <a:xfrm>
            <a:off x="259404" y="3615142"/>
            <a:ext cx="10486416" cy="830997"/>
          </a:xfrm>
          <a:prstGeom prst="rect">
            <a:avLst/>
          </a:prstGeom>
          <a:noFill/>
        </p:spPr>
        <p:txBody>
          <a:bodyPr wrap="square">
            <a:spAutoFit/>
          </a:bodyPr>
          <a:lstStyle/>
          <a:p>
            <a:r>
              <a:rPr lang="en-IN" sz="4800" b="1" dirty="0"/>
              <a:t>Predictions for Test Data</a:t>
            </a:r>
          </a:p>
        </p:txBody>
      </p:sp>
      <p:pic>
        <p:nvPicPr>
          <p:cNvPr id="17" name="Picture 16">
            <a:extLst>
              <a:ext uri="{FF2B5EF4-FFF2-40B4-BE49-F238E27FC236}">
                <a16:creationId xmlns:a16="http://schemas.microsoft.com/office/drawing/2014/main" id="{0AC6A7AB-5331-A4B8-1D53-CB1992536D2B}"/>
              </a:ext>
            </a:extLst>
          </p:cNvPr>
          <p:cNvPicPr>
            <a:picLocks noChangeAspect="1"/>
          </p:cNvPicPr>
          <p:nvPr/>
        </p:nvPicPr>
        <p:blipFill>
          <a:blip r:embed="rId4"/>
          <a:srcRect l="3103" t="18360" b="20980"/>
          <a:stretch>
            <a:fillRect/>
          </a:stretch>
        </p:blipFill>
        <p:spPr>
          <a:xfrm>
            <a:off x="259404" y="4446139"/>
            <a:ext cx="8579796" cy="799397"/>
          </a:xfrm>
          <a:prstGeom prst="rect">
            <a:avLst/>
          </a:prstGeom>
        </p:spPr>
      </p:pic>
      <p:pic>
        <p:nvPicPr>
          <p:cNvPr id="19" name="Picture 18">
            <a:extLst>
              <a:ext uri="{FF2B5EF4-FFF2-40B4-BE49-F238E27FC236}">
                <a16:creationId xmlns:a16="http://schemas.microsoft.com/office/drawing/2014/main" id="{6B5FD521-86C4-4373-60D2-C3B1B714D157}"/>
              </a:ext>
            </a:extLst>
          </p:cNvPr>
          <p:cNvPicPr>
            <a:picLocks noChangeAspect="1"/>
          </p:cNvPicPr>
          <p:nvPr/>
        </p:nvPicPr>
        <p:blipFill>
          <a:blip r:embed="rId5"/>
          <a:stretch>
            <a:fillRect/>
          </a:stretch>
        </p:blipFill>
        <p:spPr>
          <a:xfrm>
            <a:off x="259404" y="6376001"/>
            <a:ext cx="8784988" cy="817287"/>
          </a:xfrm>
          <a:prstGeom prst="rect">
            <a:avLst/>
          </a:prstGeom>
        </p:spPr>
      </p:pic>
      <p:sp>
        <p:nvSpPr>
          <p:cNvPr id="21" name="TextBox 20">
            <a:extLst>
              <a:ext uri="{FF2B5EF4-FFF2-40B4-BE49-F238E27FC236}">
                <a16:creationId xmlns:a16="http://schemas.microsoft.com/office/drawing/2014/main" id="{43894D92-C0FA-DFB2-B042-2EF783E66D89}"/>
              </a:ext>
            </a:extLst>
          </p:cNvPr>
          <p:cNvSpPr txBox="1"/>
          <p:nvPr/>
        </p:nvSpPr>
        <p:spPr>
          <a:xfrm>
            <a:off x="259404" y="5370208"/>
            <a:ext cx="10136220" cy="830997"/>
          </a:xfrm>
          <a:prstGeom prst="rect">
            <a:avLst/>
          </a:prstGeom>
          <a:noFill/>
        </p:spPr>
        <p:txBody>
          <a:bodyPr wrap="square">
            <a:spAutoFit/>
          </a:bodyPr>
          <a:lstStyle/>
          <a:p>
            <a:pPr>
              <a:buNone/>
            </a:pPr>
            <a:r>
              <a:rPr lang="en-IN" sz="4800" b="1" dirty="0"/>
              <a:t>Compute Confusion Matrix</a:t>
            </a:r>
          </a:p>
        </p:txBody>
      </p:sp>
      <p:pic>
        <p:nvPicPr>
          <p:cNvPr id="23" name="Picture 22">
            <a:extLst>
              <a:ext uri="{FF2B5EF4-FFF2-40B4-BE49-F238E27FC236}">
                <a16:creationId xmlns:a16="http://schemas.microsoft.com/office/drawing/2014/main" id="{4C1AB9BF-EF76-1730-922F-C0A56026C54C}"/>
              </a:ext>
            </a:extLst>
          </p:cNvPr>
          <p:cNvPicPr>
            <a:picLocks noChangeAspect="1"/>
          </p:cNvPicPr>
          <p:nvPr/>
        </p:nvPicPr>
        <p:blipFill>
          <a:blip r:embed="rId6"/>
          <a:stretch>
            <a:fillRect/>
          </a:stretch>
        </p:blipFill>
        <p:spPr>
          <a:xfrm>
            <a:off x="301185" y="8065961"/>
            <a:ext cx="8916644" cy="2289929"/>
          </a:xfrm>
          <a:prstGeom prst="rect">
            <a:avLst/>
          </a:prstGeom>
        </p:spPr>
      </p:pic>
      <p:sp>
        <p:nvSpPr>
          <p:cNvPr id="25" name="TextBox 24">
            <a:extLst>
              <a:ext uri="{FF2B5EF4-FFF2-40B4-BE49-F238E27FC236}">
                <a16:creationId xmlns:a16="http://schemas.microsoft.com/office/drawing/2014/main" id="{8D08F3F8-A79D-DB0D-13B0-62A38232C0B7}"/>
              </a:ext>
            </a:extLst>
          </p:cNvPr>
          <p:cNvSpPr txBox="1"/>
          <p:nvPr/>
        </p:nvSpPr>
        <p:spPr>
          <a:xfrm>
            <a:off x="305825" y="7227668"/>
            <a:ext cx="10136220" cy="830997"/>
          </a:xfrm>
          <a:prstGeom prst="rect">
            <a:avLst/>
          </a:prstGeom>
          <a:noFill/>
        </p:spPr>
        <p:txBody>
          <a:bodyPr wrap="square">
            <a:spAutoFit/>
          </a:bodyPr>
          <a:lstStyle/>
          <a:p>
            <a:r>
              <a:rPr lang="en-IN" sz="4800" b="1" dirty="0"/>
              <a:t>Plot Confusion Matrix</a:t>
            </a:r>
          </a:p>
        </p:txBody>
      </p:sp>
      <p:pic>
        <p:nvPicPr>
          <p:cNvPr id="27" name="Picture 26">
            <a:extLst>
              <a:ext uri="{FF2B5EF4-FFF2-40B4-BE49-F238E27FC236}">
                <a16:creationId xmlns:a16="http://schemas.microsoft.com/office/drawing/2014/main" id="{3E5D4E7D-D58D-3BA0-50E5-C43BC3CB677F}"/>
              </a:ext>
            </a:extLst>
          </p:cNvPr>
          <p:cNvPicPr>
            <a:picLocks noChangeAspect="1"/>
          </p:cNvPicPr>
          <p:nvPr/>
        </p:nvPicPr>
        <p:blipFill>
          <a:blip r:embed="rId7"/>
          <a:stretch>
            <a:fillRect/>
          </a:stretch>
        </p:blipFill>
        <p:spPr>
          <a:xfrm>
            <a:off x="11161893" y="8671308"/>
            <a:ext cx="5163185" cy="1461864"/>
          </a:xfrm>
          <a:prstGeom prst="rect">
            <a:avLst/>
          </a:prstGeom>
        </p:spPr>
      </p:pic>
      <p:sp>
        <p:nvSpPr>
          <p:cNvPr id="29" name="TextBox 28">
            <a:extLst>
              <a:ext uri="{FF2B5EF4-FFF2-40B4-BE49-F238E27FC236}">
                <a16:creationId xmlns:a16="http://schemas.microsoft.com/office/drawing/2014/main" id="{F9F73042-8228-2E93-511D-62AD1CBB8268}"/>
              </a:ext>
            </a:extLst>
          </p:cNvPr>
          <p:cNvSpPr txBox="1"/>
          <p:nvPr/>
        </p:nvSpPr>
        <p:spPr>
          <a:xfrm>
            <a:off x="11201400" y="7823941"/>
            <a:ext cx="10486416" cy="830997"/>
          </a:xfrm>
          <a:prstGeom prst="rect">
            <a:avLst/>
          </a:prstGeom>
          <a:noFill/>
        </p:spPr>
        <p:txBody>
          <a:bodyPr wrap="square">
            <a:spAutoFit/>
          </a:bodyPr>
          <a:lstStyle/>
          <a:p>
            <a:r>
              <a:rPr lang="en-IN" sz="4800" b="1" dirty="0"/>
              <a:t>Main Line Used </a:t>
            </a:r>
          </a:p>
        </p:txBody>
      </p:sp>
    </p:spTree>
    <p:extLst>
      <p:ext uri="{BB962C8B-B14F-4D97-AF65-F5344CB8AC3E}">
        <p14:creationId xmlns:p14="http://schemas.microsoft.com/office/powerpoint/2010/main" val="308360595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7D6C8"/>
        </a:solidFill>
        <a:effectLst/>
      </p:bgPr>
    </p:bg>
    <p:spTree>
      <p:nvGrpSpPr>
        <p:cNvPr id="1" name=""/>
        <p:cNvGrpSpPr/>
        <p:nvPr/>
      </p:nvGrpSpPr>
      <p:grpSpPr>
        <a:xfrm>
          <a:off x="0" y="0"/>
          <a:ext cx="0" cy="0"/>
          <a:chOff x="0" y="0"/>
          <a:chExt cx="0" cy="0"/>
        </a:xfrm>
      </p:grpSpPr>
      <p:grpSp>
        <p:nvGrpSpPr>
          <p:cNvPr id="2" name="Group 2"/>
          <p:cNvGrpSpPr/>
          <p:nvPr/>
        </p:nvGrpSpPr>
        <p:grpSpPr>
          <a:xfrm>
            <a:off x="396302" y="495300"/>
            <a:ext cx="17466056" cy="9516424"/>
            <a:chOff x="0" y="0"/>
            <a:chExt cx="86189481" cy="46960552"/>
          </a:xfrm>
        </p:grpSpPr>
        <p:sp>
          <p:nvSpPr>
            <p:cNvPr id="3" name="Freeform 3"/>
            <p:cNvSpPr/>
            <p:nvPr/>
          </p:nvSpPr>
          <p:spPr>
            <a:xfrm>
              <a:off x="72390" y="72390"/>
              <a:ext cx="86044704" cy="46815771"/>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F5F4F2"/>
            </a:solidFill>
          </p:spPr>
          <p:txBody>
            <a:bodyPr/>
            <a:lstStyle/>
            <a:p>
              <a:endParaRPr lang="en-IN"/>
            </a:p>
          </p:txBody>
        </p:sp>
        <p:sp>
          <p:nvSpPr>
            <p:cNvPr id="4" name="Freeform 4"/>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F4F4F4"/>
            </a:solidFill>
          </p:spPr>
          <p:txBody>
            <a:bodyPr/>
            <a:lstStyle/>
            <a:p>
              <a:endParaRPr lang="en-IN"/>
            </a:p>
          </p:txBody>
        </p:sp>
      </p:grpSp>
      <p:grpSp>
        <p:nvGrpSpPr>
          <p:cNvPr id="5" name="Group 5"/>
          <p:cNvGrpSpPr/>
          <p:nvPr/>
        </p:nvGrpSpPr>
        <p:grpSpPr>
          <a:xfrm>
            <a:off x="410972" y="385288"/>
            <a:ext cx="17466056" cy="2104315"/>
            <a:chOff x="0" y="0"/>
            <a:chExt cx="86189481" cy="10384130"/>
          </a:xfrm>
        </p:grpSpPr>
        <p:sp>
          <p:nvSpPr>
            <p:cNvPr id="6" name="Freeform 6"/>
            <p:cNvSpPr/>
            <p:nvPr/>
          </p:nvSpPr>
          <p:spPr>
            <a:xfrm>
              <a:off x="72390" y="72390"/>
              <a:ext cx="86044704" cy="10239350"/>
            </a:xfrm>
            <a:custGeom>
              <a:avLst/>
              <a:gdLst/>
              <a:ahLst/>
              <a:cxnLst/>
              <a:rect l="l" t="t" r="r" b="b"/>
              <a:pathLst>
                <a:path w="86044704" h="10239350">
                  <a:moveTo>
                    <a:pt x="0" y="0"/>
                  </a:moveTo>
                  <a:lnTo>
                    <a:pt x="86044704" y="0"/>
                  </a:lnTo>
                  <a:lnTo>
                    <a:pt x="86044704" y="10239350"/>
                  </a:lnTo>
                  <a:lnTo>
                    <a:pt x="0" y="10239350"/>
                  </a:lnTo>
                  <a:lnTo>
                    <a:pt x="0" y="0"/>
                  </a:lnTo>
                  <a:close/>
                </a:path>
              </a:pathLst>
            </a:custGeom>
            <a:solidFill>
              <a:srgbClr val="AA9E95"/>
            </a:solidFill>
          </p:spPr>
          <p:txBody>
            <a:bodyPr/>
            <a:lstStyle/>
            <a:p>
              <a:endParaRPr lang="en-IN"/>
            </a:p>
          </p:txBody>
        </p:sp>
        <p:sp>
          <p:nvSpPr>
            <p:cNvPr id="7" name="Freeform 7"/>
            <p:cNvSpPr/>
            <p:nvPr/>
          </p:nvSpPr>
          <p:spPr>
            <a:xfrm>
              <a:off x="0" y="0"/>
              <a:ext cx="86189480" cy="10384130"/>
            </a:xfrm>
            <a:custGeom>
              <a:avLst/>
              <a:gdLst/>
              <a:ahLst/>
              <a:cxnLst/>
              <a:rect l="l" t="t" r="r" b="b"/>
              <a:pathLst>
                <a:path w="86189480" h="10384130">
                  <a:moveTo>
                    <a:pt x="86044701" y="10239350"/>
                  </a:moveTo>
                  <a:lnTo>
                    <a:pt x="86189480" y="10239350"/>
                  </a:lnTo>
                  <a:lnTo>
                    <a:pt x="86189480" y="10384130"/>
                  </a:lnTo>
                  <a:lnTo>
                    <a:pt x="86044701" y="10384130"/>
                  </a:lnTo>
                  <a:lnTo>
                    <a:pt x="86044701" y="10239350"/>
                  </a:lnTo>
                  <a:close/>
                  <a:moveTo>
                    <a:pt x="0" y="144780"/>
                  </a:moveTo>
                  <a:lnTo>
                    <a:pt x="144780" y="144780"/>
                  </a:lnTo>
                  <a:lnTo>
                    <a:pt x="144780" y="10239350"/>
                  </a:lnTo>
                  <a:lnTo>
                    <a:pt x="0" y="10239350"/>
                  </a:lnTo>
                  <a:lnTo>
                    <a:pt x="0" y="144780"/>
                  </a:lnTo>
                  <a:close/>
                  <a:moveTo>
                    <a:pt x="0" y="10239350"/>
                  </a:moveTo>
                  <a:lnTo>
                    <a:pt x="144780" y="10239350"/>
                  </a:lnTo>
                  <a:lnTo>
                    <a:pt x="144780" y="10384130"/>
                  </a:lnTo>
                  <a:lnTo>
                    <a:pt x="0" y="10384130"/>
                  </a:lnTo>
                  <a:lnTo>
                    <a:pt x="0" y="10239350"/>
                  </a:lnTo>
                  <a:close/>
                  <a:moveTo>
                    <a:pt x="86044701" y="144780"/>
                  </a:moveTo>
                  <a:lnTo>
                    <a:pt x="86189480" y="144780"/>
                  </a:lnTo>
                  <a:lnTo>
                    <a:pt x="86189480" y="10239350"/>
                  </a:lnTo>
                  <a:lnTo>
                    <a:pt x="86044701" y="10239350"/>
                  </a:lnTo>
                  <a:lnTo>
                    <a:pt x="86044701" y="144780"/>
                  </a:lnTo>
                  <a:close/>
                  <a:moveTo>
                    <a:pt x="144780" y="10239350"/>
                  </a:moveTo>
                  <a:lnTo>
                    <a:pt x="86044701" y="10239350"/>
                  </a:lnTo>
                  <a:lnTo>
                    <a:pt x="86044701" y="10384130"/>
                  </a:lnTo>
                  <a:lnTo>
                    <a:pt x="144780" y="10384130"/>
                  </a:lnTo>
                  <a:lnTo>
                    <a:pt x="144780" y="10239350"/>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AA9E95"/>
            </a:solidFill>
          </p:spPr>
          <p:txBody>
            <a:bodyPr/>
            <a:lstStyle/>
            <a:p>
              <a:endParaRPr lang="en-IN"/>
            </a:p>
          </p:txBody>
        </p:sp>
      </p:grpSp>
      <p:grpSp>
        <p:nvGrpSpPr>
          <p:cNvPr id="8" name="Group 8"/>
          <p:cNvGrpSpPr/>
          <p:nvPr/>
        </p:nvGrpSpPr>
        <p:grpSpPr>
          <a:xfrm>
            <a:off x="1028700" y="763294"/>
            <a:ext cx="16230600" cy="1348304"/>
            <a:chOff x="0" y="0"/>
            <a:chExt cx="4653345" cy="386561"/>
          </a:xfrm>
        </p:grpSpPr>
        <p:sp>
          <p:nvSpPr>
            <p:cNvPr id="9" name="Freeform 9"/>
            <p:cNvSpPr/>
            <p:nvPr/>
          </p:nvSpPr>
          <p:spPr>
            <a:xfrm>
              <a:off x="0" y="0"/>
              <a:ext cx="4653345" cy="386561"/>
            </a:xfrm>
            <a:custGeom>
              <a:avLst/>
              <a:gdLst/>
              <a:ahLst/>
              <a:cxnLst/>
              <a:rect l="l" t="t" r="r" b="b"/>
              <a:pathLst>
                <a:path w="4653345" h="386561">
                  <a:moveTo>
                    <a:pt x="47700" y="0"/>
                  </a:moveTo>
                  <a:lnTo>
                    <a:pt x="4605645" y="0"/>
                  </a:lnTo>
                  <a:cubicBezTo>
                    <a:pt x="4618296" y="0"/>
                    <a:pt x="4630428" y="5025"/>
                    <a:pt x="4639374" y="13971"/>
                  </a:cubicBezTo>
                  <a:cubicBezTo>
                    <a:pt x="4648319" y="22916"/>
                    <a:pt x="4653345" y="35049"/>
                    <a:pt x="4653345" y="47700"/>
                  </a:cubicBezTo>
                  <a:lnTo>
                    <a:pt x="4653345" y="338862"/>
                  </a:lnTo>
                  <a:cubicBezTo>
                    <a:pt x="4653345" y="351512"/>
                    <a:pt x="4648319" y="363645"/>
                    <a:pt x="4639374" y="372590"/>
                  </a:cubicBezTo>
                  <a:cubicBezTo>
                    <a:pt x="4630428" y="381536"/>
                    <a:pt x="4618296" y="386561"/>
                    <a:pt x="4605645" y="386561"/>
                  </a:cubicBezTo>
                  <a:lnTo>
                    <a:pt x="47700" y="386561"/>
                  </a:lnTo>
                  <a:cubicBezTo>
                    <a:pt x="35049" y="386561"/>
                    <a:pt x="22916" y="381536"/>
                    <a:pt x="13971" y="372590"/>
                  </a:cubicBezTo>
                  <a:cubicBezTo>
                    <a:pt x="5025" y="363645"/>
                    <a:pt x="0" y="351512"/>
                    <a:pt x="0" y="338862"/>
                  </a:cubicBezTo>
                  <a:lnTo>
                    <a:pt x="0" y="47700"/>
                  </a:lnTo>
                  <a:cubicBezTo>
                    <a:pt x="0" y="35049"/>
                    <a:pt x="5025" y="22916"/>
                    <a:pt x="13971" y="13971"/>
                  </a:cubicBezTo>
                  <a:cubicBezTo>
                    <a:pt x="22916" y="5025"/>
                    <a:pt x="35049" y="0"/>
                    <a:pt x="47700" y="0"/>
                  </a:cubicBezTo>
                  <a:close/>
                </a:path>
              </a:pathLst>
            </a:custGeom>
            <a:solidFill>
              <a:srgbClr val="F4F4F4"/>
            </a:solidFill>
            <a:ln w="23812" cap="rnd">
              <a:solidFill>
                <a:srgbClr val="F5F4F2"/>
              </a:solidFill>
              <a:prstDash val="solid"/>
              <a:round/>
            </a:ln>
          </p:spPr>
          <p:txBody>
            <a:bodyPr/>
            <a:lstStyle/>
            <a:p>
              <a:endParaRPr lang="en-IN"/>
            </a:p>
          </p:txBody>
        </p:sp>
        <p:sp>
          <p:nvSpPr>
            <p:cNvPr id="10" name="TextBox 10"/>
            <p:cNvSpPr txBox="1"/>
            <p:nvPr/>
          </p:nvSpPr>
          <p:spPr>
            <a:xfrm>
              <a:off x="0" y="-28575"/>
              <a:ext cx="4653345" cy="415136"/>
            </a:xfrm>
            <a:prstGeom prst="rect">
              <a:avLst/>
            </a:prstGeom>
          </p:spPr>
          <p:txBody>
            <a:bodyPr lIns="63000" tIns="63000" rIns="63000" bIns="63000" rtlCol="0" anchor="ctr"/>
            <a:lstStyle/>
            <a:p>
              <a:pPr algn="ctr">
                <a:lnSpc>
                  <a:spcPts val="2430"/>
                </a:lnSpc>
                <a:spcBef>
                  <a:spcPct val="0"/>
                </a:spcBef>
              </a:pPr>
              <a:endParaRPr/>
            </a:p>
          </p:txBody>
        </p:sp>
      </p:grpSp>
      <p:grpSp>
        <p:nvGrpSpPr>
          <p:cNvPr id="11" name="Group 11"/>
          <p:cNvGrpSpPr/>
          <p:nvPr/>
        </p:nvGrpSpPr>
        <p:grpSpPr>
          <a:xfrm>
            <a:off x="4264139" y="8038320"/>
            <a:ext cx="2344394" cy="585167"/>
            <a:chOff x="0" y="0"/>
            <a:chExt cx="672142" cy="167769"/>
          </a:xfrm>
        </p:grpSpPr>
        <p:sp>
          <p:nvSpPr>
            <p:cNvPr id="12" name="Freeform 12"/>
            <p:cNvSpPr/>
            <p:nvPr/>
          </p:nvSpPr>
          <p:spPr>
            <a:xfrm>
              <a:off x="0" y="0"/>
              <a:ext cx="672142" cy="167769"/>
            </a:xfrm>
            <a:custGeom>
              <a:avLst/>
              <a:gdLst/>
              <a:ahLst/>
              <a:cxnLst/>
              <a:rect l="l" t="t" r="r" b="b"/>
              <a:pathLst>
                <a:path w="672142" h="167769">
                  <a:moveTo>
                    <a:pt x="83884" y="0"/>
                  </a:moveTo>
                  <a:lnTo>
                    <a:pt x="588258" y="0"/>
                  </a:lnTo>
                  <a:cubicBezTo>
                    <a:pt x="634586" y="0"/>
                    <a:pt x="672142" y="37556"/>
                    <a:pt x="672142" y="83884"/>
                  </a:cubicBezTo>
                  <a:lnTo>
                    <a:pt x="672142" y="83884"/>
                  </a:lnTo>
                  <a:cubicBezTo>
                    <a:pt x="672142" y="130212"/>
                    <a:pt x="634586" y="167769"/>
                    <a:pt x="588258" y="167769"/>
                  </a:cubicBezTo>
                  <a:lnTo>
                    <a:pt x="83884" y="167769"/>
                  </a:lnTo>
                  <a:cubicBezTo>
                    <a:pt x="37556" y="167769"/>
                    <a:pt x="0" y="130212"/>
                    <a:pt x="0" y="83884"/>
                  </a:cubicBezTo>
                  <a:lnTo>
                    <a:pt x="0" y="83884"/>
                  </a:lnTo>
                  <a:cubicBezTo>
                    <a:pt x="0" y="37556"/>
                    <a:pt x="37556" y="0"/>
                    <a:pt x="83884" y="0"/>
                  </a:cubicBezTo>
                  <a:close/>
                </a:path>
              </a:pathLst>
            </a:custGeom>
            <a:solidFill>
              <a:srgbClr val="F4F4F4"/>
            </a:solidFill>
            <a:ln w="23812" cap="rnd">
              <a:solidFill>
                <a:srgbClr val="F5F4F2"/>
              </a:solidFill>
              <a:prstDash val="solid"/>
              <a:round/>
            </a:ln>
          </p:spPr>
          <p:txBody>
            <a:bodyPr/>
            <a:lstStyle/>
            <a:p>
              <a:endParaRPr lang="en-IN"/>
            </a:p>
          </p:txBody>
        </p:sp>
        <p:sp>
          <p:nvSpPr>
            <p:cNvPr id="13" name="TextBox 13"/>
            <p:cNvSpPr txBox="1"/>
            <p:nvPr/>
          </p:nvSpPr>
          <p:spPr>
            <a:xfrm>
              <a:off x="0" y="-28575"/>
              <a:ext cx="672142" cy="196344"/>
            </a:xfrm>
            <a:prstGeom prst="rect">
              <a:avLst/>
            </a:prstGeom>
          </p:spPr>
          <p:txBody>
            <a:bodyPr lIns="63000" tIns="63000" rIns="63000" bIns="63000" rtlCol="0" anchor="ctr"/>
            <a:lstStyle/>
            <a:p>
              <a:pPr algn="ctr">
                <a:lnSpc>
                  <a:spcPts val="2430"/>
                </a:lnSpc>
                <a:spcBef>
                  <a:spcPct val="0"/>
                </a:spcBef>
              </a:pPr>
              <a:endParaRPr/>
            </a:p>
          </p:txBody>
        </p:sp>
      </p:grpSp>
      <p:sp>
        <p:nvSpPr>
          <p:cNvPr id="14" name="TextBox 14"/>
          <p:cNvSpPr txBox="1"/>
          <p:nvPr/>
        </p:nvSpPr>
        <p:spPr>
          <a:xfrm>
            <a:off x="410972" y="3471299"/>
            <a:ext cx="16848328" cy="6159500"/>
          </a:xfrm>
          <a:prstGeom prst="rect">
            <a:avLst/>
          </a:prstGeom>
        </p:spPr>
        <p:txBody>
          <a:bodyPr lIns="0" tIns="0" rIns="0" bIns="0" rtlCol="0" anchor="t">
            <a:spAutoFit/>
          </a:bodyPr>
          <a:lstStyle/>
          <a:p>
            <a:pPr marL="755649" lvl="1" indent="-377824" algn="just">
              <a:lnSpc>
                <a:spcPts val="4899"/>
              </a:lnSpc>
              <a:buFont typeface="Arial"/>
              <a:buChar char="•"/>
            </a:pPr>
            <a:r>
              <a:rPr lang="en-US" sz="3499" dirty="0">
                <a:solidFill>
                  <a:srgbClr val="000000"/>
                </a:solidFill>
                <a:latin typeface="Canva Sans"/>
                <a:ea typeface="Canva Sans"/>
                <a:cs typeface="Canva Sans"/>
                <a:sym typeface="Canva Sans"/>
              </a:rPr>
              <a:t>We started with raw text data containing labels and messages.</a:t>
            </a:r>
          </a:p>
          <a:p>
            <a:pPr marL="755649" lvl="1" indent="-377824" algn="just">
              <a:lnSpc>
                <a:spcPts val="4899"/>
              </a:lnSpc>
              <a:buFont typeface="Arial"/>
              <a:buChar char="•"/>
            </a:pPr>
            <a:r>
              <a:rPr lang="en-US" sz="3499" b="1" dirty="0">
                <a:solidFill>
                  <a:srgbClr val="000000"/>
                </a:solidFill>
                <a:latin typeface="Canva Sans Bold"/>
                <a:ea typeface="Canva Sans Bold"/>
                <a:cs typeface="Canva Sans Bold"/>
                <a:sym typeface="Canva Sans Bold"/>
              </a:rPr>
              <a:t>Cleaned the data:</a:t>
            </a:r>
          </a:p>
          <a:p>
            <a:pPr algn="just">
              <a:lnSpc>
                <a:spcPts val="4899"/>
              </a:lnSpc>
            </a:pPr>
            <a:r>
              <a:rPr lang="en-US" sz="3499" dirty="0">
                <a:solidFill>
                  <a:srgbClr val="000000"/>
                </a:solidFill>
                <a:latin typeface="Canva Sans"/>
                <a:ea typeface="Canva Sans"/>
                <a:cs typeface="Canva Sans"/>
                <a:sym typeface="Canva Sans"/>
              </a:rPr>
              <a:t>                 removed punctuation, converted text to lowercase &amp; ensured</a:t>
            </a:r>
          </a:p>
          <a:p>
            <a:pPr algn="just">
              <a:lnSpc>
                <a:spcPts val="4899"/>
              </a:lnSpc>
            </a:pPr>
            <a:r>
              <a:rPr lang="en-US" sz="3499" dirty="0">
                <a:solidFill>
                  <a:srgbClr val="000000"/>
                </a:solidFill>
                <a:latin typeface="Canva Sans"/>
                <a:ea typeface="Canva Sans"/>
                <a:cs typeface="Canva Sans"/>
                <a:sym typeface="Canva Sans"/>
              </a:rPr>
              <a:t>                 labels were numeric.</a:t>
            </a:r>
          </a:p>
          <a:p>
            <a:pPr marL="755649" lvl="1" indent="-377824" algn="just">
              <a:lnSpc>
                <a:spcPts val="4899"/>
              </a:lnSpc>
              <a:buFont typeface="Arial"/>
              <a:buChar char="•"/>
            </a:pPr>
            <a:r>
              <a:rPr lang="en-US" sz="3499" dirty="0">
                <a:solidFill>
                  <a:srgbClr val="000000"/>
                </a:solidFill>
                <a:latin typeface="Canva Sans"/>
                <a:ea typeface="Canva Sans"/>
                <a:cs typeface="Canva Sans"/>
                <a:sym typeface="Canva Sans"/>
              </a:rPr>
              <a:t>Split the dataset into training and testing sets for proper model evaluation.</a:t>
            </a:r>
          </a:p>
          <a:p>
            <a:pPr marL="755649" lvl="1" indent="-377824" algn="just">
              <a:lnSpc>
                <a:spcPts val="4899"/>
              </a:lnSpc>
              <a:buFont typeface="Arial"/>
              <a:buChar char="•"/>
            </a:pPr>
            <a:r>
              <a:rPr lang="en-US" sz="3499" dirty="0">
                <a:solidFill>
                  <a:srgbClr val="000000"/>
                </a:solidFill>
                <a:latin typeface="Canva Sans"/>
                <a:ea typeface="Canva Sans"/>
                <a:cs typeface="Canva Sans"/>
                <a:sym typeface="Canva Sans"/>
              </a:rPr>
              <a:t>Converted text into numerical vectors using TF-IDF, so the model can understand and learn patterns.</a:t>
            </a:r>
          </a:p>
          <a:p>
            <a:pPr marL="755649" lvl="1" indent="-377824" algn="just">
              <a:lnSpc>
                <a:spcPts val="4899"/>
              </a:lnSpc>
              <a:buFont typeface="Arial"/>
              <a:buChar char="•"/>
            </a:pPr>
            <a:r>
              <a:rPr lang="en-US" sz="3499" dirty="0">
                <a:solidFill>
                  <a:srgbClr val="000000"/>
                </a:solidFill>
                <a:latin typeface="Canva Sans"/>
                <a:ea typeface="Canva Sans"/>
                <a:cs typeface="Canva Sans"/>
                <a:sym typeface="Canva Sans"/>
              </a:rPr>
              <a:t>After preprocessing, the dataset is ready for building a machine learning model to detect spam.</a:t>
            </a:r>
          </a:p>
          <a:p>
            <a:pPr algn="just">
              <a:lnSpc>
                <a:spcPts val="4899"/>
              </a:lnSpc>
            </a:pPr>
            <a:endParaRPr lang="en-US" sz="3499" dirty="0">
              <a:solidFill>
                <a:srgbClr val="000000"/>
              </a:solidFill>
              <a:latin typeface="Canva Sans"/>
              <a:ea typeface="Canva Sans"/>
              <a:cs typeface="Canva Sans"/>
              <a:sym typeface="Canva Sans"/>
            </a:endParaRPr>
          </a:p>
        </p:txBody>
      </p:sp>
      <p:sp>
        <p:nvSpPr>
          <p:cNvPr id="15" name="Freeform 15"/>
          <p:cNvSpPr/>
          <p:nvPr/>
        </p:nvSpPr>
        <p:spPr>
          <a:xfrm>
            <a:off x="1556695" y="838494"/>
            <a:ext cx="1197902" cy="1197902"/>
          </a:xfrm>
          <a:custGeom>
            <a:avLst/>
            <a:gdLst/>
            <a:ahLst/>
            <a:cxnLst/>
            <a:rect l="l" t="t" r="r" b="b"/>
            <a:pathLst>
              <a:path w="1197902" h="1197902">
                <a:moveTo>
                  <a:pt x="0" y="0"/>
                </a:moveTo>
                <a:lnTo>
                  <a:pt x="1197902" y="0"/>
                </a:lnTo>
                <a:lnTo>
                  <a:pt x="1197902" y="1197903"/>
                </a:lnTo>
                <a:lnTo>
                  <a:pt x="0" y="119790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6" name="TextBox 16"/>
          <p:cNvSpPr txBox="1"/>
          <p:nvPr/>
        </p:nvSpPr>
        <p:spPr>
          <a:xfrm>
            <a:off x="1321225" y="946273"/>
            <a:ext cx="16230600" cy="887095"/>
          </a:xfrm>
          <a:prstGeom prst="rect">
            <a:avLst/>
          </a:prstGeom>
        </p:spPr>
        <p:txBody>
          <a:bodyPr lIns="0" tIns="0" rIns="0" bIns="0" rtlCol="0" anchor="t">
            <a:spAutoFit/>
          </a:bodyPr>
          <a:lstStyle/>
          <a:p>
            <a:pPr algn="ctr">
              <a:lnSpc>
                <a:spcPts val="7279"/>
              </a:lnSpc>
            </a:pPr>
            <a:r>
              <a:rPr lang="en-US" sz="5199" b="1">
                <a:solidFill>
                  <a:srgbClr val="2B2B2B"/>
                </a:solidFill>
                <a:latin typeface="Canva Sans Bold"/>
                <a:ea typeface="Canva Sans Bold"/>
                <a:cs typeface="Canva Sans Bold"/>
                <a:sym typeface="Canva Sans Bold"/>
              </a:rPr>
              <a:t>Conclusion – Data Preprocessing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BBADA2"/>
        </a:solidFill>
        <a:effectLst/>
      </p:bgPr>
    </p:bg>
    <p:spTree>
      <p:nvGrpSpPr>
        <p:cNvPr id="1" name=""/>
        <p:cNvGrpSpPr/>
        <p:nvPr/>
      </p:nvGrpSpPr>
      <p:grpSpPr>
        <a:xfrm>
          <a:off x="0" y="0"/>
          <a:ext cx="0" cy="0"/>
          <a:chOff x="0" y="0"/>
          <a:chExt cx="0" cy="0"/>
        </a:xfrm>
      </p:grpSpPr>
      <p:grpSp>
        <p:nvGrpSpPr>
          <p:cNvPr id="2" name="Group 2"/>
          <p:cNvGrpSpPr/>
          <p:nvPr/>
        </p:nvGrpSpPr>
        <p:grpSpPr>
          <a:xfrm>
            <a:off x="410972" y="385288"/>
            <a:ext cx="17466056" cy="9516424"/>
            <a:chOff x="0" y="0"/>
            <a:chExt cx="86189481" cy="46960552"/>
          </a:xfrm>
        </p:grpSpPr>
        <p:sp>
          <p:nvSpPr>
            <p:cNvPr id="3" name="Freeform 3"/>
            <p:cNvSpPr/>
            <p:nvPr/>
          </p:nvSpPr>
          <p:spPr>
            <a:xfrm>
              <a:off x="72390" y="72390"/>
              <a:ext cx="86044704" cy="46815771"/>
            </a:xfrm>
            <a:custGeom>
              <a:avLst/>
              <a:gdLst/>
              <a:ahLst/>
              <a:cxnLst/>
              <a:rect l="l" t="t" r="r" b="b"/>
              <a:pathLst>
                <a:path w="86044704" h="46815771">
                  <a:moveTo>
                    <a:pt x="0" y="0"/>
                  </a:moveTo>
                  <a:lnTo>
                    <a:pt x="86044704" y="0"/>
                  </a:lnTo>
                  <a:lnTo>
                    <a:pt x="86044704" y="46815771"/>
                  </a:lnTo>
                  <a:lnTo>
                    <a:pt x="0" y="46815771"/>
                  </a:lnTo>
                  <a:lnTo>
                    <a:pt x="0" y="0"/>
                  </a:lnTo>
                  <a:close/>
                </a:path>
              </a:pathLst>
            </a:custGeom>
            <a:solidFill>
              <a:srgbClr val="F5F4F2"/>
            </a:solidFill>
          </p:spPr>
          <p:txBody>
            <a:bodyPr/>
            <a:lstStyle/>
            <a:p>
              <a:endParaRPr lang="en-IN"/>
            </a:p>
          </p:txBody>
        </p:sp>
        <p:sp>
          <p:nvSpPr>
            <p:cNvPr id="4" name="Freeform 4"/>
            <p:cNvSpPr/>
            <p:nvPr/>
          </p:nvSpPr>
          <p:spPr>
            <a:xfrm>
              <a:off x="0" y="0"/>
              <a:ext cx="86189480" cy="46960551"/>
            </a:xfrm>
            <a:custGeom>
              <a:avLst/>
              <a:gdLst/>
              <a:ahLst/>
              <a:cxnLst/>
              <a:rect l="l" t="t" r="r" b="b"/>
              <a:pathLst>
                <a:path w="86189480" h="46960551">
                  <a:moveTo>
                    <a:pt x="86044701" y="46815772"/>
                  </a:moveTo>
                  <a:lnTo>
                    <a:pt x="86189480" y="46815772"/>
                  </a:lnTo>
                  <a:lnTo>
                    <a:pt x="86189480" y="46960551"/>
                  </a:lnTo>
                  <a:lnTo>
                    <a:pt x="86044701" y="46960551"/>
                  </a:lnTo>
                  <a:lnTo>
                    <a:pt x="86044701" y="46815772"/>
                  </a:lnTo>
                  <a:close/>
                  <a:moveTo>
                    <a:pt x="0" y="144780"/>
                  </a:moveTo>
                  <a:lnTo>
                    <a:pt x="144780" y="144780"/>
                  </a:lnTo>
                  <a:lnTo>
                    <a:pt x="144780" y="46815772"/>
                  </a:lnTo>
                  <a:lnTo>
                    <a:pt x="0" y="46815772"/>
                  </a:lnTo>
                  <a:lnTo>
                    <a:pt x="0" y="144780"/>
                  </a:lnTo>
                  <a:close/>
                  <a:moveTo>
                    <a:pt x="0" y="46815772"/>
                  </a:moveTo>
                  <a:lnTo>
                    <a:pt x="144780" y="46815772"/>
                  </a:lnTo>
                  <a:lnTo>
                    <a:pt x="144780" y="46960551"/>
                  </a:lnTo>
                  <a:lnTo>
                    <a:pt x="0" y="46960551"/>
                  </a:lnTo>
                  <a:lnTo>
                    <a:pt x="0" y="46815772"/>
                  </a:lnTo>
                  <a:close/>
                  <a:moveTo>
                    <a:pt x="86044701" y="144780"/>
                  </a:moveTo>
                  <a:lnTo>
                    <a:pt x="86189480" y="144780"/>
                  </a:lnTo>
                  <a:lnTo>
                    <a:pt x="86189480" y="46815772"/>
                  </a:lnTo>
                  <a:lnTo>
                    <a:pt x="86044701" y="46815772"/>
                  </a:lnTo>
                  <a:lnTo>
                    <a:pt x="86044701" y="144780"/>
                  </a:lnTo>
                  <a:close/>
                  <a:moveTo>
                    <a:pt x="144780" y="46815772"/>
                  </a:moveTo>
                  <a:lnTo>
                    <a:pt x="86044701" y="46815772"/>
                  </a:lnTo>
                  <a:lnTo>
                    <a:pt x="86044701" y="46960551"/>
                  </a:lnTo>
                  <a:lnTo>
                    <a:pt x="144780" y="46960551"/>
                  </a:lnTo>
                  <a:lnTo>
                    <a:pt x="144780" y="46815772"/>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F4F4F4"/>
            </a:solidFill>
          </p:spPr>
          <p:txBody>
            <a:bodyPr/>
            <a:lstStyle/>
            <a:p>
              <a:endParaRPr lang="en-IN"/>
            </a:p>
          </p:txBody>
        </p:sp>
      </p:grpSp>
      <p:grpSp>
        <p:nvGrpSpPr>
          <p:cNvPr id="5" name="Group 5"/>
          <p:cNvGrpSpPr/>
          <p:nvPr/>
        </p:nvGrpSpPr>
        <p:grpSpPr>
          <a:xfrm>
            <a:off x="410972" y="385288"/>
            <a:ext cx="17466056" cy="2104315"/>
            <a:chOff x="0" y="0"/>
            <a:chExt cx="86189481" cy="10384130"/>
          </a:xfrm>
        </p:grpSpPr>
        <p:sp>
          <p:nvSpPr>
            <p:cNvPr id="6" name="Freeform 6"/>
            <p:cNvSpPr/>
            <p:nvPr/>
          </p:nvSpPr>
          <p:spPr>
            <a:xfrm>
              <a:off x="72390" y="72390"/>
              <a:ext cx="86044704" cy="10239350"/>
            </a:xfrm>
            <a:custGeom>
              <a:avLst/>
              <a:gdLst/>
              <a:ahLst/>
              <a:cxnLst/>
              <a:rect l="l" t="t" r="r" b="b"/>
              <a:pathLst>
                <a:path w="86044704" h="10239350">
                  <a:moveTo>
                    <a:pt x="0" y="0"/>
                  </a:moveTo>
                  <a:lnTo>
                    <a:pt x="86044704" y="0"/>
                  </a:lnTo>
                  <a:lnTo>
                    <a:pt x="86044704" y="10239350"/>
                  </a:lnTo>
                  <a:lnTo>
                    <a:pt x="0" y="10239350"/>
                  </a:lnTo>
                  <a:lnTo>
                    <a:pt x="0" y="0"/>
                  </a:lnTo>
                  <a:close/>
                </a:path>
              </a:pathLst>
            </a:custGeom>
            <a:solidFill>
              <a:srgbClr val="E7D6C8"/>
            </a:solidFill>
          </p:spPr>
          <p:txBody>
            <a:bodyPr/>
            <a:lstStyle/>
            <a:p>
              <a:endParaRPr lang="en-IN"/>
            </a:p>
          </p:txBody>
        </p:sp>
        <p:sp>
          <p:nvSpPr>
            <p:cNvPr id="7" name="Freeform 7"/>
            <p:cNvSpPr/>
            <p:nvPr/>
          </p:nvSpPr>
          <p:spPr>
            <a:xfrm>
              <a:off x="0" y="0"/>
              <a:ext cx="86189480" cy="10384130"/>
            </a:xfrm>
            <a:custGeom>
              <a:avLst/>
              <a:gdLst/>
              <a:ahLst/>
              <a:cxnLst/>
              <a:rect l="l" t="t" r="r" b="b"/>
              <a:pathLst>
                <a:path w="86189480" h="10384130">
                  <a:moveTo>
                    <a:pt x="86044701" y="10239350"/>
                  </a:moveTo>
                  <a:lnTo>
                    <a:pt x="86189480" y="10239350"/>
                  </a:lnTo>
                  <a:lnTo>
                    <a:pt x="86189480" y="10384130"/>
                  </a:lnTo>
                  <a:lnTo>
                    <a:pt x="86044701" y="10384130"/>
                  </a:lnTo>
                  <a:lnTo>
                    <a:pt x="86044701" y="10239350"/>
                  </a:lnTo>
                  <a:close/>
                  <a:moveTo>
                    <a:pt x="0" y="144780"/>
                  </a:moveTo>
                  <a:lnTo>
                    <a:pt x="144780" y="144780"/>
                  </a:lnTo>
                  <a:lnTo>
                    <a:pt x="144780" y="10239350"/>
                  </a:lnTo>
                  <a:lnTo>
                    <a:pt x="0" y="10239350"/>
                  </a:lnTo>
                  <a:lnTo>
                    <a:pt x="0" y="144780"/>
                  </a:lnTo>
                  <a:close/>
                  <a:moveTo>
                    <a:pt x="0" y="10239350"/>
                  </a:moveTo>
                  <a:lnTo>
                    <a:pt x="144780" y="10239350"/>
                  </a:lnTo>
                  <a:lnTo>
                    <a:pt x="144780" y="10384130"/>
                  </a:lnTo>
                  <a:lnTo>
                    <a:pt x="0" y="10384130"/>
                  </a:lnTo>
                  <a:lnTo>
                    <a:pt x="0" y="10239350"/>
                  </a:lnTo>
                  <a:close/>
                  <a:moveTo>
                    <a:pt x="86044701" y="144780"/>
                  </a:moveTo>
                  <a:lnTo>
                    <a:pt x="86189480" y="144780"/>
                  </a:lnTo>
                  <a:lnTo>
                    <a:pt x="86189480" y="10239350"/>
                  </a:lnTo>
                  <a:lnTo>
                    <a:pt x="86044701" y="10239350"/>
                  </a:lnTo>
                  <a:lnTo>
                    <a:pt x="86044701" y="144780"/>
                  </a:lnTo>
                  <a:close/>
                  <a:moveTo>
                    <a:pt x="144780" y="10239350"/>
                  </a:moveTo>
                  <a:lnTo>
                    <a:pt x="86044701" y="10239350"/>
                  </a:lnTo>
                  <a:lnTo>
                    <a:pt x="86044701" y="10384130"/>
                  </a:lnTo>
                  <a:lnTo>
                    <a:pt x="144780" y="10384130"/>
                  </a:lnTo>
                  <a:lnTo>
                    <a:pt x="144780" y="10239350"/>
                  </a:lnTo>
                  <a:close/>
                  <a:moveTo>
                    <a:pt x="86044701" y="0"/>
                  </a:moveTo>
                  <a:lnTo>
                    <a:pt x="86189480" y="0"/>
                  </a:lnTo>
                  <a:lnTo>
                    <a:pt x="86189480" y="144780"/>
                  </a:lnTo>
                  <a:lnTo>
                    <a:pt x="86044701" y="144780"/>
                  </a:lnTo>
                  <a:lnTo>
                    <a:pt x="86044701" y="0"/>
                  </a:lnTo>
                  <a:close/>
                  <a:moveTo>
                    <a:pt x="0" y="0"/>
                  </a:moveTo>
                  <a:lnTo>
                    <a:pt x="144780" y="0"/>
                  </a:lnTo>
                  <a:lnTo>
                    <a:pt x="144780" y="144780"/>
                  </a:lnTo>
                  <a:lnTo>
                    <a:pt x="0" y="144780"/>
                  </a:lnTo>
                  <a:lnTo>
                    <a:pt x="0" y="0"/>
                  </a:lnTo>
                  <a:close/>
                  <a:moveTo>
                    <a:pt x="144780" y="0"/>
                  </a:moveTo>
                  <a:lnTo>
                    <a:pt x="86044701" y="0"/>
                  </a:lnTo>
                  <a:lnTo>
                    <a:pt x="86044701" y="144780"/>
                  </a:lnTo>
                  <a:lnTo>
                    <a:pt x="144780" y="144780"/>
                  </a:lnTo>
                  <a:lnTo>
                    <a:pt x="144780" y="0"/>
                  </a:lnTo>
                  <a:close/>
                </a:path>
              </a:pathLst>
            </a:custGeom>
            <a:solidFill>
              <a:srgbClr val="E7D6C8"/>
            </a:solidFill>
          </p:spPr>
          <p:txBody>
            <a:bodyPr/>
            <a:lstStyle/>
            <a:p>
              <a:endParaRPr lang="en-IN"/>
            </a:p>
          </p:txBody>
        </p:sp>
      </p:grpSp>
      <p:sp>
        <p:nvSpPr>
          <p:cNvPr id="8" name="Freeform 8"/>
          <p:cNvSpPr/>
          <p:nvPr/>
        </p:nvSpPr>
        <p:spPr>
          <a:xfrm>
            <a:off x="6428419" y="4168416"/>
            <a:ext cx="5089884" cy="5089884"/>
          </a:xfrm>
          <a:custGeom>
            <a:avLst/>
            <a:gdLst/>
            <a:ahLst/>
            <a:cxnLst/>
            <a:rect l="l" t="t" r="r" b="b"/>
            <a:pathLst>
              <a:path w="5089884" h="5089884">
                <a:moveTo>
                  <a:pt x="0" y="0"/>
                </a:moveTo>
                <a:lnTo>
                  <a:pt x="5089883" y="0"/>
                </a:lnTo>
                <a:lnTo>
                  <a:pt x="5089883" y="5089884"/>
                </a:lnTo>
                <a:lnTo>
                  <a:pt x="0" y="508988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p:cNvSpPr txBox="1"/>
          <p:nvPr/>
        </p:nvSpPr>
        <p:spPr>
          <a:xfrm>
            <a:off x="5181600" y="2680192"/>
            <a:ext cx="7265908" cy="1566544"/>
          </a:xfrm>
          <a:prstGeom prst="rect">
            <a:avLst/>
          </a:prstGeom>
        </p:spPr>
        <p:txBody>
          <a:bodyPr wrap="square" lIns="0" tIns="0" rIns="0" bIns="0" rtlCol="0" anchor="t">
            <a:spAutoFit/>
          </a:bodyPr>
          <a:lstStyle/>
          <a:p>
            <a:pPr algn="ctr">
              <a:lnSpc>
                <a:spcPts val="12880"/>
              </a:lnSpc>
            </a:pPr>
            <a:r>
              <a:rPr lang="en-US" sz="9200" b="1" dirty="0">
                <a:solidFill>
                  <a:srgbClr val="8F847B"/>
                </a:solidFill>
                <a:latin typeface="Canva Sans Bold"/>
                <a:ea typeface="Canva Sans Bold"/>
                <a:cs typeface="Canva Sans Bold"/>
                <a:sym typeface="Canva Sans Bold"/>
              </a:rPr>
              <a:t>THANKYOU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TotalTime>
  <Words>832</Words>
  <Application>Microsoft Office PowerPoint</Application>
  <PresentationFormat>Custom</PresentationFormat>
  <Paragraphs>179</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Canva Sans Bold</vt:lpstr>
      <vt:lpstr>Canva Sans</vt:lpstr>
      <vt:lpstr>Quicksand Bold</vt:lpstr>
      <vt:lpstr>Arial</vt:lpstr>
      <vt:lpstr>Arial Unicode MS</vt:lpstr>
      <vt:lpstr>Calibri</vt:lpstr>
      <vt:lpstr>Quicksand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Staying Safe Online Technology Presentation in Brown Cream Neutral Style</dc:title>
  <cp:lastModifiedBy>vishnu chethana</cp:lastModifiedBy>
  <cp:revision>4</cp:revision>
  <dcterms:created xsi:type="dcterms:W3CDTF">2006-08-16T00:00:00Z</dcterms:created>
  <dcterms:modified xsi:type="dcterms:W3CDTF">2025-11-03T09:56:33Z</dcterms:modified>
  <dc:identifier>DAGzlSCP7Lw</dc:identifier>
</cp:coreProperties>
</file>